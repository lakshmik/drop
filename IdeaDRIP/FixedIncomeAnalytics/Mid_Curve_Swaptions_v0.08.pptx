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FF14B-A587-17D3-881C-CFAE74C0D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EC77D-2616-C663-8261-3107DE5445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D8257-C998-F1F7-8B72-0AB9981AB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9E83A-35A6-4990-AE30-DD4FC94688D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3344-800C-593B-84C1-84A4C8227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D4F2E-7FF3-AD49-BD9D-9DAB79736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77F06-ABE4-497F-9EF7-321834370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19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A050B-375F-B7BE-C2A7-DA796916C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7A810-B06B-692F-5E50-A48052F9B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27350-0019-302E-DA7D-B51A4C3C7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9E83A-35A6-4990-AE30-DD4FC94688D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C74BA-256E-427C-F8A0-9033F0621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CD4EB-7BCA-97B3-2A15-4D4FEF92C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77F06-ABE4-497F-9EF7-321834370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156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11955-C82E-4A75-6FDB-AEAEAA7EC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6DE40-BD50-EAE3-FC54-135F9C3F4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75CD8-2BFD-57E7-338D-E082CD50C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9E83A-35A6-4990-AE30-DD4FC94688D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05DC0-C61B-DB22-908A-F360C193E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0E563-7CEF-0641-A624-432730FED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77F06-ABE4-497F-9EF7-321834370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89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54F00-E18B-7956-0E59-34B533214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ABF01-7174-3662-3733-452B9C89F0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8E5699-4DD6-589E-DC4B-525934056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CE239-41EC-9856-2F62-DE6C0C19A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9E83A-35A6-4990-AE30-DD4FC94688D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B7B72A-F2A4-700B-7C78-3968FA74F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02C01-9702-A5DB-1E76-527C77400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77F06-ABE4-497F-9EF7-321834370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92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F7CEC-5F35-0024-9795-609E9BB38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CFDE4-7388-321E-BDEA-070226004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25EF60-9D06-6444-6355-6424B34054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F95C58-1618-0129-6ACC-332AD4FD96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7E0726-D4B8-8DC3-1A4D-48930E3673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F03222-FE89-9DC8-5B25-EF0926842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9E83A-35A6-4990-AE30-DD4FC94688D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CDB370-FA83-2506-3C01-A66B473C8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D82302-C632-18B7-1A54-F90D77A51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77F06-ABE4-497F-9EF7-321834370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187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4AE86-1B7F-5F56-C08A-CB20F97D5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A808FB-F71A-5904-4E93-CDAE4F7A3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9E83A-35A6-4990-AE30-DD4FC94688D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04D3FA-A3A7-E169-6819-D89D6884C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2E8F62-EE0E-A199-AC28-E5A9530AF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77F06-ABE4-497F-9EF7-321834370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63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F9CFD6-7129-CD96-AAD9-919CC9638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9E83A-35A6-4990-AE30-DD4FC94688D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75F1B6-D7D1-9508-DCD3-3FC3F7348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94840-E1A9-4FE8-FAFC-BFF83EB18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77F06-ABE4-497F-9EF7-321834370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31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36102-EF01-9E79-D1AF-03CD2961E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32EA1-751B-966C-A102-A312884FA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3AC087-C3CE-2703-4B2B-D6DA2CF3C0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03D671-9327-7A8A-B135-76CB7717A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9E83A-35A6-4990-AE30-DD4FC94688D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DC0409-ED14-3BEE-C288-094615B09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A5955-D062-3C57-7F31-1FF4BD9C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77F06-ABE4-497F-9EF7-321834370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257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5BE6F-10B0-E59A-B01F-0C574DEA3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5A0FFA-A486-FD6A-4D10-01E99F05D1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F62759-92ED-4A1B-FD3E-D1B40D2F6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A8BB92-D84E-7F4B-865B-FE1E08AE2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9E83A-35A6-4990-AE30-DD4FC94688D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74244-2B1A-618E-5415-9A088EAB1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898EF-0837-7CD5-B04D-E7F182366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77F06-ABE4-497F-9EF7-321834370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136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9EAE6-FA44-613A-150C-5D17A555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0831D8-FFCA-E585-A9F0-E8F61C12F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39AD9-E7E0-9175-B7C6-A941A1218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9E83A-35A6-4990-AE30-DD4FC94688D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5F2C-A25D-9AFC-A0FC-08A8C0B0D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0612D-C1BB-2BA1-D0E1-BE765F66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77F06-ABE4-497F-9EF7-321834370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757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A90937-0A34-DE73-9C6A-DE760F8F0A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799270-8D31-1001-2953-EF85524AF7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8D50F-D9E4-2612-0313-7D97EC881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9E83A-35A6-4990-AE30-DD4FC94688D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C86BA-FA05-506D-130E-59A3550E2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2A9B1-B790-31EE-9EE5-3C5DA08F0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77F06-ABE4-497F-9EF7-321834370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07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B2B7B3-10C6-3440-C625-92DBA5F82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4EA5A7-C261-BB55-2C39-DE247E3FF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5AD12-5706-42C4-7BF5-DEC1565CE0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9E83A-35A6-4990-AE30-DD4FC94688D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02945-CF8F-0CA5-CF57-C566850EF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C6648-9D17-0294-8F85-92BE26E5C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377F06-ABE4-497F-9EF7-321834370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235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6433E-E366-7CB3-6456-9B398DF1FA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Mid-Curve Swaptions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1C206B-E099-A965-8641-B85FFA666E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i="1" dirty="0"/>
              <a:t>v0.08</a:t>
            </a:r>
            <a:r>
              <a:rPr lang="en-US" dirty="0"/>
              <a:t> 30 March 2026</a:t>
            </a:r>
          </a:p>
          <a:p>
            <a:r>
              <a:rPr lang="en-US" dirty="0"/>
              <a:t>Lakshmi Krishnamurthy</a:t>
            </a:r>
          </a:p>
        </p:txBody>
      </p:sp>
    </p:spTree>
    <p:extLst>
      <p:ext uri="{BB962C8B-B14F-4D97-AF65-F5344CB8AC3E}">
        <p14:creationId xmlns:p14="http://schemas.microsoft.com/office/powerpoint/2010/main" val="1174645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DF306-BD22-A4C8-70C1-586B83606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Product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9DEB8-0FF0-2084-382F-2E98AB34E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01960" cy="4667250"/>
          </a:xfrm>
        </p:spPr>
        <p:txBody>
          <a:bodyPr>
            <a:normAutofit lnSpcReduction="10000"/>
          </a:bodyPr>
          <a:lstStyle/>
          <a:p>
            <a:r>
              <a:rPr lang="en-US" u="sng" dirty="0"/>
              <a:t>Definition of a Mid-curve Swaption</a:t>
            </a:r>
            <a:r>
              <a:rPr lang="en-US" dirty="0"/>
              <a:t>: Mid-curve swaption is a European interest rate swaption that allows the option holder the right to enter into a forward-starting swap at expiry based on a strike rate that is pre-defined at trade inception</a:t>
            </a:r>
          </a:p>
          <a:p>
            <a:r>
              <a:rPr lang="en-US" u="sng" dirty="0"/>
              <a:t>Difference with European Swaptions</a:t>
            </a:r>
            <a:r>
              <a:rPr lang="en-US" dirty="0"/>
              <a:t>: While European swaptions have the underlying swap starting at the option expiry, the mid-curve option allows the option holder to enter into a swap whose start date is further away from option expiry.</a:t>
            </a:r>
          </a:p>
          <a:p>
            <a:r>
              <a:rPr lang="en-US" u="sng" dirty="0"/>
              <a:t>Distance between Option Expiry and Swap Effective Dates</a:t>
            </a:r>
            <a:r>
              <a:rPr lang="en-US" dirty="0"/>
              <a:t>: It is this difference between the option expiry and the underlying swap effective date that introduces the correlation between swap rate of different swaps</a:t>
            </a:r>
          </a:p>
        </p:txBody>
      </p:sp>
    </p:spTree>
    <p:extLst>
      <p:ext uri="{BB962C8B-B14F-4D97-AF65-F5344CB8AC3E}">
        <p14:creationId xmlns:p14="http://schemas.microsoft.com/office/powerpoint/2010/main" val="3047239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E2D0D-50EF-7C2A-BF39-4BC2DE20B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Model Inputs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0B9F3F-7C17-D8F9-B990-7EE3324F04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fontScale="92500" lnSpcReduction="20000"/>
              </a:bodyPr>
              <a:lstStyle/>
              <a:p>
                <a:pPr lvl="0"/>
                <a:r>
                  <a:rPr lang="en-US" u="sng" dirty="0"/>
                  <a:t>Trade Specification of the Mid-curve Swaption</a:t>
                </a:r>
                <a:r>
                  <a:rPr lang="en-US" dirty="0"/>
                  <a:t>:</a:t>
                </a:r>
              </a:p>
              <a:p>
                <a:pPr lvl="0"/>
                <a:r>
                  <a:rPr lang="en-US" u="sng" dirty="0"/>
                  <a:t>Interest Rate Curve</a:t>
                </a:r>
                <a:r>
                  <a:rPr lang="en-US" dirty="0"/>
                  <a:t>: Discounting and projection of cash flows.</a:t>
                </a:r>
              </a:p>
              <a:p>
                <a:pPr lvl="0"/>
                <a:r>
                  <a:rPr lang="en-US" u="sng" dirty="0"/>
                  <a:t>SABR Grid</a:t>
                </a:r>
                <a:r>
                  <a:rPr lang="en-US" dirty="0"/>
                  <a:t>: Marginal ATM volatility and skewness modeled through a SABR grid.</a:t>
                </a:r>
              </a:p>
              <a:p>
                <a:pPr lvl="0"/>
                <a:r>
                  <a:rPr lang="en-US" u="sng" dirty="0"/>
                  <a:t>Correlation Grid #1</a:t>
                </a:r>
                <a:r>
                  <a:rPr lang="en-US" dirty="0"/>
                  <a:t>: 3D data object storing the correlation points and a build method for the interpolation/extrapolation type. In practical usage, the correlation surface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𝑒</m:t>
                            </m:r>
                          </m:e>
                          <m:sub>
                            <m:r>
                              <a:rPr lang="en-US" i="1"/>
                              <m:t>𝑖</m:t>
                            </m:r>
                          </m:sub>
                        </m:sSub>
                        <m:r>
                          <a:rPr lang="en-US" i="1"/>
                          <m:t>, 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𝑇</m:t>
                            </m:r>
                          </m:e>
                          <m:sub>
                            <m:r>
                              <a:rPr lang="en-US" i="1"/>
                              <m:t>𝑖</m:t>
                            </m:r>
                          </m:sub>
                        </m:sSub>
                        <m:r>
                          <a:rPr lang="en-US" i="1"/>
                          <m:t>, 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𝑇</m:t>
                            </m:r>
                          </m:e>
                          <m:sub>
                            <m:r>
                              <a:rPr lang="en-US" i="1"/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from trader’s/Totem/inter-dealer market/hybrid.</a:t>
                </a:r>
              </a:p>
              <a:p>
                <a:pPr lvl="1"/>
                <a:r>
                  <a:rPr lang="en-US" dirty="0"/>
                  <a:t>Correlation as a set of triplets, i.e.,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𝐸𝑥𝑝𝑖𝑟𝑦</m:t>
                        </m:r>
                        <m:r>
                          <a:rPr lang="en-US" i="1"/>
                          <m:t>, </m:t>
                        </m:r>
                        <m:r>
                          <a:rPr lang="en-US" i="1"/>
                          <m:t>𝑇𝑒𝑟𝑚</m:t>
                        </m:r>
                        <m:r>
                          <a:rPr lang="en-US" i="1"/>
                          <m:t>1, </m:t>
                        </m:r>
                        <m:r>
                          <a:rPr lang="en-US" i="1"/>
                          <m:t>𝑇𝑒𝑟𝑚</m:t>
                        </m:r>
                        <m:r>
                          <a:rPr lang="en-US" i="1"/>
                          <m:t>2</m:t>
                        </m:r>
                      </m:e>
                    </m:d>
                  </m:oMath>
                </a14:m>
                <a:r>
                  <a:rPr lang="en-US" dirty="0"/>
                  <a:t>, the correlation between the swap starting at </a:t>
                </a:r>
                <a14:m>
                  <m:oMath xmlns:m="http://schemas.openxmlformats.org/officeDocument/2006/math">
                    <m:r>
                      <a:rPr lang="en-US" i="1"/>
                      <m:t>𝐸𝑥𝑝𝑖𝑟𝑦</m:t>
                    </m:r>
                  </m:oMath>
                </a14:m>
                <a:r>
                  <a:rPr lang="en-US" dirty="0"/>
                  <a:t> lasting for </a:t>
                </a:r>
                <a14:m>
                  <m:oMath xmlns:m="http://schemas.openxmlformats.org/officeDocument/2006/math">
                    <m:r>
                      <a:rPr lang="en-US" i="1"/>
                      <m:t>𝑇𝑒𝑟𝑚</m:t>
                    </m:r>
                    <m:r>
                      <a:rPr lang="en-US" i="1"/>
                      <m:t>1</m:t>
                    </m:r>
                  </m:oMath>
                </a14:m>
                <a:r>
                  <a:rPr lang="en-US" dirty="0"/>
                  <a:t> and the swap starting at </a:t>
                </a:r>
                <a14:m>
                  <m:oMath xmlns:m="http://schemas.openxmlformats.org/officeDocument/2006/math">
                    <m:r>
                      <a:rPr lang="en-US" i="1"/>
                      <m:t>𝐸𝑥𝑝𝑖𝑟𝑦</m:t>
                    </m:r>
                  </m:oMath>
                </a14:m>
                <a:r>
                  <a:rPr lang="en-US" dirty="0"/>
                  <a:t> and lasting for </a:t>
                </a:r>
                <a14:m>
                  <m:oMath xmlns:m="http://schemas.openxmlformats.org/officeDocument/2006/math">
                    <m:r>
                      <a:rPr lang="en-US" i="1"/>
                      <m:t>𝑇𝑒𝑟𝑚</m:t>
                    </m:r>
                    <m:r>
                      <a:rPr lang="en-US" i="1"/>
                      <m:t>2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u="sng" dirty="0"/>
                  <a:t>Valuation Parameter</a:t>
                </a:r>
                <a:r>
                  <a:rPr lang="en-US" dirty="0"/>
                  <a:t>: Controls the cutoff for defining a swaption as mid-curve or regular.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0B9F3F-7C17-D8F9-B990-7EE3324F04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928" t="-3264" r="-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189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E3262-3B68-8CB9-DF46-3950FB3B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Model Design and Assumption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83D4B7-F860-B094-7A4D-8B9FB6905B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662920" cy="483933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u="sng" dirty="0"/>
                  <a:t>Option Expiry and Swap Maturity Term</a:t>
                </a:r>
                <a:r>
                  <a:rPr lang="en-US" dirty="0"/>
                  <a:t>: Option expires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𝑇</m:t>
                        </m:r>
                      </m:e>
                      <m:sub>
                        <m:r>
                          <a:rPr lang="en-US" i="1"/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 and enters a forward swap starting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𝑇</m:t>
                        </m:r>
                      </m:e>
                      <m:sub>
                        <m:r>
                          <a:rPr lang="en-US" i="1"/>
                          <m:t>𝑠</m:t>
                        </m:r>
                      </m:sub>
                    </m:sSub>
                  </m:oMath>
                </a14:m>
                <a:r>
                  <a:rPr lang="en-US" dirty="0"/>
                  <a:t> and ending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𝑇</m:t>
                        </m:r>
                      </m:e>
                      <m:sub>
                        <m:r>
                          <a:rPr lang="en-US" i="1"/>
                          <m:t>𝑒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0"/>
                <a:r>
                  <a:rPr lang="en-US" u="sng" dirty="0"/>
                  <a:t>Value of the Put Option</a:t>
                </a:r>
                <a:r>
                  <a:rPr lang="en-US" dirty="0"/>
                  <a:t>: Put option price under annuity measure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𝑄</m:t>
                        </m:r>
                      </m:e>
                      <m:sub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𝐴</m:t>
                            </m:r>
                          </m:e>
                          <m:sub>
                            <m:r>
                              <a:rPr lang="en-US" i="1"/>
                              <m:t>𝑥</m:t>
                            </m:r>
                            <m:r>
                              <a:rPr lang="en-US" i="1"/>
                              <m:t>, </m:t>
                            </m:r>
                            <m:r>
                              <a:rPr lang="en-US" i="1"/>
                              <m:t>𝑠</m:t>
                            </m:r>
                            <m:r>
                              <a:rPr lang="en-US" i="1"/>
                              <m:t>, </m:t>
                            </m:r>
                            <m:r>
                              <a:rPr lang="en-US" i="1"/>
                              <m:t>𝑒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pPr marL="0" lvl="0" indent="0">
                  <a:buNone/>
                </a:pPr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𝑉</m:t>
                          </m:r>
                        </m:e>
                        <m:sub>
                          <m:r>
                            <a:rPr lang="en-US" i="1"/>
                            <m:t>0</m:t>
                          </m:r>
                        </m:sub>
                      </m:sSub>
                      <m:r>
                        <a:rPr lang="en-US" i="1"/>
                        <m:t>=</m:t>
                      </m:r>
                      <m:r>
                        <a:rPr lang="en-US" i="1"/>
                        <m:t>𝐴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0, 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𝑇</m:t>
                              </m:r>
                            </m:e>
                            <m:sub>
                              <m:r>
                                <a:rPr lang="en-US" i="1"/>
                                <m:t>𝑠</m:t>
                              </m:r>
                            </m:sub>
                          </m:sSub>
                          <m:r>
                            <a:rPr lang="en-US" i="1"/>
                            <m:t>, 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𝑇</m:t>
                              </m:r>
                            </m:e>
                            <m:sub>
                              <m:r>
                                <a:rPr lang="en-US" i="1"/>
                                <m:t>𝑒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𝐴</m:t>
                              </m:r>
                            </m:e>
                            <m:sub>
                              <m:r>
                                <a:rPr lang="en-US" i="1"/>
                                <m:t>𝑥</m:t>
                              </m:r>
                              <m:r>
                                <a:rPr lang="en-US" i="1"/>
                                <m:t>, </m:t>
                              </m:r>
                              <m:r>
                                <a:rPr lang="en-US" i="1"/>
                                <m:t>𝑠</m:t>
                              </m:r>
                              <m:r>
                                <a:rPr lang="en-US" i="1"/>
                                <m:t>, </m:t>
                              </m:r>
                              <m:r>
                                <a:rPr lang="en-US" i="1"/>
                                <m:t>𝑒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/>
                          </m:ctrlPr>
                        </m:dPr>
                        <m:e>
                          <m:sSup>
                            <m:sSupPr>
                              <m:ctrlPr>
                                <a:rPr lang="en-US" i="1"/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𝐾</m:t>
                                  </m:r>
                                  <m:r>
                                    <a:rPr lang="en-US" i="1"/>
                                    <m:t>−</m:t>
                                  </m:r>
                                  <m:r>
                                    <a:rPr lang="en-US" i="1"/>
                                    <m:t>𝑆</m:t>
                                  </m:r>
                                  <m:d>
                                    <m:dPr>
                                      <m:ctrlPr>
                                        <a:rPr lang="en-US" i="1"/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/>
                                          </m:ctrlPr>
                                        </m:sSubPr>
                                        <m:e>
                                          <m:r>
                                            <a:rPr lang="en-US" i="1"/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en-US" i="1"/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US" i="1"/>
                                        <m:t>, </m:t>
                                      </m:r>
                                      <m:sSub>
                                        <m:sSubPr>
                                          <m:ctrlPr>
                                            <a:rPr lang="en-US" i="1"/>
                                          </m:ctrlPr>
                                        </m:sSubPr>
                                        <m:e>
                                          <m:r>
                                            <a:rPr lang="en-US" i="1"/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en-US" i="1"/>
                                            <m:t>𝑠</m:t>
                                          </m:r>
                                        </m:sub>
                                      </m:sSub>
                                      <m:r>
                                        <a:rPr lang="en-US" i="1"/>
                                        <m:t>, </m:t>
                                      </m:r>
                                      <m:sSub>
                                        <m:sSubPr>
                                          <m:ctrlPr>
                                            <a:rPr lang="en-US" i="1"/>
                                          </m:ctrlPr>
                                        </m:sSubPr>
                                        <m:e>
                                          <m:r>
                                            <a:rPr lang="en-US" i="1"/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en-US" i="1"/>
                                            <m:t>𝑒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i="1"/>
                                <m:t>+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:endParaRPr lang="en-US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i="1"/>
                      <m:t>𝐴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𝑇</m:t>
                            </m:r>
                          </m:e>
                          <m:sub>
                            <m:r>
                              <a:rPr lang="en-US" i="1"/>
                              <m:t>1</m:t>
                            </m:r>
                          </m:sub>
                        </m:sSub>
                        <m:r>
                          <a:rPr lang="en-US" i="1"/>
                          <m:t>, 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𝑇</m:t>
                            </m:r>
                          </m:e>
                          <m:sub>
                            <m:r>
                              <a:rPr lang="en-US" i="1"/>
                              <m:t>2</m:t>
                            </m:r>
                          </m:sub>
                        </m:sSub>
                        <m:r>
                          <a:rPr lang="en-US" i="1"/>
                          <m:t>, 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𝑇</m:t>
                            </m:r>
                          </m:e>
                          <m:sub>
                            <m:r>
                              <a:rPr lang="en-US" i="1"/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/>
                      <m:t>𝑆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𝑇</m:t>
                            </m:r>
                          </m:e>
                          <m:sub>
                            <m:r>
                              <a:rPr lang="en-US" i="1"/>
                              <m:t>1</m:t>
                            </m:r>
                          </m:sub>
                        </m:sSub>
                        <m:r>
                          <a:rPr lang="en-US" i="1"/>
                          <m:t>, 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𝑇</m:t>
                            </m:r>
                          </m:e>
                          <m:sub>
                            <m:r>
                              <a:rPr lang="en-US" i="1"/>
                              <m:t>2</m:t>
                            </m:r>
                          </m:sub>
                        </m:sSub>
                        <m:r>
                          <a:rPr lang="en-US" i="1"/>
                          <m:t>, 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𝑇</m:t>
                            </m:r>
                          </m:e>
                          <m:sub>
                            <m:r>
                              <a:rPr lang="en-US" i="1"/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are respectively the swap annuity and the swap rate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𝑇</m:t>
                        </m:r>
                      </m:e>
                      <m:sub>
                        <m:r>
                          <a:rPr lang="en-US" i="1"/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for a swap starting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𝑇</m:t>
                        </m:r>
                      </m:e>
                      <m:sub>
                        <m:r>
                          <a:rPr lang="en-US" i="1"/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and ending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𝑇</m:t>
                        </m:r>
                      </m:e>
                      <m:sub>
                        <m:r>
                          <a:rPr lang="en-US" i="1"/>
                          <m:t>3</m:t>
                        </m:r>
                      </m:sub>
                    </m:sSub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𝐴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𝑇</m:t>
                              </m:r>
                            </m:e>
                            <m:sub>
                              <m:r>
                                <a:rPr lang="en-US" i="1"/>
                                <m:t>𝑥</m:t>
                              </m:r>
                            </m:sub>
                          </m:sSub>
                          <m:r>
                            <a:rPr lang="en-US" i="1"/>
                            <m:t>, 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𝑇</m:t>
                              </m:r>
                            </m:e>
                            <m:sub>
                              <m:r>
                                <a:rPr lang="en-US" i="1"/>
                                <m:t>𝑠</m:t>
                              </m:r>
                            </m:sub>
                          </m:sSub>
                          <m:r>
                            <a:rPr lang="en-US" i="1"/>
                            <m:t>, 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𝑇</m:t>
                              </m:r>
                            </m:e>
                            <m:sub>
                              <m:r>
                                <a:rPr lang="en-US" i="1"/>
                                <m:t>𝑒</m:t>
                              </m:r>
                            </m:sub>
                          </m:sSub>
                        </m:e>
                      </m:d>
                      <m:r>
                        <a:rPr lang="en-US" i="1"/>
                        <m:t>=</m:t>
                      </m:r>
                      <m:r>
                        <a:rPr lang="en-US" i="1"/>
                        <m:t>𝐴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𝑇</m:t>
                              </m:r>
                            </m:e>
                            <m:sub>
                              <m:r>
                                <a:rPr lang="en-US" i="1"/>
                                <m:t>𝑥</m:t>
                              </m:r>
                            </m:sub>
                          </m:sSub>
                          <m:r>
                            <a:rPr lang="en-US" i="1"/>
                            <m:t>, 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𝑇</m:t>
                              </m:r>
                            </m:e>
                            <m:sub>
                              <m:r>
                                <a:rPr lang="en-US" i="1"/>
                                <m:t>𝑥</m:t>
                              </m:r>
                            </m:sub>
                          </m:sSub>
                          <m:r>
                            <a:rPr lang="en-US" i="1"/>
                            <m:t>, 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𝑇</m:t>
                              </m:r>
                            </m:e>
                            <m:sub>
                              <m:r>
                                <a:rPr lang="en-US" i="1"/>
                                <m:t>𝑒</m:t>
                              </m:r>
                            </m:sub>
                          </m:sSub>
                        </m:e>
                      </m:d>
                      <m:r>
                        <a:rPr lang="en-US" i="1"/>
                        <m:t>−</m:t>
                      </m:r>
                      <m:r>
                        <a:rPr lang="en-US" i="1"/>
                        <m:t>𝑆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𝑇</m:t>
                              </m:r>
                            </m:e>
                            <m:sub>
                              <m:r>
                                <a:rPr lang="en-US" i="1"/>
                                <m:t>𝑥</m:t>
                              </m:r>
                            </m:sub>
                          </m:sSub>
                          <m:r>
                            <a:rPr lang="en-US" i="1"/>
                            <m:t>, 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𝑇</m:t>
                              </m:r>
                            </m:e>
                            <m:sub>
                              <m:r>
                                <a:rPr lang="en-US" i="1"/>
                                <m:t>𝑥</m:t>
                              </m:r>
                            </m:sub>
                          </m:sSub>
                          <m:r>
                            <a:rPr lang="en-US" i="1"/>
                            <m:t>, 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𝑇</m:t>
                              </m:r>
                            </m:e>
                            <m:sub>
                              <m:r>
                                <a:rPr lang="en-US" i="1"/>
                                <m:t>𝑠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𝑆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𝑇</m:t>
                              </m:r>
                            </m:e>
                            <m:sub>
                              <m:r>
                                <a:rPr lang="en-US" i="1"/>
                                <m:t>𝑥</m:t>
                              </m:r>
                            </m:sub>
                          </m:sSub>
                          <m:r>
                            <a:rPr lang="en-US" i="1"/>
                            <m:t>, 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𝑇</m:t>
                              </m:r>
                            </m:e>
                            <m:sub>
                              <m:r>
                                <a:rPr lang="en-US" i="1"/>
                                <m:t>𝑠</m:t>
                              </m:r>
                            </m:sub>
                          </m:sSub>
                          <m:r>
                            <a:rPr lang="en-US" i="1"/>
                            <m:t>, 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𝑇</m:t>
                              </m:r>
                            </m:e>
                            <m:sub>
                              <m:r>
                                <a:rPr lang="en-US" i="1"/>
                                <m:t>𝑒</m:t>
                              </m:r>
                            </m:sub>
                          </m:sSub>
                        </m:e>
                      </m:d>
                      <m:r>
                        <a:rPr lang="en-US" i="1"/>
                        <m:t>=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r>
                            <a:rPr lang="en-US" i="1"/>
                            <m:t>𝐴</m:t>
                          </m:r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r>
                                    <a:rPr lang="en-US" i="1"/>
                                    <m:t>𝑥</m:t>
                                  </m:r>
                                </m:sub>
                              </m:sSub>
                              <m:r>
                                <a:rPr lang="en-US" i="1"/>
                                <m:t>, 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r>
                                    <a:rPr lang="en-US" i="1"/>
                                    <m:t>𝑥</m:t>
                                  </m:r>
                                </m:sub>
                              </m:sSub>
                              <m:r>
                                <a:rPr lang="en-US" i="1"/>
                                <m:t>, 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r>
                                    <a:rPr lang="en-US" i="1"/>
                                    <m:t>𝑒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i="1"/>
                            <m:t>𝐴</m:t>
                          </m:r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r>
                                    <a:rPr lang="en-US" i="1"/>
                                    <m:t>𝑥</m:t>
                                  </m:r>
                                </m:sub>
                              </m:sSub>
                              <m:r>
                                <a:rPr lang="en-US" i="1"/>
                                <m:t>, 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r>
                                    <a:rPr lang="en-US" i="1"/>
                                    <m:t>𝑠</m:t>
                                  </m:r>
                                </m:sub>
                              </m:sSub>
                              <m:r>
                                <a:rPr lang="en-US" i="1"/>
                                <m:t>, 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r>
                                    <a:rPr lang="en-US" i="1"/>
                                    <m:t>𝑒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i="1"/>
                        <m:t>𝑆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𝑇</m:t>
                              </m:r>
                            </m:e>
                            <m:sub>
                              <m:r>
                                <a:rPr lang="en-US" i="1"/>
                                <m:t>𝑥</m:t>
                              </m:r>
                            </m:sub>
                          </m:sSub>
                          <m:r>
                            <a:rPr lang="en-US" i="1"/>
                            <m:t>, 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𝑇</m:t>
                              </m:r>
                            </m:e>
                            <m:sub>
                              <m:r>
                                <a:rPr lang="en-US" i="1"/>
                                <m:t>𝑥</m:t>
                              </m:r>
                            </m:sub>
                          </m:sSub>
                          <m:r>
                            <a:rPr lang="en-US" i="1"/>
                            <m:t>, 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𝑇</m:t>
                              </m:r>
                            </m:e>
                            <m:sub>
                              <m:r>
                                <a:rPr lang="en-US" i="1"/>
                                <m:t>𝑒</m:t>
                              </m:r>
                            </m:sub>
                          </m:sSub>
                        </m:e>
                      </m:d>
                      <m:r>
                        <a:rPr lang="en-US" i="1"/>
                        <m:t>−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r>
                            <a:rPr lang="en-US" i="1"/>
                            <m:t>𝐴</m:t>
                          </m:r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r>
                                    <a:rPr lang="en-US" i="1"/>
                                    <m:t>𝑥</m:t>
                                  </m:r>
                                </m:sub>
                              </m:sSub>
                              <m:r>
                                <a:rPr lang="en-US" i="1"/>
                                <m:t>, 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r>
                                    <a:rPr lang="en-US" i="1"/>
                                    <m:t>𝑥</m:t>
                                  </m:r>
                                </m:sub>
                              </m:sSub>
                              <m:r>
                                <a:rPr lang="en-US" i="1"/>
                                <m:t>, 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r>
                                    <a:rPr lang="en-US" i="1"/>
                                    <m:t>𝑠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i="1"/>
                            <m:t>𝐴</m:t>
                          </m:r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r>
                                    <a:rPr lang="en-US" i="1"/>
                                    <m:t>𝑥</m:t>
                                  </m:r>
                                </m:sub>
                              </m:sSub>
                              <m:r>
                                <a:rPr lang="en-US" i="1"/>
                                <m:t>, 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r>
                                    <a:rPr lang="en-US" i="1"/>
                                    <m:t>𝑥</m:t>
                                  </m:r>
                                </m:sub>
                              </m:sSub>
                              <m:r>
                                <a:rPr lang="en-US" i="1"/>
                                <m:t>, 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r>
                                    <a:rPr lang="en-US" i="1"/>
                                    <m:t>𝑒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i="1"/>
                        <m:t>𝑆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𝑇</m:t>
                              </m:r>
                            </m:e>
                            <m:sub>
                              <m:r>
                                <a:rPr lang="en-US" i="1"/>
                                <m:t>𝑥</m:t>
                              </m:r>
                            </m:sub>
                          </m:sSub>
                          <m:r>
                            <a:rPr lang="en-US" i="1"/>
                            <m:t>, 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𝑇</m:t>
                              </m:r>
                            </m:e>
                            <m:sub>
                              <m:r>
                                <a:rPr lang="en-US" i="1"/>
                                <m:t>𝑥</m:t>
                              </m:r>
                            </m:sub>
                          </m:sSub>
                          <m:r>
                            <a:rPr lang="en-US" i="1"/>
                            <m:t>, 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𝑇</m:t>
                              </m:r>
                            </m:e>
                            <m:sub>
                              <m:r>
                                <a:rPr lang="en-US" i="1"/>
                                <m:t>𝑠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83D4B7-F860-B094-7A4D-8B9FB6905B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662920" cy="4839335"/>
              </a:xfrm>
              <a:blipFill>
                <a:blip r:embed="rId2"/>
                <a:stretch>
                  <a:fillRect l="-915" t="-2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377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6C381-9343-0626-C3AA-43503CEB7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Model Design and Assumption (continued)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8FC20F-EA3E-B367-3DA4-6DB4E23ACC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95000" cy="4667250"/>
              </a:xfrm>
            </p:spPr>
            <p:txBody>
              <a:bodyPr>
                <a:normAutofit/>
              </a:bodyPr>
              <a:lstStyle/>
              <a:p>
                <a:pPr lvl="0"/>
                <a:r>
                  <a:rPr lang="en-US" u="sng" dirty="0"/>
                  <a:t>Price using Starting/Ending Swap Rates</a:t>
                </a:r>
                <a:r>
                  <a:rPr lang="en-US" dirty="0"/>
                  <a:t>:</a:t>
                </a:r>
              </a:p>
              <a:p>
                <a:pPr marL="0" lvl="0" indent="0">
                  <a:buNone/>
                </a:pPr>
                <a:endParaRPr lang="en-US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𝑉</m:t>
                          </m:r>
                        </m:e>
                        <m:sub>
                          <m:r>
                            <a:rPr lang="en-US" i="1"/>
                            <m:t>0</m:t>
                          </m:r>
                        </m:sub>
                      </m:sSub>
                      <m:r>
                        <a:rPr lang="en-US" i="1"/>
                        <m:t>=</m:t>
                      </m:r>
                      <m:r>
                        <a:rPr lang="en-US" i="1"/>
                        <m:t>𝐴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0, 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𝑇</m:t>
                              </m:r>
                            </m:e>
                            <m:sub>
                              <m:r>
                                <a:rPr lang="en-US" i="1"/>
                                <m:t>𝑠</m:t>
                              </m:r>
                            </m:sub>
                          </m:sSub>
                          <m:r>
                            <a:rPr lang="en-US" i="1"/>
                            <m:t>, 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𝑇</m:t>
                              </m:r>
                            </m:e>
                            <m:sub>
                              <m:r>
                                <a:rPr lang="en-US" i="1"/>
                                <m:t>𝑒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𝐴</m:t>
                              </m:r>
                            </m:e>
                            <m:sub>
                              <m:r>
                                <a:rPr lang="en-US" i="1"/>
                                <m:t>𝑠</m:t>
                              </m:r>
                              <m:r>
                                <a:rPr lang="en-US" i="1"/>
                                <m:t>, </m:t>
                              </m:r>
                              <m:r>
                                <a:rPr lang="en-US" i="1"/>
                                <m:t>𝑒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/>
                          </m:ctrlPr>
                        </m:dPr>
                        <m:e>
                          <m:sSup>
                            <m:sSupPr>
                              <m:ctrlPr>
                                <a:rPr lang="en-US" i="1"/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𝐾</m:t>
                                  </m:r>
                                  <m:r>
                                    <a:rPr lang="en-US" i="1"/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i="1"/>
                                      </m:ctrlPr>
                                    </m:fPr>
                                    <m:num>
                                      <m:r>
                                        <a:rPr lang="en-US" i="1"/>
                                        <m:t>𝐴</m:t>
                                      </m:r>
                                      <m:d>
                                        <m:dPr>
                                          <m:ctrlPr>
                                            <a:rPr lang="en-US" i="1"/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/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/>
                                                <m:t>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/>
                                                <m:t>𝑥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/>
                                            <m:t>,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/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/>
                                                <m:t>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/>
                                                <m:t>𝑥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/>
                                            <m:t>,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/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/>
                                                <m:t>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/>
                                                <m:t>𝑒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n-US" i="1"/>
                                        <m:t>𝐴</m:t>
                                      </m:r>
                                      <m:d>
                                        <m:dPr>
                                          <m:ctrlPr>
                                            <a:rPr lang="en-US" i="1"/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/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/>
                                                <m:t>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/>
                                                <m:t>𝑥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/>
                                            <m:t>,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/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/>
                                                <m:t>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/>
                                                <m:t>𝑠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/>
                                            <m:t>,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/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/>
                                                <m:t>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/>
                                                <m:t>𝑒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den>
                                  </m:f>
                                  <m:r>
                                    <a:rPr lang="en-US" i="1"/>
                                    <m:t>𝑆</m:t>
                                  </m:r>
                                  <m:d>
                                    <m:dPr>
                                      <m:ctrlPr>
                                        <a:rPr lang="en-US" i="1"/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/>
                                          </m:ctrlPr>
                                        </m:sSubPr>
                                        <m:e>
                                          <m:r>
                                            <a:rPr lang="en-US" i="1"/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en-US" i="1"/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US" i="1"/>
                                        <m:t>, </m:t>
                                      </m:r>
                                      <m:sSub>
                                        <m:sSubPr>
                                          <m:ctrlPr>
                                            <a:rPr lang="en-US" i="1"/>
                                          </m:ctrlPr>
                                        </m:sSubPr>
                                        <m:e>
                                          <m:r>
                                            <a:rPr lang="en-US" i="1"/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en-US" i="1"/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US" i="1"/>
                                        <m:t>, </m:t>
                                      </m:r>
                                      <m:sSub>
                                        <m:sSubPr>
                                          <m:ctrlPr>
                                            <a:rPr lang="en-US" i="1"/>
                                          </m:ctrlPr>
                                        </m:sSubPr>
                                        <m:e>
                                          <m:r>
                                            <a:rPr lang="en-US" i="1"/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en-US" i="1"/>
                                            <m:t>𝑒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i="1"/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i="1"/>
                                      </m:ctrlPr>
                                    </m:fPr>
                                    <m:num>
                                      <m:r>
                                        <a:rPr lang="en-US" i="1"/>
                                        <m:t>𝐴</m:t>
                                      </m:r>
                                      <m:d>
                                        <m:dPr>
                                          <m:ctrlPr>
                                            <a:rPr lang="en-US" i="1"/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/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/>
                                                <m:t>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/>
                                                <m:t>𝑥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/>
                                            <m:t>,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/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/>
                                                <m:t>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/>
                                                <m:t>𝑥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/>
                                            <m:t>,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/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/>
                                                <m:t>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/>
                                                <m:t>𝑠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n-US" i="1"/>
                                        <m:t>𝐴</m:t>
                                      </m:r>
                                      <m:d>
                                        <m:dPr>
                                          <m:ctrlPr>
                                            <a:rPr lang="en-US" i="1"/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/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/>
                                                <m:t>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/>
                                                <m:t>𝑥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/>
                                            <m:t>,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/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/>
                                                <m:t>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/>
                                                <m:t>𝑥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/>
                                            <m:t>,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/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/>
                                                <m:t>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/>
                                                <m:t>𝑒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den>
                                  </m:f>
                                  <m:r>
                                    <a:rPr lang="en-US" i="1"/>
                                    <m:t>𝑆</m:t>
                                  </m:r>
                                  <m:d>
                                    <m:dPr>
                                      <m:ctrlPr>
                                        <a:rPr lang="en-US" i="1"/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/>
                                          </m:ctrlPr>
                                        </m:sSubPr>
                                        <m:e>
                                          <m:r>
                                            <a:rPr lang="en-US" i="1"/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en-US" i="1"/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US" i="1"/>
                                        <m:t>, </m:t>
                                      </m:r>
                                      <m:sSub>
                                        <m:sSubPr>
                                          <m:ctrlPr>
                                            <a:rPr lang="en-US" i="1"/>
                                          </m:ctrlPr>
                                        </m:sSubPr>
                                        <m:e>
                                          <m:r>
                                            <a:rPr lang="en-US" i="1"/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en-US" i="1"/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US" i="1"/>
                                        <m:t>, </m:t>
                                      </m:r>
                                      <m:sSub>
                                        <m:sSubPr>
                                          <m:ctrlPr>
                                            <a:rPr lang="en-US" i="1"/>
                                          </m:ctrlPr>
                                        </m:sSubPr>
                                        <m:e>
                                          <m:r>
                                            <a:rPr lang="en-US" i="1"/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en-US" i="1"/>
                                            <m:t>𝑠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i="1"/>
                                <m:t>+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Subscript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𝐴</m:t>
                            </m:r>
                          </m:e>
                          <m:sub>
                            <m:r>
                              <a:rPr lang="en-US" i="1"/>
                              <m:t>𝑠</m:t>
                            </m:r>
                            <m:r>
                              <a:rPr lang="en-US" i="1"/>
                              <m:t>, </m:t>
                            </m:r>
                            <m:r>
                              <a:rPr lang="en-US" i="1"/>
                              <m:t>𝑒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 denotes the annuity measure with the numeraire </a:t>
                </a:r>
                <a14:m>
                  <m:oMath xmlns:m="http://schemas.openxmlformats.org/officeDocument/2006/math">
                    <m:r>
                      <a:rPr lang="en-US" i="1"/>
                      <m:t>𝐴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𝑇</m:t>
                            </m:r>
                          </m:e>
                          <m:sub>
                            <m:r>
                              <a:rPr lang="en-US" i="1"/>
                              <m:t>𝑥</m:t>
                            </m:r>
                          </m:sub>
                        </m:sSub>
                        <m:r>
                          <a:rPr lang="en-US" i="1"/>
                          <m:t>, 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𝑇</m:t>
                            </m:r>
                          </m:e>
                          <m:sub>
                            <m:r>
                              <a:rPr lang="en-US" i="1"/>
                              <m:t>𝑠</m:t>
                            </m:r>
                          </m:sub>
                        </m:sSub>
                        <m:r>
                          <a:rPr lang="en-US" i="1"/>
                          <m:t>, 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𝑇</m:t>
                            </m:r>
                          </m:e>
                          <m:sub>
                            <m:r>
                              <a:rPr lang="en-US" i="1"/>
                              <m:t>𝑒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8FC20F-EA3E-B367-3DA4-6DB4E23ACC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95000" cy="4667250"/>
              </a:xfrm>
              <a:blipFill>
                <a:blip r:embed="rId2"/>
                <a:stretch>
                  <a:fillRect l="-1017" t="-20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5035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2667A-DECA-6ECD-7C8D-8931170CE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BA2A5-8FCC-8F2F-E880-D90775138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277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Model Design and Assumption (continued)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C90EEF-72B4-24B4-A561-1F0C405A1C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30960"/>
                <a:ext cx="10795000" cy="5161915"/>
              </a:xfrm>
            </p:spPr>
            <p:txBody>
              <a:bodyPr>
                <a:normAutofit/>
              </a:bodyPr>
              <a:lstStyle/>
              <a:p>
                <a:pPr lvl="0"/>
                <a:r>
                  <a:rPr lang="en-US" u="sng" dirty="0"/>
                  <a:t>Ratio of Forward Annuities</a:t>
                </a:r>
                <a:r>
                  <a:rPr lang="en-US" dirty="0"/>
                  <a:t>:</a:t>
                </a:r>
              </a:p>
              <a:p>
                <a:pPr marL="0" lv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𝑤</m:t>
                          </m:r>
                        </m:e>
                        <m:sub>
                          <m:r>
                            <a:rPr lang="en-US" i="1"/>
                            <m:t>𝑠</m:t>
                          </m:r>
                        </m:sub>
                      </m:sSub>
                      <m:r>
                        <a:rPr lang="en-US" i="1"/>
                        <m:t>=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r>
                            <a:rPr lang="en-US" i="1"/>
                            <m:t>𝐴</m:t>
                          </m:r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r>
                                    <a:rPr lang="en-US" i="1"/>
                                    <m:t>𝑥</m:t>
                                  </m:r>
                                </m:sub>
                              </m:sSub>
                              <m:r>
                                <a:rPr lang="en-US" i="1"/>
                                <m:t>, 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r>
                                    <a:rPr lang="en-US" i="1"/>
                                    <m:t>𝑥</m:t>
                                  </m:r>
                                </m:sub>
                              </m:sSub>
                              <m:r>
                                <a:rPr lang="en-US" i="1"/>
                                <m:t>, 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r>
                                    <a:rPr lang="en-US" i="1"/>
                                    <m:t>𝑒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i="1"/>
                            <m:t>𝐴</m:t>
                          </m:r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r>
                                    <a:rPr lang="en-US" i="1"/>
                                    <m:t>𝑥</m:t>
                                  </m:r>
                                </m:sub>
                              </m:sSub>
                              <m:r>
                                <a:rPr lang="en-US" i="1"/>
                                <m:t>, 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r>
                                    <a:rPr lang="en-US" i="1"/>
                                    <m:t>𝑠</m:t>
                                  </m:r>
                                </m:sub>
                              </m:sSub>
                              <m:r>
                                <a:rPr lang="en-US" i="1"/>
                                <m:t>, 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r>
                                    <a:rPr lang="en-US" i="1"/>
                                    <m:t>𝑒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𝑤</m:t>
                          </m:r>
                        </m:e>
                        <m:sub>
                          <m:r>
                            <a:rPr lang="en-US" i="1"/>
                            <m:t>𝑒</m:t>
                          </m:r>
                        </m:sub>
                      </m:sSub>
                      <m:r>
                        <a:rPr lang="en-US" i="1"/>
                        <m:t>=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r>
                            <a:rPr lang="en-US" i="1"/>
                            <m:t>𝐴</m:t>
                          </m:r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r>
                                    <a:rPr lang="en-US" i="1"/>
                                    <m:t>𝑥</m:t>
                                  </m:r>
                                </m:sub>
                              </m:sSub>
                              <m:r>
                                <a:rPr lang="en-US" i="1"/>
                                <m:t>, 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r>
                                    <a:rPr lang="en-US" i="1"/>
                                    <m:t>𝑥</m:t>
                                  </m:r>
                                </m:sub>
                              </m:sSub>
                              <m:r>
                                <a:rPr lang="en-US" i="1"/>
                                <m:t>, 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r>
                                    <a:rPr lang="en-US" i="1"/>
                                    <m:t>𝑠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i="1"/>
                            <m:t>𝐴</m:t>
                          </m:r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r>
                                    <a:rPr lang="en-US" i="1"/>
                                    <m:t>𝑥</m:t>
                                  </m:r>
                                </m:sub>
                              </m:sSub>
                              <m:r>
                                <a:rPr lang="en-US" i="1"/>
                                <m:t>, 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r>
                                    <a:rPr lang="en-US" i="1"/>
                                    <m:t>𝑥</m:t>
                                  </m:r>
                                </m:sub>
                              </m:sSub>
                              <m:r>
                                <a:rPr lang="en-US" i="1"/>
                                <m:t>, 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r>
                                    <a:rPr lang="en-US" i="1"/>
                                    <m:t>𝑒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𝑉</m:t>
                          </m:r>
                        </m:e>
                        <m:sub>
                          <m:r>
                            <a:rPr lang="en-US" i="1"/>
                            <m:t>0</m:t>
                          </m:r>
                        </m:sub>
                      </m:sSub>
                      <m:r>
                        <a:rPr lang="en-US" i="1"/>
                        <m:t>=</m:t>
                      </m:r>
                      <m:r>
                        <a:rPr lang="en-US" i="1"/>
                        <m:t>𝐴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0, 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𝑇</m:t>
                              </m:r>
                            </m:e>
                            <m:sub>
                              <m:r>
                                <a:rPr lang="en-US" i="1"/>
                                <m:t>𝑠</m:t>
                              </m:r>
                            </m:sub>
                          </m:sSub>
                          <m:r>
                            <a:rPr lang="en-US" i="1"/>
                            <m:t>, 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𝑇</m:t>
                              </m:r>
                            </m:e>
                            <m:sub>
                              <m:r>
                                <a:rPr lang="en-US" i="1"/>
                                <m:t>𝑒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𝐴</m:t>
                              </m:r>
                            </m:e>
                            <m:sub>
                              <m:r>
                                <a:rPr lang="en-US" i="1"/>
                                <m:t>𝑠</m:t>
                              </m:r>
                              <m:r>
                                <a:rPr lang="en-US" i="1"/>
                                <m:t>, </m:t>
                              </m:r>
                              <m:r>
                                <a:rPr lang="en-US" i="1"/>
                                <m:t>𝑒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/>
                          </m:ctrlPr>
                        </m:dPr>
                        <m:e>
                          <m:sSup>
                            <m:sSupPr>
                              <m:ctrlPr>
                                <a:rPr lang="en-US" i="1"/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𝐾</m:t>
                                  </m:r>
                                  <m:r>
                                    <a:rPr lang="en-US" i="1"/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𝑠</m:t>
                                      </m:r>
                                    </m:sub>
                                  </m:sSub>
                                  <m:r>
                                    <a:rPr lang="en-US" i="1"/>
                                    <m:t>∙</m:t>
                                  </m:r>
                                  <m:r>
                                    <a:rPr lang="en-US" i="1"/>
                                    <m:t>𝑆</m:t>
                                  </m:r>
                                  <m:d>
                                    <m:dPr>
                                      <m:ctrlPr>
                                        <a:rPr lang="en-US" i="1"/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/>
                                          </m:ctrlPr>
                                        </m:sSubPr>
                                        <m:e>
                                          <m:r>
                                            <a:rPr lang="en-US" i="1"/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en-US" i="1"/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US" i="1"/>
                                        <m:t>, </m:t>
                                      </m:r>
                                      <m:sSub>
                                        <m:sSubPr>
                                          <m:ctrlPr>
                                            <a:rPr lang="en-US" i="1"/>
                                          </m:ctrlPr>
                                        </m:sSubPr>
                                        <m:e>
                                          <m:r>
                                            <a:rPr lang="en-US" i="1"/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en-US" i="1"/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US" i="1"/>
                                        <m:t>, </m:t>
                                      </m:r>
                                      <m:sSub>
                                        <m:sSubPr>
                                          <m:ctrlPr>
                                            <a:rPr lang="en-US" i="1"/>
                                          </m:ctrlPr>
                                        </m:sSubPr>
                                        <m:e>
                                          <m:r>
                                            <a:rPr lang="en-US" i="1"/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en-US" i="1"/>
                                            <m:t>𝑒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i="1"/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𝑒</m:t>
                                      </m:r>
                                    </m:sub>
                                  </m:sSub>
                                  <m:r>
                                    <a:rPr lang="en-US" i="1"/>
                                    <m:t>∙</m:t>
                                  </m:r>
                                  <m:r>
                                    <a:rPr lang="en-US" i="1"/>
                                    <m:t>𝑆</m:t>
                                  </m:r>
                                  <m:d>
                                    <m:dPr>
                                      <m:ctrlPr>
                                        <a:rPr lang="en-US" i="1"/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/>
                                          </m:ctrlPr>
                                        </m:sSubPr>
                                        <m:e>
                                          <m:r>
                                            <a:rPr lang="en-US" i="1"/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en-US" i="1"/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US" i="1"/>
                                        <m:t>, </m:t>
                                      </m:r>
                                      <m:sSub>
                                        <m:sSubPr>
                                          <m:ctrlPr>
                                            <a:rPr lang="en-US" i="1"/>
                                          </m:ctrlPr>
                                        </m:sSubPr>
                                        <m:e>
                                          <m:r>
                                            <a:rPr lang="en-US" i="1"/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en-US" i="1"/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US" i="1"/>
                                        <m:t>, </m:t>
                                      </m:r>
                                      <m:sSub>
                                        <m:sSubPr>
                                          <m:ctrlPr>
                                            <a:rPr lang="en-US" i="1"/>
                                          </m:ctrlPr>
                                        </m:sSubPr>
                                        <m:e>
                                          <m:r>
                                            <a:rPr lang="en-US" i="1"/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en-US" i="1"/>
                                            <m:t>𝑠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i="1"/>
                                <m:t>+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pPr marL="0" lv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C90EEF-72B4-24B4-A561-1F0C405A1C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30960"/>
                <a:ext cx="10795000" cy="5161915"/>
              </a:xfrm>
              <a:blipFill>
                <a:blip r:embed="rId2"/>
                <a:stretch>
                  <a:fillRect l="-1017" t="-1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3420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3AB3-E6FC-3AB7-03CE-0305EBBA7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3595"/>
          </a:xfrm>
        </p:spPr>
        <p:txBody>
          <a:bodyPr/>
          <a:lstStyle/>
          <a:p>
            <a:pPr algn="ctr"/>
            <a:r>
              <a:rPr lang="en-US" b="1" dirty="0"/>
              <a:t>Model Design and Assumption (continued)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068DDE-2DE4-FB97-562F-9F4C438868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95680" y="1188720"/>
                <a:ext cx="10358120" cy="5384800"/>
              </a:xfrm>
            </p:spPr>
            <p:txBody>
              <a:bodyPr>
                <a:normAutofit fontScale="92500" lnSpcReduction="20000"/>
              </a:bodyPr>
              <a:lstStyle/>
              <a:p>
                <a:pPr lvl="0"/>
                <a:r>
                  <a:rPr lang="en-US" u="sng" dirty="0"/>
                  <a:t>Dynamics of Marginal Swap Rates</a:t>
                </a:r>
                <a:r>
                  <a:rPr lang="en-US" dirty="0"/>
                  <a:t>: Each marginal swap rate follows SABR dynamics under its own annuity measure, i.e.</a:t>
                </a:r>
              </a:p>
              <a:p>
                <a:pPr marL="0" lvl="0" indent="0" algn="ctr">
                  <a:buNone/>
                </a:pPr>
                <a:endParaRPr lang="en-US" dirty="0"/>
              </a:p>
              <a:p>
                <a:pPr marL="0" lv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∆</m:t>
                      </m:r>
                      <m:r>
                        <a:rPr lang="en-US" i="1"/>
                        <m:t>𝑆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𝑡</m:t>
                          </m:r>
                        </m:e>
                      </m:d>
                      <m:r>
                        <a:rPr lang="en-US" i="1"/>
                        <m:t>=</m:t>
                      </m:r>
                      <m:r>
                        <a:rPr lang="en-US" i="1"/>
                        <m:t>𝛼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𝑡</m:t>
                          </m:r>
                        </m:e>
                      </m:d>
                      <m:sSup>
                        <m:sSupPr>
                          <m:ctrlPr>
                            <a:rPr lang="en-US" i="1"/>
                          </m:ctrlPr>
                        </m:sSupPr>
                        <m:e>
                          <m:r>
                            <a:rPr lang="en-US" i="1"/>
                            <m:t>𝑆</m:t>
                          </m:r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r>
                                <a:rPr lang="en-US" i="1"/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en-US" i="1"/>
                            <m:t>𝛽</m:t>
                          </m:r>
                        </m:sup>
                      </m:sSup>
                      <m:r>
                        <a:rPr lang="en-US" i="1"/>
                        <m:t>∆</m:t>
                      </m:r>
                      <m:r>
                        <a:rPr lang="en-US" i="1"/>
                        <m:t>𝑊</m:t>
                      </m:r>
                    </m:oMath>
                  </m:oMathPara>
                </a14:m>
                <a:endParaRPr lang="en-US" dirty="0"/>
              </a:p>
              <a:p>
                <a:pPr marL="0" lv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∆</m:t>
                      </m:r>
                      <m:r>
                        <a:rPr lang="en-US" i="1"/>
                        <m:t>𝛼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𝑡</m:t>
                          </m:r>
                        </m:e>
                      </m:d>
                      <m:r>
                        <a:rPr lang="en-US" i="1"/>
                        <m:t>=</m:t>
                      </m:r>
                      <m:r>
                        <a:rPr lang="en-US" i="1"/>
                        <m:t>𝛼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𝑡</m:t>
                          </m:r>
                        </m:e>
                      </m:d>
                      <m:r>
                        <a:rPr lang="en-US" i="1"/>
                        <m:t>𝜈</m:t>
                      </m:r>
                      <m:r>
                        <m:rPr>
                          <m:sty m:val="p"/>
                        </m:rPr>
                        <a:rPr lang="en-US"/>
                        <m:t>Δ</m:t>
                      </m:r>
                      <m:r>
                        <a:rPr lang="en-US" i="1"/>
                        <m:t>𝑍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𝛼</m:t>
                          </m:r>
                        </m:e>
                        <m:sub>
                          <m:r>
                            <a:rPr lang="en-US" i="1"/>
                            <m:t>0</m:t>
                          </m:r>
                        </m:sub>
                      </m:sSub>
                      <m:r>
                        <a:rPr lang="en-US" i="1"/>
                        <m:t>=</m:t>
                      </m:r>
                      <m:r>
                        <a:rPr lang="en-US" i="1"/>
                        <m:t>𝛼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/>
                      <m:t>𝑊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/>
                      <m:t>𝑍</m:t>
                    </m:r>
                  </m:oMath>
                </a14:m>
                <a:r>
                  <a:rPr lang="en-US" dirty="0"/>
                  <a:t> are Brownian processes in the chosen measure, i.e.,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i="1"/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/>
                            <m:t>Δ</m:t>
                          </m:r>
                          <m:r>
                            <a:rPr lang="en-US" i="1"/>
                            <m:t>𝑊</m:t>
                          </m:r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r>
                                <a:rPr lang="en-US" i="1"/>
                                <m:t>𝑡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/>
                            <m:t>Δ</m:t>
                          </m:r>
                          <m:r>
                            <a:rPr lang="en-US" i="1"/>
                            <m:t>𝑍</m:t>
                          </m:r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r>
                                <a:rPr lang="en-US" i="1"/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i="1"/>
                        <m:t>=</m:t>
                      </m:r>
                      <m:r>
                        <a:rPr lang="en-US" i="1"/>
                        <m:t>𝜌</m:t>
                      </m:r>
                      <m:r>
                        <m:rPr>
                          <m:sty m:val="p"/>
                        </m:rPr>
                        <a:rPr lang="en-US"/>
                        <m:t>Δ</m:t>
                      </m:r>
                      <m:r>
                        <a:rPr lang="en-US" i="1"/>
                        <m:t>𝑡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i="1"/>
                      <m:t>𝛼</m:t>
                    </m:r>
                    <m:r>
                      <a:rPr lang="en-US"/>
                      <m:t>&gt;0</m:t>
                    </m:r>
                  </m:oMath>
                </a14:m>
                <a:r>
                  <a:rPr lang="en-US" dirty="0"/>
                  <a:t>;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/>
                      <m:t>𝛽</m:t>
                    </m:r>
                    <m:r>
                      <a:rPr lang="en-US" i="1"/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0, 1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/>
                      <m:t>𝜈</m:t>
                    </m:r>
                    <m:r>
                      <a:rPr lang="en-US" i="1"/>
                      <m:t>, </m:t>
                    </m:r>
                    <m:r>
                      <a:rPr lang="en-US" i="1"/>
                      <m:t>𝜌</m:t>
                    </m:r>
                    <m:r>
                      <a:rPr lang="en-US" i="1"/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0, 1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068DDE-2DE4-FB97-562F-9F4C438868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5680" y="1188720"/>
                <a:ext cx="10358120" cy="5384800"/>
              </a:xfrm>
              <a:blipFill>
                <a:blip r:embed="rId2"/>
                <a:stretch>
                  <a:fillRect l="-882" t="-2831" b="-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8728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DFF29-ACDD-A401-F576-077DB3676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302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Model Design and Assumption (continued)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F7D15F-8568-D538-8D28-60F75069B3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3330"/>
                <a:ext cx="10515600" cy="5299869"/>
              </a:xfrm>
            </p:spPr>
            <p:txBody>
              <a:bodyPr>
                <a:normAutofit fontScale="55000" lnSpcReduction="20000"/>
              </a:bodyPr>
              <a:lstStyle/>
              <a:p>
                <a:pPr lvl="0"/>
                <a:r>
                  <a:rPr lang="en-US" u="sng" dirty="0"/>
                  <a:t>Correlated SABR Swap Rate</a:t>
                </a:r>
                <a:r>
                  <a:rPr lang="en-US" dirty="0"/>
                  <a:t>: Joint swap rates follow a multi-dimensional SABR dynamic on two assets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𝑆</m:t>
                          </m:r>
                        </m:e>
                        <m:sub>
                          <m:r>
                            <a:rPr lang="en-US" i="1"/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𝑡</m:t>
                          </m:r>
                        </m:e>
                      </m:d>
                      <m:box>
                        <m:boxPr>
                          <m:ctrlPr>
                            <a:rPr lang="en-US" i="1"/>
                          </m:ctrlPr>
                        </m:boxPr>
                        <m:e>
                          <m:r>
                            <a:rPr lang="en-US" i="1"/>
                            <m:t>∶=</m:t>
                          </m:r>
                        </m:e>
                      </m:box>
                      <m:r>
                        <a:rPr lang="en-US" i="1"/>
                        <m:t>𝑆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𝑡</m:t>
                          </m:r>
                          <m:r>
                            <a:rPr lang="en-US" i="1"/>
                            <m:t>, 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𝑇</m:t>
                              </m:r>
                            </m:e>
                            <m:sub>
                              <m:r>
                                <a:rPr lang="en-US" i="1"/>
                                <m:t>𝑥</m:t>
                              </m:r>
                            </m:sub>
                          </m:sSub>
                          <m:r>
                            <a:rPr lang="en-US" i="1"/>
                            <m:t>, 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𝑇</m:t>
                              </m:r>
                            </m:e>
                            <m:sub>
                              <m:r>
                                <a:rPr lang="en-US" i="1"/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</a:p>
              <a:p>
                <a:pPr lvl="1"/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𝑇</m:t>
                        </m:r>
                      </m:e>
                      <m:sub>
                        <m:r>
                          <a:rPr lang="en-US" i="1"/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either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𝑇</m:t>
                        </m:r>
                      </m:e>
                      <m:sub>
                        <m:r>
                          <a:rPr lang="en-US" i="1"/>
                          <m:t>𝑠</m:t>
                        </m:r>
                      </m:sub>
                    </m:sSub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𝑇</m:t>
                        </m:r>
                      </m:e>
                      <m:sub>
                        <m:r>
                          <a:rPr lang="en-US" i="1"/>
                          <m:t>𝑒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Cross-correlation dynamics under the forward swap annuity measure are as follows:</a:t>
                </a:r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∆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𝑆</m:t>
                          </m:r>
                        </m:e>
                        <m:sub>
                          <m:r>
                            <a:rPr lang="en-US" i="1"/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𝑡</m:t>
                          </m:r>
                        </m:e>
                      </m:d>
                      <m:r>
                        <a:rPr lang="en-US" i="1"/>
                        <m:t>=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𝛼</m:t>
                          </m:r>
                        </m:e>
                        <m:sub>
                          <m:r>
                            <a:rPr lang="en-US" i="1"/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𝑆</m:t>
                          </m:r>
                        </m:e>
                        <m:sub>
                          <m:r>
                            <a:rPr lang="en-US" i="1"/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i="1"/>
                          </m:ctrlPr>
                        </m:sSupPr>
                        <m:e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r>
                                <a:rPr lang="en-US" i="1"/>
                                <m:t>𝑡</m:t>
                              </m:r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𝛽</m:t>
                              </m:r>
                            </m:e>
                            <m:sub>
                              <m:r>
                                <a:rPr lang="en-US" i="1"/>
                                <m:t>𝑖</m:t>
                              </m:r>
                            </m:sub>
                          </m:sSub>
                        </m:sup>
                      </m:sSup>
                      <m:r>
                        <a:rPr lang="en-US" i="1"/>
                        <m:t>∆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𝑊</m:t>
                          </m:r>
                        </m:e>
                        <m:sub>
                          <m:r>
                            <a:rPr lang="en-US" i="1"/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∆</m:t>
                      </m:r>
                      <m:r>
                        <a:rPr lang="en-US" i="1"/>
                        <m:t>𝛼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𝑡</m:t>
                          </m:r>
                        </m:e>
                      </m:d>
                      <m:r>
                        <a:rPr lang="en-US" i="1"/>
                        <m:t>=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𝛼</m:t>
                          </m:r>
                        </m:e>
                        <m:sub>
                          <m:r>
                            <a:rPr lang="en-US" i="1"/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𝜈</m:t>
                          </m:r>
                        </m:e>
                        <m:sub>
                          <m:r>
                            <a:rPr lang="en-US" i="1"/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/>
                        <m:t>Δ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𝑍</m:t>
                          </m:r>
                        </m:e>
                        <m:sub>
                          <m:r>
                            <a:rPr lang="en-US" i="1"/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𝛼</m:t>
                          </m:r>
                        </m:e>
                        <m:sub>
                          <m:r>
                            <a:rPr lang="en-US" i="1"/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𝑡</m:t>
                              </m:r>
                            </m:e>
                            <m:sub>
                              <m:r>
                                <a:rPr lang="en-US" i="1"/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i="1"/>
                        <m:t>=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𝛼</m:t>
                          </m:r>
                        </m:e>
                        <m:sub>
                          <m:r>
                            <a:rPr lang="en-US" i="1"/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i="1"/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/>
                            <m:t>Δ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𝑊</m:t>
                              </m:r>
                            </m:e>
                            <m:sub>
                              <m:r>
                                <a:rPr lang="en-US" i="1"/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r>
                                <a:rPr lang="en-US" i="1"/>
                                <m:t>𝑡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/>
                            <m:t>Δ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𝑊</m:t>
                              </m:r>
                            </m:e>
                            <m:sub>
                              <m:r>
                                <a:rPr lang="en-US" i="1"/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r>
                                <a:rPr lang="en-US" i="1"/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i="1"/>
                        <m:t>=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𝛾</m:t>
                          </m:r>
                        </m:e>
                        <m:sub>
                          <m:r>
                            <a:rPr lang="en-US" i="1"/>
                            <m:t>𝑖𝑗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/>
                        <m:t>Δ</m:t>
                      </m:r>
                      <m:r>
                        <a:rPr lang="en-US" i="1"/>
                        <m:t>𝑡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i="1"/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/>
                            <m:t>Δ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𝑍</m:t>
                              </m:r>
                            </m:e>
                            <m:sub>
                              <m:r>
                                <a:rPr lang="en-US" i="1"/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r>
                                <a:rPr lang="en-US" i="1"/>
                                <m:t>𝑡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/>
                            <m:t>Δ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𝑍</m:t>
                              </m:r>
                            </m:e>
                            <m:sub>
                              <m:r>
                                <a:rPr lang="en-US" i="1"/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r>
                                <a:rPr lang="en-US" i="1"/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i="1"/>
                        <m:t>=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𝜂</m:t>
                          </m:r>
                        </m:e>
                        <m:sub>
                          <m:r>
                            <a:rPr lang="en-US" i="1"/>
                            <m:t>𝑖𝑗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/>
                        <m:t>Δ</m:t>
                      </m:r>
                      <m:r>
                        <a:rPr lang="en-US" i="1"/>
                        <m:t>𝑡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i="1"/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/>
                            <m:t>Δ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𝑍</m:t>
                              </m:r>
                            </m:e>
                            <m:sub>
                              <m:r>
                                <a:rPr lang="en-US" i="1"/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r>
                                <a:rPr lang="en-US" i="1"/>
                                <m:t>𝑡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/>
                            <m:t>Δ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𝑊</m:t>
                              </m:r>
                            </m:e>
                            <m:sub>
                              <m:r>
                                <a:rPr lang="en-US" i="1"/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r>
                                <a:rPr lang="en-US" i="1"/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i="1"/>
                        <m:t>=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𝜌</m:t>
                          </m:r>
                        </m:e>
                        <m:sub>
                          <m:r>
                            <a:rPr lang="en-US" i="1"/>
                            <m:t>𝑖𝑗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/>
                        <m:t>Δ</m:t>
                      </m:r>
                      <m:r>
                        <a:rPr lang="en-US" i="1"/>
                        <m:t>𝑡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i="1"/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/>
                            <m:t>Δ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𝑍</m:t>
                              </m:r>
                            </m:e>
                            <m:sub>
                              <m:r>
                                <a:rPr lang="en-US" i="1"/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r>
                                <a:rPr lang="en-US" i="1"/>
                                <m:t>𝑡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/>
                            <m:t>Δ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𝑊</m:t>
                              </m:r>
                            </m:e>
                            <m:sub>
                              <m:r>
                                <a:rPr lang="en-US" i="1"/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r>
                                <a:rPr lang="en-US" i="1"/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i="1"/>
                        <m:t>=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𝜌</m:t>
                          </m:r>
                        </m:e>
                        <m:sub>
                          <m:r>
                            <a:rPr lang="en-US" i="1"/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/>
                        <m:t>Δ</m:t>
                      </m:r>
                      <m:r>
                        <a:rPr lang="en-US" i="1"/>
                        <m:t>𝑡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F7D15F-8568-D538-8D28-60F75069B3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3330"/>
                <a:ext cx="10515600" cy="5299869"/>
              </a:xfrm>
              <a:blipFill>
                <a:blip r:embed="rId2"/>
                <a:stretch>
                  <a:fillRect l="-174" t="-1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4250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30113-C800-5364-278D-3EEA581BE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725"/>
            <a:ext cx="10510520" cy="1148715"/>
          </a:xfrm>
        </p:spPr>
        <p:txBody>
          <a:bodyPr/>
          <a:lstStyle/>
          <a:p>
            <a:pPr algn="ctr"/>
            <a:r>
              <a:rPr lang="en-US" b="1" dirty="0"/>
              <a:t>Model Design and Assumption (continued)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BA5D33-7E54-DF26-34E0-F8B283DBF9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9920" y="1172526"/>
                <a:ext cx="11145520" cy="5472749"/>
              </a:xfrm>
            </p:spPr>
            <p:txBody>
              <a:bodyPr/>
              <a:lstStyle/>
              <a:p>
                <a:pPr lvl="0"/>
                <a:r>
                  <a:rPr lang="en-US" u="sng" dirty="0"/>
                  <a:t>Option Price on the Swap Basket</a:t>
                </a:r>
                <a:r>
                  <a:rPr lang="en-US" dirty="0"/>
                  <a:t>: By defining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/>
                          </m:ctrlPr>
                        </m:accPr>
                        <m:e>
                          <m:r>
                            <a:rPr lang="en-US" i="1"/>
                            <m:t>𝑆</m:t>
                          </m:r>
                        </m:e>
                      </m:acc>
                      <m:r>
                        <a:rPr lang="en-US" i="1"/>
                        <m:t>=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𝑤</m:t>
                          </m:r>
                        </m:e>
                        <m:sub>
                          <m:r>
                            <a:rPr lang="en-US" i="1"/>
                            <m:t>𝑠</m:t>
                          </m:r>
                        </m:sub>
                      </m:sSub>
                      <m:r>
                        <a:rPr lang="en-US" i="1"/>
                        <m:t>∙</m:t>
                      </m:r>
                      <m:r>
                        <a:rPr lang="en-US" i="1"/>
                        <m:t>𝑆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𝑇</m:t>
                              </m:r>
                            </m:e>
                            <m:sub>
                              <m:r>
                                <a:rPr lang="en-US" i="1"/>
                                <m:t>𝑥</m:t>
                              </m:r>
                            </m:sub>
                          </m:sSub>
                          <m:r>
                            <a:rPr lang="en-US" i="1"/>
                            <m:t>, 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𝑇</m:t>
                              </m:r>
                            </m:e>
                            <m:sub>
                              <m:r>
                                <a:rPr lang="en-US" i="1"/>
                                <m:t>𝑥</m:t>
                              </m:r>
                            </m:sub>
                          </m:sSub>
                          <m:r>
                            <a:rPr lang="en-US" i="1"/>
                            <m:t>, 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𝑇</m:t>
                              </m:r>
                            </m:e>
                            <m:sub>
                              <m:r>
                                <a:rPr lang="en-US" i="1"/>
                                <m:t>𝑒</m:t>
                              </m:r>
                            </m:sub>
                          </m:sSub>
                        </m:e>
                      </m:d>
                      <m:r>
                        <a:rPr lang="en-US" i="1"/>
                        <m:t>−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𝑤</m:t>
                          </m:r>
                        </m:e>
                        <m:sub>
                          <m:r>
                            <a:rPr lang="en-US" i="1"/>
                            <m:t>𝑒</m:t>
                          </m:r>
                        </m:sub>
                      </m:sSub>
                      <m:r>
                        <a:rPr lang="en-US" i="1"/>
                        <m:t>∙</m:t>
                      </m:r>
                      <m:r>
                        <a:rPr lang="en-US" i="1"/>
                        <m:t>𝑆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𝑇</m:t>
                              </m:r>
                            </m:e>
                            <m:sub>
                              <m:r>
                                <a:rPr lang="en-US" i="1"/>
                                <m:t>𝑥</m:t>
                              </m:r>
                            </m:sub>
                          </m:sSub>
                          <m:r>
                            <a:rPr lang="en-US" i="1"/>
                            <m:t>, 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𝑇</m:t>
                              </m:r>
                            </m:e>
                            <m:sub>
                              <m:r>
                                <a:rPr lang="en-US" i="1"/>
                                <m:t>𝑥</m:t>
                              </m:r>
                            </m:sub>
                          </m:sSub>
                          <m:r>
                            <a:rPr lang="en-US" i="1"/>
                            <m:t>, 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𝑇</m:t>
                              </m:r>
                            </m:e>
                            <m:sub>
                              <m:r>
                                <a:rPr lang="en-US" i="1"/>
                                <m:t>𝑠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𝑉</m:t>
                          </m:r>
                        </m:e>
                        <m:sub>
                          <m:r>
                            <a:rPr lang="en-US" i="1"/>
                            <m:t>0</m:t>
                          </m:r>
                        </m:sub>
                      </m:sSub>
                      <m:r>
                        <a:rPr lang="en-US" i="1"/>
                        <m:t>=</m:t>
                      </m:r>
                      <m:r>
                        <a:rPr lang="en-US" i="1"/>
                        <m:t>𝐴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0, 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𝑇</m:t>
                              </m:r>
                            </m:e>
                            <m:sub>
                              <m:r>
                                <a:rPr lang="en-US" i="1"/>
                                <m:t>𝑠</m:t>
                              </m:r>
                            </m:sub>
                          </m:sSub>
                          <m:r>
                            <a:rPr lang="en-US" i="1"/>
                            <m:t>, 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𝑇</m:t>
                              </m:r>
                            </m:e>
                            <m:sub>
                              <m:r>
                                <a:rPr lang="en-US" i="1"/>
                                <m:t>𝑒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𝐴</m:t>
                              </m:r>
                            </m:e>
                            <m:sub>
                              <m:r>
                                <a:rPr lang="en-US" i="1"/>
                                <m:t>𝑠</m:t>
                              </m:r>
                              <m:r>
                                <a:rPr lang="en-US" i="1"/>
                                <m:t>, </m:t>
                              </m:r>
                              <m:r>
                                <a:rPr lang="en-US" i="1"/>
                                <m:t>𝑒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/>
                          </m:ctrlPr>
                        </m:dPr>
                        <m:e>
                          <m:sSup>
                            <m:sSupPr>
                              <m:ctrlPr>
                                <a:rPr lang="en-US" i="1"/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i="1"/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i="1"/>
                                      </m:ctrlPr>
                                    </m:accPr>
                                    <m:e>
                                      <m:r>
                                        <a:rPr lang="en-US" i="1"/>
                                        <m:t>𝑆</m:t>
                                      </m:r>
                                    </m:e>
                                  </m:acc>
                                  <m:r>
                                    <a:rPr lang="en-US" i="1"/>
                                    <m:t>−</m:t>
                                  </m:r>
                                  <m:r>
                                    <a:rPr lang="en-US" i="1"/>
                                    <m:t>𝐾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/>
                                <m:t>+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r>
                  <a:rPr lang="en-US" dirty="0"/>
                  <a:t>Equivalent of the call price for the basket of assets.</a:t>
                </a:r>
              </a:p>
              <a:p>
                <a:pPr lvl="0"/>
                <a:r>
                  <a:rPr lang="en-US" u="sng" dirty="0"/>
                  <a:t>Input Swap Asset Correlation</a:t>
                </a:r>
                <a:r>
                  <a:rPr lang="en-US" dirty="0"/>
                  <a:t>:</a:t>
                </a:r>
              </a:p>
              <a:p>
                <a:pPr marL="0" lv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/>
                      <m:t>Δ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𝑊</m:t>
                        </m:r>
                      </m:e>
                      <m:sub>
                        <m:r>
                          <a:rPr lang="en-US" i="1"/>
                          <m:t>𝑖</m:t>
                        </m:r>
                      </m:sub>
                    </m:sSub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en-US"/>
                      <m:t>Δ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𝑊</m:t>
                        </m:r>
                      </m:e>
                      <m:sub>
                        <m:r>
                          <a:rPr lang="en-US" i="1"/>
                          <m:t>𝑗</m:t>
                        </m:r>
                      </m:sub>
                    </m:sSub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𝑡</m:t>
                        </m:r>
                      </m:e>
                    </m:d>
                    <m:r>
                      <a:rPr lang="en-US" i="1"/>
                      <m:t>=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𝛾</m:t>
                        </m:r>
                      </m:e>
                      <m:sub>
                        <m:r>
                          <a:rPr lang="en-US" i="1"/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/>
                      <m:t>𝑖</m:t>
                    </m:r>
                    <m:r>
                      <a:rPr lang="en-US" i="1"/>
                      <m:t>≠</m:t>
                    </m:r>
                    <m:r>
                      <a:rPr lang="en-US" i="1"/>
                      <m:t>𝑗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BA5D33-7E54-DF26-34E0-F8B283DBF9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9920" y="1172526"/>
                <a:ext cx="11145520" cy="5472749"/>
              </a:xfrm>
              <a:blipFill>
                <a:blip r:embed="rId2"/>
                <a:stretch>
                  <a:fillRect l="-984" t="-1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2061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2DAF1-FC90-257C-A325-26B9C9616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245"/>
            <a:ext cx="10515600" cy="986155"/>
          </a:xfrm>
        </p:spPr>
        <p:txBody>
          <a:bodyPr/>
          <a:lstStyle/>
          <a:p>
            <a:pPr algn="ctr"/>
            <a:r>
              <a:rPr lang="en-US" b="1" dirty="0"/>
              <a:t>Model Design and Assumption (continued)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4C3697-1BFF-760B-DDEE-F2B856C727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3330"/>
                <a:ext cx="10515600" cy="5289709"/>
              </a:xfrm>
            </p:spPr>
            <p:txBody>
              <a:bodyPr>
                <a:normAutofit fontScale="85000" lnSpcReduction="20000"/>
              </a:bodyPr>
              <a:lstStyle/>
              <a:p>
                <a:pPr lvl="0"/>
                <a:r>
                  <a:rPr lang="en-US" u="sng" dirty="0"/>
                  <a:t>Idiosyncratic Processes and their Correlations</a:t>
                </a:r>
                <a:r>
                  <a:rPr lang="en-US" dirty="0"/>
                  <a:t>: Define an auxiliary variable orthogonal to the component driving the rate process, i.e.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𝜖</m:t>
                          </m:r>
                        </m:e>
                        <m:sub>
                          <m:r>
                            <a:rPr lang="en-US" i="1"/>
                            <m:t>𝑖</m:t>
                          </m:r>
                        </m:sub>
                      </m:sSub>
                      <m:r>
                        <a:rPr lang="en-US" i="1"/>
                        <m:t>~</m:t>
                      </m:r>
                      <m:r>
                        <a:rPr lang="en-US" i="1"/>
                        <m:t>𝒩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0, 1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𝜖</m:t>
                            </m:r>
                          </m:e>
                          <m:sub>
                            <m:r>
                              <a:rPr lang="en-US" i="1"/>
                              <m:t>𝑖</m:t>
                            </m:r>
                          </m:sub>
                        </m:sSub>
                        <m:r>
                          <a:rPr lang="en-US" i="1"/>
                          <m:t>, 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𝑊</m:t>
                            </m:r>
                          </m:e>
                          <m:sub>
                            <m:r>
                              <a:rPr lang="en-US" i="1"/>
                              <m:t>𝑗</m:t>
                            </m:r>
                          </m:sub>
                        </m:sSub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𝑡</m:t>
                            </m:r>
                          </m:e>
                        </m:d>
                      </m:e>
                    </m:d>
                    <m:r>
                      <a:rPr lang="en-US" i="1"/>
                      <m:t>=0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𝑍</m:t>
                          </m:r>
                        </m:e>
                        <m:sub>
                          <m:r>
                            <a:rPr lang="en-US" i="1"/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𝑡</m:t>
                          </m:r>
                        </m:e>
                      </m:d>
                      <m:r>
                        <a:rPr lang="en-US" i="1"/>
                        <m:t>=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𝜌</m:t>
                          </m:r>
                        </m:e>
                        <m:sub>
                          <m:r>
                            <a:rPr lang="en-US" i="1"/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𝑊</m:t>
                          </m:r>
                        </m:e>
                        <m:sub>
                          <m:r>
                            <a:rPr lang="en-US" i="1"/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𝑡</m:t>
                          </m:r>
                        </m:e>
                      </m:d>
                      <m:r>
                        <a:rPr lang="en-US" i="1"/>
                        <m:t>+</m:t>
                      </m:r>
                      <m:rad>
                        <m:radPr>
                          <m:degHide m:val="on"/>
                          <m:ctrlPr>
                            <a:rPr lang="en-US" i="1"/>
                          </m:ctrlPr>
                        </m:radPr>
                        <m:deg/>
                        <m:e>
                          <m:r>
                            <a:rPr lang="en-US" i="1"/>
                            <m:t>1−</m:t>
                          </m:r>
                          <m:sSubSup>
                            <m:sSubSupPr>
                              <m:ctrlPr>
                                <a:rPr lang="en-US" i="1"/>
                              </m:ctrlPr>
                            </m:sSubSupPr>
                            <m:e>
                              <m:r>
                                <a:rPr lang="en-US" i="1"/>
                                <m:t>𝜌</m:t>
                              </m:r>
                            </m:e>
                            <m:sub>
                              <m:r>
                                <a:rPr lang="en-US" i="1"/>
                                <m:t>𝑖</m:t>
                              </m:r>
                            </m:sub>
                            <m:sup>
                              <m:r>
                                <a:rPr lang="en-US" i="1"/>
                                <m:t>2</m:t>
                              </m:r>
                            </m:sup>
                          </m:sSubSup>
                        </m:e>
                      </m:rad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𝜖</m:t>
                          </m:r>
                        </m:e>
                        <m:sub>
                          <m:r>
                            <a:rPr lang="en-US" i="1"/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r>
                  <a:rPr lang="en-US" dirty="0"/>
                  <a:t>One can easily verify that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i="1"/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/>
                            <m:t>Δ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𝑍</m:t>
                              </m:r>
                            </m:e>
                            <m:sub>
                              <m:r>
                                <a:rPr lang="en-US" i="1"/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r>
                                <a:rPr lang="en-US" i="1"/>
                                <m:t>𝑡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/>
                            <m:t>Δ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𝑊</m:t>
                              </m:r>
                            </m:e>
                            <m:sub>
                              <m:r>
                                <a:rPr lang="en-US" i="1"/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r>
                                <a:rPr lang="en-US" i="1"/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i="1"/>
                        <m:t>≥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𝜌</m:t>
                          </m:r>
                        </m:e>
                        <m:sub>
                          <m:r>
                            <a:rPr lang="en-US" i="1"/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i="1"/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/>
                            <m:t>Δ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𝑍</m:t>
                              </m:r>
                            </m:e>
                            <m:sub>
                              <m:r>
                                <a:rPr lang="en-US" i="1"/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r>
                                <a:rPr lang="en-US" i="1"/>
                                <m:t>𝑡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/>
                            <m:t>Δ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𝑊</m:t>
                              </m:r>
                            </m:e>
                            <m:sub>
                              <m:r>
                                <a:rPr lang="en-US" i="1"/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r>
                                <a:rPr lang="en-US" i="1"/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i="1"/>
                        <m:t>=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𝜌</m:t>
                          </m:r>
                        </m:e>
                        <m:sub>
                          <m:r>
                            <a:rPr lang="en-US" i="1"/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𝛾</m:t>
                          </m:r>
                        </m:e>
                        <m:sub>
                          <m:r>
                            <a:rPr lang="en-US" i="1"/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4C3697-1BFF-760B-DDEE-F2B856C727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3330"/>
                <a:ext cx="10515600" cy="5289709"/>
              </a:xfrm>
              <a:blipFill>
                <a:blip r:embed="rId2"/>
                <a:stretch>
                  <a:fillRect l="-812" t="-2653" b="-1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0751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1FFB9-10BE-BF8A-1380-EEA0907BE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1"/>
            <a:ext cx="10515600" cy="995679"/>
          </a:xfrm>
        </p:spPr>
        <p:txBody>
          <a:bodyPr/>
          <a:lstStyle/>
          <a:p>
            <a:pPr algn="ctr"/>
            <a:r>
              <a:rPr lang="en-US" b="1" dirty="0"/>
              <a:t>Model Design and Assumption (continued)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3F1F25-3B0C-3FBE-105F-74B95C861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48080"/>
                <a:ext cx="10515600" cy="5394960"/>
              </a:xfrm>
            </p:spPr>
            <p:txBody>
              <a:bodyPr>
                <a:normAutofit lnSpcReduction="10000"/>
              </a:bodyPr>
              <a:lstStyle/>
              <a:p>
                <a:pPr lvl="0"/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i="1" u="sng"/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u="sng"/>
                          <m:t>Δ</m:t>
                        </m:r>
                        <m:sSub>
                          <m:sSubPr>
                            <m:ctrlPr>
                              <a:rPr lang="en-US" i="1" u="sng"/>
                            </m:ctrlPr>
                          </m:sSubPr>
                          <m:e>
                            <m:r>
                              <a:rPr lang="en-US" i="1" u="sng"/>
                              <m:t>𝑍</m:t>
                            </m:r>
                          </m:e>
                          <m:sub>
                            <m:r>
                              <a:rPr lang="en-US" i="1" u="sng"/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i="1" u="sng"/>
                            </m:ctrlPr>
                          </m:dPr>
                          <m:e>
                            <m:r>
                              <a:rPr lang="en-US" i="1" u="sng"/>
                              <m:t>𝑡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u="sng"/>
                          <m:t>Δ</m:t>
                        </m:r>
                        <m:sSub>
                          <m:sSubPr>
                            <m:ctrlPr>
                              <a:rPr lang="en-US" i="1" u="sng"/>
                            </m:ctrlPr>
                          </m:sSubPr>
                          <m:e>
                            <m:r>
                              <a:rPr lang="en-US" i="1" u="sng"/>
                              <m:t>𝑍</m:t>
                            </m:r>
                          </m:e>
                          <m:sub>
                            <m:r>
                              <a:rPr lang="en-US" i="1" u="sng"/>
                              <m:t>𝑗</m:t>
                            </m:r>
                          </m:sub>
                        </m:sSub>
                        <m:d>
                          <m:dPr>
                            <m:ctrlPr>
                              <a:rPr lang="en-US" i="1" u="sng"/>
                            </m:ctrlPr>
                          </m:dPr>
                          <m:e>
                            <m:r>
                              <a:rPr lang="en-US" i="1" u="sng"/>
                              <m:t>𝑡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: The last missing piece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𝜂</m:t>
                        </m:r>
                      </m:e>
                      <m:sub>
                        <m:r>
                          <a:rPr lang="en-US" i="1"/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, and it is further assumed that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i="1"/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/>
                            <m:t>Δ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𝜖</m:t>
                              </m:r>
                            </m:e>
                            <m:sub>
                              <m:r>
                                <a:rPr lang="en-US" i="1"/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r>
                                <a:rPr lang="en-US" i="1"/>
                                <m:t>𝑡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/>
                            <m:t>Δ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𝜖</m:t>
                              </m:r>
                            </m:e>
                            <m:sub>
                              <m:r>
                                <a:rPr lang="en-US" i="1"/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r>
                                <a:rPr lang="en-US" i="1"/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i="1"/>
                        <m:t>≥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𝛾</m:t>
                          </m:r>
                        </m:e>
                        <m:sub>
                          <m:r>
                            <a:rPr lang="en-US" i="1"/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r>
                  <a:rPr lang="en-US" dirty="0"/>
                  <a:t>which leads to the following correlation: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i="1"/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/>
                            <m:t>Δ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𝑍</m:t>
                              </m:r>
                            </m:e>
                            <m:sub>
                              <m:r>
                                <a:rPr lang="en-US" i="1"/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r>
                                <a:rPr lang="en-US" i="1"/>
                                <m:t>𝑡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/>
                            <m:t>Δ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𝑍</m:t>
                              </m:r>
                            </m:e>
                            <m:sub>
                              <m:r>
                                <a:rPr lang="en-US" i="1"/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r>
                                <a:rPr lang="en-US" i="1"/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i="1"/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/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i="1"/>
                              </m:ctrlPr>
                            </m:radPr>
                            <m:deg/>
                            <m:e>
                              <m:d>
                                <m:dPr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1−</m:t>
                                  </m:r>
                                  <m:sSubSup>
                                    <m:sSubSupPr>
                                      <m:ctrlPr>
                                        <a:rPr lang="en-US" i="1"/>
                                      </m:ctrlPr>
                                    </m:sSubSupPr>
                                    <m:e>
                                      <m:r>
                                        <a:rPr lang="en-US" i="1"/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i="1"/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  <m:d>
                                <m:dPr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1−</m:t>
                                  </m:r>
                                  <m:sSubSup>
                                    <m:sSubSupPr>
                                      <m:ctrlPr>
                                        <a:rPr lang="en-US" i="1"/>
                                      </m:ctrlPr>
                                    </m:sSubSupPr>
                                    <m:e>
                                      <m:r>
                                        <a:rPr lang="en-US" i="1"/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i="1"/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rad>
                          <m:r>
                            <a:rPr lang="en-US" i="1"/>
                            <m:t>+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𝜌</m:t>
                              </m:r>
                            </m:e>
                            <m:sub>
                              <m:r>
                                <a:rPr lang="en-US" i="1"/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𝜌</m:t>
                              </m:r>
                            </m:e>
                            <m:sub>
                              <m:r>
                                <a:rPr lang="en-US" i="1"/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i="1"/>
                        <m:t>×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𝛾</m:t>
                          </m:r>
                        </m:e>
                        <m:sub>
                          <m:r>
                            <a:rPr lang="en-US" i="1"/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i="1"/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/>
                            <m:t>Δ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𝑍</m:t>
                              </m:r>
                            </m:e>
                            <m:sub>
                              <m:r>
                                <a:rPr lang="en-US" i="1"/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r>
                                <a:rPr lang="en-US" i="1"/>
                                <m:t>𝑡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/>
                            <m:t>Δ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𝑍</m:t>
                              </m:r>
                            </m:e>
                            <m:sub>
                              <m:r>
                                <a:rPr lang="en-US" i="1"/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r>
                                <a:rPr lang="en-US" i="1"/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i="1"/>
                        <m:t>=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𝜌</m:t>
                          </m:r>
                        </m:e>
                        <m:sub>
                          <m:r>
                            <a:rPr lang="en-US" i="1"/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𝜌</m:t>
                          </m:r>
                        </m:e>
                        <m:sub>
                          <m:r>
                            <a:rPr lang="en-US" i="1"/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𝛾</m:t>
                          </m:r>
                        </m:e>
                        <m:sub>
                          <m:r>
                            <a:rPr lang="en-US" i="1"/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u="sng" dirty="0"/>
                  <a:t>Imposing PSD/Symmetricity of Correlation Matrices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3F1F25-3B0C-3FBE-105F-74B95C861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48080"/>
                <a:ext cx="10515600" cy="5394960"/>
              </a:xfrm>
              <a:blipFill>
                <a:blip r:embed="rId2"/>
                <a:stretch>
                  <a:fillRect l="-1043" t="-2260" r="-1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169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D1BEF-63BE-1DA9-55D3-C52FFF3A3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3361"/>
            <a:ext cx="10515600" cy="1066799"/>
          </a:xfrm>
        </p:spPr>
        <p:txBody>
          <a:bodyPr/>
          <a:lstStyle/>
          <a:p>
            <a:pPr algn="ctr"/>
            <a:r>
              <a:rPr lang="en-US" b="1" dirty="0"/>
              <a:t>Model Design and Assumption (continued)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7E4A4A-2192-3ECE-0E96-A4A7A50DD4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80160"/>
                <a:ext cx="10515600" cy="5100320"/>
              </a:xfrm>
            </p:spPr>
            <p:txBody>
              <a:bodyPr>
                <a:normAutofit/>
              </a:bodyPr>
              <a:lstStyle/>
              <a:p>
                <a:r>
                  <a:rPr lang="en-US" u="sng" dirty="0"/>
                  <a:t>Approach for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u="sng"/>
                        </m:ctrlPr>
                      </m:dPr>
                      <m:e>
                        <m:sSub>
                          <m:sSubPr>
                            <m:ctrlPr>
                              <a:rPr lang="en-US" i="1" u="sng"/>
                            </m:ctrlPr>
                          </m:sSubPr>
                          <m:e>
                            <m:r>
                              <a:rPr lang="en-US" i="1" u="sng"/>
                              <m:t>𝑡</m:t>
                            </m:r>
                          </m:e>
                          <m:sub>
                            <m:r>
                              <a:rPr lang="en-US" i="1" u="sng"/>
                              <m:t>1</m:t>
                            </m:r>
                          </m:sub>
                        </m:sSub>
                        <m:r>
                          <a:rPr lang="en-US" i="1" u="sng"/>
                          <m:t>, </m:t>
                        </m:r>
                        <m:sSub>
                          <m:sSubPr>
                            <m:ctrlPr>
                              <a:rPr lang="en-US" i="1" u="sng"/>
                            </m:ctrlPr>
                          </m:sSubPr>
                          <m:e>
                            <m:r>
                              <a:rPr lang="en-US" i="1" u="sng"/>
                              <m:t>𝑡</m:t>
                            </m:r>
                          </m:e>
                          <m:sub>
                            <m:r>
                              <a:rPr lang="en-US" i="1" u="sng"/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u="sng" dirty="0"/>
                  <a:t> Interpolation</a:t>
                </a:r>
                <a:r>
                  <a:rPr lang="en-US" dirty="0"/>
                  <a:t>: For a given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𝑒</m:t>
                        </m:r>
                        <m:r>
                          <a:rPr lang="en-US" i="1"/>
                          <m:t>, 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𝑡</m:t>
                            </m:r>
                          </m:e>
                          <m:sub>
                            <m:r>
                              <a:rPr lang="en-US" i="1"/>
                              <m:t>1</m:t>
                            </m:r>
                          </m:sub>
                        </m:sSub>
                        <m:r>
                          <a:rPr lang="en-US" i="1"/>
                          <m:t>, 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𝑡</m:t>
                            </m:r>
                          </m:e>
                          <m:sub>
                            <m:r>
                              <a:rPr lang="en-US" i="1"/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as input, one interpolates the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𝑡</m:t>
                            </m:r>
                          </m:e>
                          <m:sub>
                            <m:r>
                              <a:rPr lang="en-US" i="1"/>
                              <m:t>1</m:t>
                            </m:r>
                          </m:sub>
                        </m:sSub>
                        <m:r>
                          <a:rPr lang="en-US" i="1"/>
                          <m:t>, 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𝑡</m:t>
                            </m:r>
                          </m:e>
                          <m:sub>
                            <m:r>
                              <a:rPr lang="en-US" i="1"/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dimension first and then linearly interpolate the expiry dimension with flat extrapolation.</a:t>
                </a:r>
              </a:p>
              <a:p>
                <a:pPr lvl="0"/>
                <a:r>
                  <a:rPr lang="en-US" u="sng" dirty="0"/>
                  <a:t>Location of the Neighboring Point</a:t>
                </a:r>
                <a:r>
                  <a:rPr lang="en-US" dirty="0"/>
                  <a:t>: To interpolate the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𝑡</m:t>
                            </m:r>
                          </m:e>
                          <m:sub>
                            <m:r>
                              <a:rPr lang="en-US" i="1"/>
                              <m:t>1</m:t>
                            </m:r>
                          </m:sub>
                        </m:sSub>
                        <m:r>
                          <a:rPr lang="en-US" i="1"/>
                          <m:t>, 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𝑡</m:t>
                            </m:r>
                          </m:e>
                          <m:sub>
                            <m:r>
                              <a:rPr lang="en-US" i="1"/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dimension, one uses a hybrid approach. Suppose the swap term grid is labelled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𝑇</m:t>
                        </m:r>
                      </m:e>
                      <m:sub>
                        <m:r>
                          <a:rPr lang="en-US" i="1"/>
                          <m:t>1</m:t>
                        </m:r>
                      </m:sub>
                    </m:sSub>
                    <m:r>
                      <a:rPr lang="en-US" i="1"/>
                      <m:t>, ⋯, 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𝑇</m:t>
                        </m:r>
                      </m:e>
                      <m:sub>
                        <m:r>
                          <a:rPr lang="en-US" i="1"/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. Then, if one interpolates at any arbitrary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𝑡</m:t>
                            </m:r>
                          </m:e>
                          <m:sub>
                            <m:r>
                              <a:rPr lang="en-US" i="1"/>
                              <m:t>1</m:t>
                            </m:r>
                          </m:sub>
                        </m:sSub>
                        <m:r>
                          <a:rPr lang="en-US" i="1"/>
                          <m:t>, 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𝑡</m:t>
                            </m:r>
                          </m:e>
                          <m:sub>
                            <m:r>
                              <a:rPr lang="en-US" i="1"/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one first locates the nearby grid nodes such that</a:t>
                </a:r>
              </a:p>
              <a:p>
                <a:pPr marL="0" lv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𝑇</m:t>
                          </m:r>
                        </m:e>
                        <m: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𝑖</m:t>
                              </m:r>
                            </m:e>
                            <m:sub>
                              <m:r>
                                <a:rPr lang="en-US" i="1"/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i="1"/>
                        <m:t>≤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𝑡</m:t>
                          </m:r>
                        </m:e>
                        <m:sub>
                          <m:r>
                            <a:rPr lang="en-US" i="1"/>
                            <m:t>1</m:t>
                          </m:r>
                        </m:sub>
                      </m:sSub>
                      <m:r>
                        <a:rPr lang="en-US" i="1"/>
                        <m:t>≤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𝑇</m:t>
                          </m:r>
                        </m:e>
                        <m: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𝑖</m:t>
                              </m:r>
                            </m:e>
                            <m:sub>
                              <m:r>
                                <a:rPr lang="en-US" i="1"/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𝑇</m:t>
                          </m:r>
                        </m:e>
                        <m: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𝑗</m:t>
                              </m:r>
                            </m:e>
                            <m:sub>
                              <m:r>
                                <a:rPr lang="en-US" i="1"/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i="1"/>
                        <m:t>≤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𝑡</m:t>
                          </m:r>
                        </m:e>
                        <m:sub>
                          <m:r>
                            <a:rPr lang="en-US" i="1"/>
                            <m:t>2</m:t>
                          </m:r>
                        </m:sub>
                      </m:sSub>
                      <m:r>
                        <a:rPr lang="en-US" i="1"/>
                        <m:t>≤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𝑇</m:t>
                          </m:r>
                        </m:e>
                        <m: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𝑗</m:t>
                              </m:r>
                            </m:e>
                            <m:sub>
                              <m:r>
                                <a:rPr lang="en-US" i="1"/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7E4A4A-2192-3ECE-0E96-A4A7A50DD4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80160"/>
                <a:ext cx="10515600" cy="5100320"/>
              </a:xfrm>
              <a:blipFill>
                <a:blip r:embed="rId2"/>
                <a:stretch>
                  <a:fillRect l="-1043" t="-1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9246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81714-98FE-17EB-D51B-3DDDCA454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841"/>
            <a:ext cx="10515600" cy="1188719"/>
          </a:xfrm>
        </p:spPr>
        <p:txBody>
          <a:bodyPr/>
          <a:lstStyle/>
          <a:p>
            <a:pPr algn="ctr"/>
            <a:r>
              <a:rPr lang="en-US" b="1" dirty="0"/>
              <a:t>Model Design and Assumption (continued)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3975CB-F181-782A-4000-B538D59471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44320"/>
                <a:ext cx="10515600" cy="4876800"/>
              </a:xfrm>
            </p:spPr>
            <p:txBody>
              <a:bodyPr/>
              <a:lstStyle/>
              <a:p>
                <a:pPr lvl="0"/>
                <a:r>
                  <a:rPr lang="en-US" u="sng" dirty="0"/>
                  <a:t>Case 1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𝑖</m:t>
                            </m:r>
                          </m:e>
                          <m:sub>
                            <m:r>
                              <a:rPr lang="en-US" i="1"/>
                              <m:t>2</m:t>
                            </m:r>
                          </m:sub>
                        </m:sSub>
                        <m:r>
                          <a:rPr lang="en-US" i="1"/>
                          <m:t>, 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𝑗</m:t>
                            </m:r>
                          </m:e>
                          <m:sub>
                            <m:r>
                              <a:rPr lang="en-US" i="1"/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𝑖</m:t>
                            </m:r>
                          </m:e>
                          <m:sub>
                            <m:r>
                              <a:rPr lang="en-US" i="1"/>
                              <m:t>1</m:t>
                            </m:r>
                          </m:sub>
                        </m:sSub>
                        <m:r>
                          <a:rPr lang="en-US" i="1"/>
                          <m:t>, 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𝑗</m:t>
                            </m:r>
                          </m:e>
                          <m:sub>
                            <m:r>
                              <a:rPr lang="en-US" i="1"/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are not a diagonal point. That is, all four nearby points are used in the interpolation. In this case, a usual 2D interpolation is done with flat interpolation.</a:t>
                </a:r>
              </a:p>
              <a:p>
                <a:pPr lvl="0"/>
                <a:r>
                  <a:rPr lang="en-US" u="sng" dirty="0"/>
                  <a:t>Case 1 Illustration</a:t>
                </a:r>
                <a:r>
                  <a:rPr lang="en-US" dirty="0"/>
                  <a:t>: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3975CB-F181-782A-4000-B538D59471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44320"/>
                <a:ext cx="10515600" cy="4876800"/>
              </a:xfrm>
              <a:blipFill>
                <a:blip r:embed="rId2"/>
                <a:stretch>
                  <a:fillRect l="-1043" t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D1B0D1B-5EB6-35E2-912D-9E92090E2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00" y="3778885"/>
            <a:ext cx="5943600" cy="275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088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B2737-0C11-CF59-3DD9-52778ACDF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2561"/>
            <a:ext cx="10515600" cy="1137919"/>
          </a:xfrm>
        </p:spPr>
        <p:txBody>
          <a:bodyPr/>
          <a:lstStyle/>
          <a:p>
            <a:pPr algn="ctr"/>
            <a:r>
              <a:rPr lang="en-US" b="1" dirty="0"/>
              <a:t>Model Design and Assumption (continued)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2C127E-47D2-1E77-D3CC-B4B86BEB85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00480"/>
                <a:ext cx="10515600" cy="5130800"/>
              </a:xfrm>
            </p:spPr>
            <p:txBody>
              <a:bodyPr/>
              <a:lstStyle/>
              <a:p>
                <a:pPr lvl="0"/>
                <a:r>
                  <a:rPr lang="en-US" u="sng" dirty="0"/>
                  <a:t>Case 2 #1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𝑖</m:t>
                            </m:r>
                          </m:e>
                          <m:sub>
                            <m:r>
                              <a:rPr lang="en-US" i="1"/>
                              <m:t>2</m:t>
                            </m:r>
                          </m:sub>
                        </m:sSub>
                        <m:r>
                          <a:rPr lang="en-US" i="1"/>
                          <m:t>, 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𝑗</m:t>
                            </m:r>
                          </m:e>
                          <m:sub>
                            <m:r>
                              <a:rPr lang="en-US" i="1"/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𝑖</m:t>
                            </m:r>
                          </m:e>
                          <m:sub>
                            <m:r>
                              <a:rPr lang="en-US" i="1"/>
                              <m:t>1</m:t>
                            </m:r>
                          </m:sub>
                        </m:sSub>
                        <m:r>
                          <a:rPr lang="en-US" i="1"/>
                          <m:t>, 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𝑗</m:t>
                            </m:r>
                          </m:e>
                          <m:sub>
                            <m:r>
                              <a:rPr lang="en-US" i="1"/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are diagonal points. That is, only 3 points – 2 diagonal points and one off-diagonal point – are used in interpolation.</a:t>
                </a:r>
              </a:p>
              <a:p>
                <a:r>
                  <a:rPr lang="en-US" u="sng" dirty="0"/>
                  <a:t>Case 2 #2</a:t>
                </a:r>
                <a:r>
                  <a:rPr lang="en-US" dirty="0"/>
                  <a:t>: In this case, one uses Barycentric coordinates to interpolate the points as one wants to make sure every point on the diagonal has the interpolated value of 1.</a:t>
                </a:r>
              </a:p>
              <a:p>
                <a:r>
                  <a:rPr lang="en-US" u="sng" dirty="0"/>
                  <a:t>Case 2 Illustration</a:t>
                </a:r>
                <a:r>
                  <a:rPr lang="en-US" dirty="0"/>
                  <a:t>: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2C127E-47D2-1E77-D3CC-B4B86BEB85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00480"/>
                <a:ext cx="10515600" cy="5130800"/>
              </a:xfrm>
              <a:blipFill>
                <a:blip r:embed="rId2"/>
                <a:stretch>
                  <a:fillRect l="-1043" t="-19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D6369DB-B850-2BF3-E0A3-26130FA14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4200" y="3770312"/>
            <a:ext cx="4922520" cy="2960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337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267D4-73FA-D49A-10BB-25B7A63C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1921"/>
            <a:ext cx="10515600" cy="995679"/>
          </a:xfrm>
        </p:spPr>
        <p:txBody>
          <a:bodyPr/>
          <a:lstStyle/>
          <a:p>
            <a:pPr algn="ctr"/>
            <a:r>
              <a:rPr lang="en-US" b="1" dirty="0"/>
              <a:t>Model Design and Assumption (continued)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3305FA-98A4-8306-6134-838BDB4F53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7600"/>
                <a:ext cx="10515600" cy="5445760"/>
              </a:xfrm>
            </p:spPr>
            <p:txBody>
              <a:bodyPr>
                <a:normAutofit fontScale="85000" lnSpcReduction="10000"/>
              </a:bodyPr>
              <a:lstStyle/>
              <a:p>
                <a:pPr lvl="0"/>
                <a:r>
                  <a:rPr lang="en-US" u="sng" dirty="0"/>
                  <a:t>Explicit Expression for Barycentric Interpolation</a:t>
                </a:r>
                <a:r>
                  <a:rPr lang="en-US" dirty="0"/>
                  <a:t>: One defines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𝑤𝑒𝑖𝑔h𝑡𝑠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0</m:t>
                          </m:r>
                        </m:e>
                      </m:d>
                      <m:r>
                        <a:rPr lang="en-US" i="1"/>
                        <m:t>=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i="1"/>
                                <m:t>−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  <m:r>
                            <a:rPr lang="en-US" i="1"/>
                            <m:t>×</m:t>
                          </m:r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𝑡</m:t>
                                  </m:r>
                                </m:e>
                                <m:sub>
                                  <m:r>
                                    <a:rPr lang="en-US" i="1"/>
                                    <m:t>1</m:t>
                                  </m:r>
                                </m:sub>
                              </m:sSub>
                              <m:r>
                                <a:rPr lang="en-US" i="1"/>
                                <m:t>−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  <m:r>
                            <a:rPr lang="en-US" i="1"/>
                            <m:t>−</m:t>
                          </m:r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i="1"/>
                                <m:t>−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  <m:r>
                            <a:rPr lang="en-US" i="1"/>
                            <m:t>×</m:t>
                          </m:r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𝑡</m:t>
                                  </m:r>
                                </m:e>
                                <m:sub>
                                  <m:r>
                                    <a:rPr lang="en-US" i="1"/>
                                    <m:t>2</m:t>
                                  </m:r>
                                </m:sub>
                              </m:sSub>
                              <m:r>
                                <a:rPr lang="en-US" i="1"/>
                                <m:t>−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i="1"/>
                                <m:t>−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  <m:r>
                            <a:rPr lang="en-US" i="1"/>
                            <m:t>×</m:t>
                          </m:r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i="1"/>
                                <m:t>−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  <m:r>
                            <a:rPr lang="en-US" i="1"/>
                            <m:t>−</m:t>
                          </m:r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i="1"/>
                                <m:t>−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  <m:r>
                            <a:rPr lang="en-US" i="1"/>
                            <m:t>×</m:t>
                          </m:r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i="1"/>
                                <m:t>−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𝑤𝑒𝑖𝑔h𝑡𝑠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1</m:t>
                          </m:r>
                        </m:e>
                      </m:d>
                      <m:r>
                        <a:rPr lang="en-US" i="1"/>
                        <m:t>=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i="1"/>
                                <m:t>−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  <m:r>
                            <a:rPr lang="en-US" i="1"/>
                            <m:t>×</m:t>
                          </m:r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𝑡</m:t>
                                  </m:r>
                                </m:e>
                                <m:sub>
                                  <m:r>
                                    <a:rPr lang="en-US" i="1"/>
                                    <m:t>1</m:t>
                                  </m:r>
                                </m:sub>
                              </m:sSub>
                              <m:r>
                                <a:rPr lang="en-US" i="1"/>
                                <m:t>−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  <m:r>
                            <a:rPr lang="en-US" i="1"/>
                            <m:t>−</m:t>
                          </m:r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i="1"/>
                                <m:t>−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  <m:r>
                            <a:rPr lang="en-US" i="1"/>
                            <m:t>×</m:t>
                          </m:r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𝑡</m:t>
                                  </m:r>
                                </m:e>
                                <m:sub>
                                  <m:r>
                                    <a:rPr lang="en-US" i="1"/>
                                    <m:t>2</m:t>
                                  </m:r>
                                </m:sub>
                              </m:sSub>
                              <m:r>
                                <a:rPr lang="en-US" i="1"/>
                                <m:t>−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i="1"/>
                                <m:t>−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  <m:r>
                            <a:rPr lang="en-US" i="1"/>
                            <m:t>×</m:t>
                          </m:r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i="1"/>
                                <m:t>−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  <m:r>
                            <a:rPr lang="en-US" i="1"/>
                            <m:t>−</m:t>
                          </m:r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i="1"/>
                                <m:t>−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  <m:r>
                            <a:rPr lang="en-US" i="1"/>
                            <m:t>×</m:t>
                          </m:r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i="1"/>
                                <m:t>−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𝑤𝑒𝑖𝑔h𝑡𝑠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2</m:t>
                          </m:r>
                        </m:e>
                      </m:d>
                      <m:r>
                        <a:rPr lang="en-US" i="1"/>
                        <m:t>=1−</m:t>
                      </m:r>
                      <m:r>
                        <a:rPr lang="en-US" i="1"/>
                        <m:t>𝑤𝑒𝑖𝑔h𝑡𝑠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21</m:t>
                          </m:r>
                        </m:e>
                      </m:d>
                      <m:r>
                        <a:rPr lang="en-US" i="1"/>
                        <m:t>−</m:t>
                      </m:r>
                      <m:r>
                        <a:rPr lang="en-US" i="1"/>
                        <m:t>𝑤𝑒𝑖𝑔h𝑡𝑠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0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𝑌</m:t>
                        </m:r>
                      </m:e>
                      <m:sub>
                        <m:r>
                          <a:rPr lang="en-US" i="1"/>
                          <m:t>𝑎</m:t>
                        </m:r>
                        <m:r>
                          <a:rPr lang="en-US" i="1"/>
                          <m:t>, </m:t>
                        </m:r>
                        <m:r>
                          <a:rPr lang="en-US" i="1"/>
                          <m:t>𝑏</m:t>
                        </m:r>
                      </m:sub>
                    </m:sSub>
                  </m:oMath>
                </a14:m>
                <a:r>
                  <a:rPr lang="en-US" dirty="0"/>
                  <a:t> the value on grid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𝑎</m:t>
                        </m:r>
                        <m:r>
                          <a:rPr lang="en-US" i="1"/>
                          <m:t>, </m:t>
                        </m:r>
                        <m:r>
                          <a:rPr lang="en-US" i="1"/>
                          <m:t>𝑏</m:t>
                        </m:r>
                      </m:e>
                    </m:d>
                  </m:oMath>
                </a14:m>
                <a:r>
                  <a:rPr lang="en-US" dirty="0"/>
                  <a:t>, the interpolated values is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/>
                          </m:ctrlPr>
                        </m:sSupPr>
                        <m:e>
                          <m:r>
                            <a:rPr lang="en-US" i="1"/>
                            <m:t>𝑦</m:t>
                          </m:r>
                        </m:e>
                        <m:sup>
                          <m:r>
                            <a:rPr lang="en-US" i="1"/>
                            <m:t>∗</m:t>
                          </m:r>
                        </m:sup>
                      </m:sSup>
                      <m:r>
                        <a:rPr lang="en-US" i="1"/>
                        <m:t>=</m:t>
                      </m:r>
                      <m:r>
                        <a:rPr lang="en-US" i="1"/>
                        <m:t>𝑤𝑒𝑖𝑔h𝑡𝑠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0</m:t>
                          </m:r>
                        </m:e>
                      </m:d>
                      <m:r>
                        <a:rPr lang="en-US" i="1"/>
                        <m:t>×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𝑌</m:t>
                          </m:r>
                        </m:e>
                        <m:sub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i="1"/>
                                <m:t>, 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</m:sub>
                      </m:sSub>
                      <m:r>
                        <a:rPr lang="en-US" i="1"/>
                        <m:t>+</m:t>
                      </m:r>
                      <m:r>
                        <a:rPr lang="en-US" i="1"/>
                        <m:t>𝑤𝑒𝑖𝑔h𝑡𝑠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1</m:t>
                          </m:r>
                        </m:e>
                      </m:d>
                      <m:r>
                        <a:rPr lang="en-US" i="1"/>
                        <m:t>×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𝑌</m:t>
                          </m:r>
                        </m:e>
                        <m:sub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i="1"/>
                                <m:t>, 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</m:sub>
                      </m:sSub>
                      <m:r>
                        <a:rPr lang="en-US" i="1"/>
                        <m:t>+</m:t>
                      </m:r>
                      <m:r>
                        <a:rPr lang="en-US" i="1"/>
                        <m:t>𝑤𝑒𝑖𝑔h𝑡𝑠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2</m:t>
                          </m:r>
                        </m:e>
                      </m:d>
                      <m:r>
                        <a:rPr lang="en-US" i="1"/>
                        <m:t>×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𝑌</m:t>
                          </m:r>
                        </m:e>
                        <m:sub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i="1"/>
                                <m:t>, 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</m:sub>
                      </m:sSub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3305FA-98A4-8306-6134-838BDB4F53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7600"/>
                <a:ext cx="10515600" cy="5445760"/>
              </a:xfrm>
              <a:blipFill>
                <a:blip r:embed="rId2"/>
                <a:stretch>
                  <a:fillRect l="-812" t="-2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8881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82A1C-5530-DBC7-F7A3-D12965F07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5675"/>
          </a:xfrm>
        </p:spPr>
        <p:txBody>
          <a:bodyPr/>
          <a:lstStyle/>
          <a:p>
            <a:pPr algn="ctr"/>
            <a:r>
              <a:rPr lang="en-US" b="1" dirty="0"/>
              <a:t>Model Design and Assumption (continued)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DD4BFA-5573-156C-9D1E-898937C18A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84960"/>
                <a:ext cx="10515600" cy="4907915"/>
              </a:xfrm>
            </p:spPr>
            <p:txBody>
              <a:bodyPr>
                <a:normAutofit fontScale="55000" lnSpcReduction="20000"/>
              </a:bodyPr>
              <a:lstStyle/>
              <a:p>
                <a:pPr lvl="0"/>
                <a:r>
                  <a:rPr lang="en-US" u="sng" dirty="0"/>
                  <a:t>SABR Solution to </a:t>
                </a:r>
                <a14:m>
                  <m:oMath xmlns:m="http://schemas.openxmlformats.org/officeDocument/2006/math">
                    <m:r>
                      <a:rPr lang="en-US" i="1" u="sng"/>
                      <m:t>𝑛</m:t>
                    </m:r>
                  </m:oMath>
                </a14:m>
                <a:r>
                  <a:rPr lang="en-US" u="sng" dirty="0"/>
                  <a:t> Assets</a:t>
                </a:r>
                <a:r>
                  <a:rPr lang="en-US" dirty="0"/>
                  <a:t>: From Hagan, Lesniewski, Skoufis, and Woodward (2021); only applies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𝛽</m:t>
                        </m:r>
                      </m:e>
                      <m:sub>
                        <m:r>
                          <a:rPr lang="en-US" i="1"/>
                          <m:t>𝑖</m:t>
                        </m:r>
                      </m:sub>
                    </m:sSub>
                    <m:r>
                      <a:rPr lang="en-US" i="1"/>
                      <m:t>=0</m:t>
                    </m:r>
                  </m:oMath>
                </a14:m>
                <a:endParaRPr lang="en-US" dirty="0"/>
              </a:p>
              <a:p>
                <a:pPr lvl="0"/>
                <a:r>
                  <a:rPr lang="en-US" u="sng" dirty="0"/>
                  <a:t>Multi-asset SABR - Intermediate Terms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∆=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i="1"/>
                          </m:ctrlPr>
                        </m:naryPr>
                        <m:sub>
                          <m:r>
                            <a:rPr lang="en-US" i="1"/>
                            <m:t>𝑖</m:t>
                          </m:r>
                          <m:r>
                            <a:rPr lang="en-US" i="1"/>
                            <m:t>, </m:t>
                          </m:r>
                          <m:r>
                            <a:rPr lang="en-US" i="1"/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𝛾</m:t>
                              </m:r>
                            </m:e>
                            <m:sub>
                              <m:r>
                                <a:rPr lang="en-US" i="1"/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𝜆</m:t>
                              </m:r>
                            </m:e>
                            <m:sub>
                              <m:r>
                                <a:rPr lang="en-US" i="1"/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𝛼</m:t>
                              </m:r>
                            </m:e>
                            <m:sub>
                              <m:r>
                                <a:rPr lang="en-US" i="1"/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𝜆</m:t>
                              </m:r>
                            </m:e>
                            <m:sub>
                              <m:r>
                                <a:rPr lang="en-US" i="1"/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𝛼</m:t>
                              </m:r>
                            </m:e>
                            <m:sub>
                              <m:r>
                                <a:rPr lang="en-US" i="1"/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𝛽</m:t>
                      </m:r>
                      <m:r>
                        <a:rPr lang="en-US" i="1"/>
                        <m:t>=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r>
                            <a:rPr lang="en-US" i="1"/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i="1"/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/>
                                <m:t>Δ</m:t>
                              </m:r>
                            </m:e>
                            <m:sup>
                              <m:r>
                                <a:rPr lang="en-US"/>
                                <m:t>3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i="1"/>
                          </m:ctrlPr>
                        </m:naryPr>
                        <m:sub>
                          <m:r>
                            <a:rPr lang="en-US" i="1"/>
                            <m:t>𝑖</m:t>
                          </m:r>
                          <m:r>
                            <a:rPr lang="en-US" i="1"/>
                            <m:t>, </m:t>
                          </m:r>
                          <m:r>
                            <a:rPr lang="en-US" i="1"/>
                            <m:t>𝑗</m:t>
                          </m:r>
                          <m:r>
                            <a:rPr lang="en-US" i="1"/>
                            <m:t>, </m:t>
                          </m:r>
                          <m:r>
                            <a:rPr lang="en-US" i="1"/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𝜌</m:t>
                              </m:r>
                            </m:e>
                            <m:sub>
                              <m:r>
                                <a:rPr lang="en-US" i="1"/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𝜈</m:t>
                              </m:r>
                            </m:e>
                            <m:sub>
                              <m:r>
                                <a:rPr lang="en-US" i="1"/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𝛾</m:t>
                              </m:r>
                            </m:e>
                            <m:sub>
                              <m:r>
                                <a:rPr lang="en-US" i="1"/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𝜆</m:t>
                              </m:r>
                            </m:e>
                            <m:sub>
                              <m:r>
                                <a:rPr lang="en-US" i="1"/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𝛼</m:t>
                              </m:r>
                            </m:e>
                            <m:sub>
                              <m:r>
                                <a:rPr lang="en-US" i="1"/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𝜆</m:t>
                              </m:r>
                            </m:e>
                            <m:sub>
                              <m:r>
                                <a:rPr lang="en-US" i="1"/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𝛼</m:t>
                              </m:r>
                            </m:e>
                            <m:sub>
                              <m:r>
                                <a:rPr lang="en-US" i="1"/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𝜆</m:t>
                              </m:r>
                            </m:e>
                            <m:sub>
                              <m:r>
                                <a:rPr lang="en-US" i="1"/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𝛼</m:t>
                              </m:r>
                            </m:e>
                            <m:sub>
                              <m:r>
                                <a:rPr lang="en-US" i="1"/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𝜅</m:t>
                      </m:r>
                      <m:r>
                        <a:rPr lang="en-US" i="1"/>
                        <m:t>=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r>
                            <a:rPr lang="en-US" i="1"/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i="1"/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/>
                                <m:t>Δ</m:t>
                              </m:r>
                            </m:e>
                            <m:sup>
                              <m:r>
                                <a:rPr lang="en-US"/>
                                <m:t>4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i="1"/>
                          </m:ctrlPr>
                        </m:naryPr>
                        <m:sub>
                          <m:r>
                            <a:rPr lang="en-US" i="1"/>
                            <m:t>𝑖</m:t>
                          </m:r>
                          <m:r>
                            <a:rPr lang="en-US" i="1"/>
                            <m:t>, </m:t>
                          </m:r>
                          <m:r>
                            <a:rPr lang="en-US" i="1"/>
                            <m:t>𝑗</m:t>
                          </m:r>
                          <m:r>
                            <a:rPr lang="en-US" i="1"/>
                            <m:t>, </m:t>
                          </m:r>
                          <m:r>
                            <a:rPr lang="en-US" i="1"/>
                            <m:t>𝑘</m:t>
                          </m:r>
                          <m:r>
                            <a:rPr lang="en-US" i="1"/>
                            <m:t>, </m:t>
                          </m:r>
                          <m:r>
                            <a:rPr lang="en-US" i="1"/>
                            <m:t>𝑚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𝜌</m:t>
                              </m:r>
                            </m:e>
                            <m:sub>
                              <m:r>
                                <a:rPr lang="en-US" i="1"/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𝜈</m:t>
                              </m:r>
                            </m:e>
                            <m:sub>
                              <m:r>
                                <a:rPr lang="en-US" i="1"/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𝜌</m:t>
                                  </m:r>
                                </m:e>
                                <m:sub>
                                  <m:r>
                                    <a:rPr lang="en-US" i="1"/>
                                    <m:t>𝑘𝑖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𝜈</m:t>
                                  </m:r>
                                </m:e>
                                <m:sub>
                                  <m:r>
                                    <a:rPr lang="en-US" i="1"/>
                                    <m:t>𝑖</m:t>
                                  </m:r>
                                </m:sub>
                              </m:sSub>
                              <m:r>
                                <a:rPr lang="en-US" i="1"/>
                                <m:t>+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𝜌</m:t>
                                  </m:r>
                                </m:e>
                                <m:sub>
                                  <m:r>
                                    <a:rPr lang="en-US" i="1"/>
                                    <m:t>𝑘𝑗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𝜈</m:t>
                                  </m:r>
                                </m:e>
                                <m:sub>
                                  <m:r>
                                    <a:rPr lang="en-US" i="1"/>
                                    <m:t>𝑗</m:t>
                                  </m:r>
                                </m:sub>
                              </m:sSub>
                              <m:r>
                                <a:rPr lang="en-US" i="1"/>
                                <m:t>+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𝜌</m:t>
                                  </m:r>
                                </m:e>
                                <m:sub>
                                  <m:r>
                                    <a:rPr lang="en-US" i="1"/>
                                    <m:t>𝑘𝑚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𝜈</m:t>
                                  </m:r>
                                </m:e>
                                <m:sub>
                                  <m:r>
                                    <a:rPr lang="en-US" i="1"/>
                                    <m:t>𝑚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𝛾</m:t>
                              </m:r>
                            </m:e>
                            <m:sub>
                              <m:r>
                                <a:rPr lang="en-US" i="1"/>
                                <m:t>𝑗𝑚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𝜆</m:t>
                              </m:r>
                            </m:e>
                            <m:sub>
                              <m:r>
                                <a:rPr lang="en-US" i="1"/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𝛼</m:t>
                              </m:r>
                            </m:e>
                            <m:sub>
                              <m:r>
                                <a:rPr lang="en-US" i="1"/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𝜆</m:t>
                              </m:r>
                            </m:e>
                            <m:sub>
                              <m:r>
                                <a:rPr lang="en-US" i="1"/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𝛼</m:t>
                              </m:r>
                            </m:e>
                            <m:sub>
                              <m:r>
                                <a:rPr lang="en-US" i="1"/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𝜆</m:t>
                              </m:r>
                            </m:e>
                            <m:sub>
                              <m:r>
                                <a:rPr lang="en-US" i="1"/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𝛼</m:t>
                              </m:r>
                            </m:e>
                            <m:sub>
                              <m:r>
                                <a:rPr lang="en-US" i="1"/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𝜆</m:t>
                              </m:r>
                            </m:e>
                            <m:sub>
                              <m:r>
                                <a:rPr lang="en-US" i="1"/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𝛼</m:t>
                              </m:r>
                            </m:e>
                            <m:sub>
                              <m:r>
                                <a:rPr lang="en-US" i="1"/>
                                <m:t>𝑚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𝛾</m:t>
                      </m:r>
                      <m:r>
                        <a:rPr lang="en-US" i="1"/>
                        <m:t>=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r>
                            <a:rPr lang="en-US" i="1"/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i="1"/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/>
                                <m:t>Δ</m:t>
                              </m:r>
                            </m:e>
                            <m:sup>
                              <m:r>
                                <a:rPr lang="en-US"/>
                                <m:t>4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i="1"/>
                          </m:ctrlPr>
                        </m:naryPr>
                        <m:sub>
                          <m:r>
                            <a:rPr lang="en-US" i="1"/>
                            <m:t>𝑖</m:t>
                          </m:r>
                          <m:r>
                            <a:rPr lang="en-US" i="1"/>
                            <m:t>, </m:t>
                          </m:r>
                          <m:r>
                            <a:rPr lang="en-US" i="1"/>
                            <m:t>𝑗</m:t>
                          </m:r>
                          <m:r>
                            <a:rPr lang="en-US" i="1"/>
                            <m:t>, </m:t>
                          </m:r>
                          <m:r>
                            <a:rPr lang="en-US" i="1"/>
                            <m:t>𝑘</m:t>
                          </m:r>
                          <m:r>
                            <a:rPr lang="en-US" i="1"/>
                            <m:t>, </m:t>
                          </m:r>
                          <m:r>
                            <a:rPr lang="en-US" i="1"/>
                            <m:t>𝑚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𝜂</m:t>
                              </m:r>
                            </m:e>
                            <m:sub>
                              <m:r>
                                <a:rPr lang="en-US" i="1"/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𝜈</m:t>
                              </m:r>
                            </m:e>
                            <m:sub>
                              <m:r>
                                <a:rPr lang="en-US" i="1"/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𝜈</m:t>
                              </m:r>
                            </m:e>
                            <m:sub>
                              <m:r>
                                <a:rPr lang="en-US" i="1"/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𝛾</m:t>
                              </m:r>
                            </m:e>
                            <m:sub>
                              <m:r>
                                <a:rPr lang="en-US" i="1"/>
                                <m:t>𝑖𝑘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𝛾</m:t>
                              </m:r>
                            </m:e>
                            <m:sub>
                              <m:r>
                                <a:rPr lang="en-US" i="1"/>
                                <m:t>𝑗𝑚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𝜆</m:t>
                              </m:r>
                            </m:e>
                            <m:sub>
                              <m:r>
                                <a:rPr lang="en-US" i="1"/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𝛼</m:t>
                              </m:r>
                            </m:e>
                            <m:sub>
                              <m:r>
                                <a:rPr lang="en-US" i="1"/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𝜆</m:t>
                              </m:r>
                            </m:e>
                            <m:sub>
                              <m:r>
                                <a:rPr lang="en-US" i="1"/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𝛼</m:t>
                              </m:r>
                            </m:e>
                            <m:sub>
                              <m:r>
                                <a:rPr lang="en-US" i="1"/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𝜆</m:t>
                              </m:r>
                            </m:e>
                            <m:sub>
                              <m:r>
                                <a:rPr lang="en-US" i="1"/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𝛼</m:t>
                              </m:r>
                            </m:e>
                            <m:sub>
                              <m:r>
                                <a:rPr lang="en-US" i="1"/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𝜆</m:t>
                              </m:r>
                            </m:e>
                            <m:sub>
                              <m:r>
                                <a:rPr lang="en-US" i="1"/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𝛼</m:t>
                              </m:r>
                            </m:e>
                            <m:sub>
                              <m:r>
                                <a:rPr lang="en-US" i="1"/>
                                <m:t>𝑚</m:t>
                              </m:r>
                            </m:sub>
                          </m:sSub>
                        </m:e>
                      </m:nary>
                      <m:r>
                        <a:rPr lang="en-US" i="1"/>
                        <m:t>+</m:t>
                      </m:r>
                      <m:r>
                        <a:rPr lang="en-US" i="1"/>
                        <m:t>𝜅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𝛤</m:t>
                      </m:r>
                      <m:r>
                        <a:rPr lang="en-US" i="1"/>
                        <m:t>=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r>
                            <a:rPr lang="en-US" i="1"/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i="1"/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/>
                                <m:t>Δ</m:t>
                              </m:r>
                            </m:e>
                            <m:sup>
                              <m:r>
                                <a:rPr lang="en-US"/>
                                <m:t>4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i="1"/>
                          </m:ctrlPr>
                        </m:naryPr>
                        <m:sub>
                          <m:r>
                            <a:rPr lang="en-US" i="1"/>
                            <m:t>𝑖</m:t>
                          </m:r>
                          <m:r>
                            <a:rPr lang="en-US" i="1"/>
                            <m:t>, </m:t>
                          </m:r>
                          <m:r>
                            <a:rPr lang="en-US" i="1"/>
                            <m:t>𝑗</m:t>
                          </m:r>
                          <m:r>
                            <a:rPr lang="en-US" i="1"/>
                            <m:t>, </m:t>
                          </m:r>
                          <m:r>
                            <a:rPr lang="en-US" i="1"/>
                            <m:t>𝑘</m:t>
                          </m:r>
                          <m:r>
                            <a:rPr lang="en-US" i="1"/>
                            <m:t>, </m:t>
                          </m:r>
                          <m:r>
                            <a:rPr lang="en-US" i="1"/>
                            <m:t>𝑚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𝜂</m:t>
                              </m:r>
                            </m:e>
                            <m:sub>
                              <m:r>
                                <a:rPr lang="en-US" i="1"/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𝜈</m:t>
                              </m:r>
                            </m:e>
                            <m:sub>
                              <m:r>
                                <a:rPr lang="en-US" i="1"/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𝜈</m:t>
                              </m:r>
                            </m:e>
                            <m:sub>
                              <m:r>
                                <a:rPr lang="en-US" i="1"/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𝛾</m:t>
                                  </m:r>
                                </m:e>
                                <m:sub>
                                  <m:r>
                                    <a:rPr lang="en-US" i="1"/>
                                    <m:t>𝑖𝑗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𝛾</m:t>
                                  </m:r>
                                </m:e>
                                <m:sub>
                                  <m:r>
                                    <a:rPr lang="en-US" i="1"/>
                                    <m:t>𝑘𝑚</m:t>
                                  </m:r>
                                </m:sub>
                              </m:sSub>
                              <m:r>
                                <a:rPr lang="en-US" i="1"/>
                                <m:t>−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𝛾</m:t>
                                  </m:r>
                                </m:e>
                                <m:sub>
                                  <m:r>
                                    <a:rPr lang="en-US" i="1"/>
                                    <m:t>𝑖𝑘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𝛾</m:t>
                                  </m:r>
                                </m:e>
                                <m:sub>
                                  <m:r>
                                    <a:rPr lang="en-US" i="1"/>
                                    <m:t>𝑗𝑚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𝜆</m:t>
                              </m:r>
                            </m:e>
                            <m:sub>
                              <m:r>
                                <a:rPr lang="en-US" i="1"/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𝛼</m:t>
                              </m:r>
                            </m:e>
                            <m:sub>
                              <m:r>
                                <a:rPr lang="en-US" i="1"/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𝜆</m:t>
                              </m:r>
                            </m:e>
                            <m:sub>
                              <m:r>
                                <a:rPr lang="en-US" i="1"/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𝛼</m:t>
                              </m:r>
                            </m:e>
                            <m:sub>
                              <m:r>
                                <a:rPr lang="en-US" i="1"/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𝜆</m:t>
                              </m:r>
                            </m:e>
                            <m:sub>
                              <m:r>
                                <a:rPr lang="en-US" i="1"/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𝛼</m:t>
                              </m:r>
                            </m:e>
                            <m:sub>
                              <m:r>
                                <a:rPr lang="en-US" i="1"/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𝜆</m:t>
                              </m:r>
                            </m:e>
                            <m:sub>
                              <m:r>
                                <a:rPr lang="en-US" i="1"/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𝛼</m:t>
                              </m:r>
                            </m:e>
                            <m:sub>
                              <m:r>
                                <a:rPr lang="en-US" i="1"/>
                                <m:t>𝑚</m:t>
                              </m:r>
                            </m:sub>
                          </m:sSub>
                        </m:e>
                      </m:nary>
                      <m:r>
                        <a:rPr lang="en-US" i="1"/>
                        <m:t>−</m:t>
                      </m:r>
                      <m:r>
                        <a:rPr lang="en-US" i="1"/>
                        <m:t>𝜅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DD4BFA-5573-156C-9D1E-898937C18A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84960"/>
                <a:ext cx="10515600" cy="4907915"/>
              </a:xfrm>
              <a:blipFill>
                <a:blip r:embed="rId2"/>
                <a:stretch>
                  <a:fillRect l="-174" t="-1739" b="-15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8477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3FFF1-1F62-053E-8E6F-EC39FFB82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1"/>
            <a:ext cx="10515600" cy="1066799"/>
          </a:xfrm>
        </p:spPr>
        <p:txBody>
          <a:bodyPr/>
          <a:lstStyle/>
          <a:p>
            <a:pPr algn="ctr"/>
            <a:r>
              <a:rPr lang="en-US" b="1" dirty="0"/>
              <a:t>Model Design and Assumption (continued)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19872D-CE21-B849-E92E-161AD78CF5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20800"/>
                <a:ext cx="10515600" cy="5140960"/>
              </a:xfrm>
            </p:spPr>
            <p:txBody>
              <a:bodyPr>
                <a:normAutofit fontScale="55000" lnSpcReduction="20000"/>
              </a:bodyPr>
              <a:lstStyle/>
              <a:p>
                <a:pPr lvl="0"/>
                <a:r>
                  <a:rPr lang="en-US" u="sng" dirty="0"/>
                  <a:t>Asset Indexes </a:t>
                </a:r>
                <a14:m>
                  <m:oMath xmlns:m="http://schemas.openxmlformats.org/officeDocument/2006/math">
                    <m:r>
                      <a:rPr lang="en-US" i="1" u="sng"/>
                      <m:t>𝑖</m:t>
                    </m:r>
                    <m:r>
                      <a:rPr lang="en-US" i="1" u="sng"/>
                      <m:t>, </m:t>
                    </m:r>
                    <m:r>
                      <a:rPr lang="en-US" i="1" u="sng"/>
                      <m:t>𝑗</m:t>
                    </m:r>
                    <m:r>
                      <a:rPr lang="en-US" i="1" u="sng"/>
                      <m:t>, </m:t>
                    </m:r>
                    <m:r>
                      <a:rPr lang="en-US" i="1" u="sng"/>
                      <m:t>𝑘</m:t>
                    </m:r>
                    <m:r>
                      <a:rPr lang="en-US" i="1" u="sng"/>
                      <m:t>, </m:t>
                    </m:r>
                    <m:r>
                      <a:rPr lang="en-US" i="1" u="sng"/>
                      <m:t>𝑚</m:t>
                    </m:r>
                  </m:oMath>
                </a14:m>
                <a:r>
                  <a:rPr lang="en-US" dirty="0"/>
                  <a:t>: Setting the </a:t>
                </a:r>
                <a14:m>
                  <m:oMath xmlns:m="http://schemas.openxmlformats.org/officeDocument/2006/math">
                    <m:r>
                      <a:rPr lang="en-US" i="1"/>
                      <m:t>𝑑𝑖𝑚𝑒𝑛𝑠𝑖𝑜𝑛</m:t>
                    </m:r>
                    <m:r>
                      <a:rPr lang="en-US" i="1"/>
                      <m:t>=2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/>
                      <m:t>𝑖</m:t>
                    </m:r>
                    <m:r>
                      <a:rPr lang="en-US" i="1"/>
                      <m:t>, </m:t>
                    </m:r>
                    <m:r>
                      <a:rPr lang="en-US" i="1"/>
                      <m:t>𝑗</m:t>
                    </m:r>
                    <m:r>
                      <a:rPr lang="en-US" i="1"/>
                      <m:t>, </m:t>
                    </m:r>
                    <m:r>
                      <a:rPr lang="en-US" i="1"/>
                      <m:t>𝑘</m:t>
                    </m:r>
                    <m:r>
                      <a:rPr lang="en-US" i="1"/>
                      <m:t>, </m:t>
                    </m:r>
                    <m:r>
                      <a:rPr lang="en-US" i="1"/>
                      <m:t>𝑚</m:t>
                    </m:r>
                  </m:oMath>
                </a14:m>
                <a:r>
                  <a:rPr lang="en-US" dirty="0"/>
                  <a:t> ranges from 0 to 1 – results in effective SABR parameter on the 2-asset case.</a:t>
                </a:r>
              </a:p>
              <a:p>
                <a:pPr lvl="0"/>
                <a:r>
                  <a:rPr lang="en-US" u="sng" dirty="0"/>
                  <a:t>“Effective” SABR Parameters</a:t>
                </a:r>
                <a:r>
                  <a:rPr lang="en-US" dirty="0"/>
                  <a:t>: New set of SABR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𝛼</m:t>
                        </m:r>
                      </m:e>
                      <m:sub>
                        <m:r>
                          <a:rPr lang="en-US" i="1"/>
                          <m:t>𝑒𝑓𝑓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𝜌</m:t>
                        </m:r>
                      </m:e>
                      <m:sub>
                        <m:r>
                          <a:rPr lang="en-US" i="1"/>
                          <m:t>𝑒𝑓𝑓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𝜈</m:t>
                        </m:r>
                      </m:e>
                      <m:sub>
                        <m:r>
                          <a:rPr lang="en-US" i="1"/>
                          <m:t>𝑒𝑓𝑓</m:t>
                        </m:r>
                      </m:sub>
                    </m:sSub>
                  </m:oMath>
                </a14:m>
                <a:r>
                  <a:rPr lang="en-US" dirty="0"/>
                  <a:t>, and a SABR model defined using a new set of SABR parameters, that is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/>
                        <m:t>Δ</m:t>
                      </m:r>
                      <m:acc>
                        <m:accPr>
                          <m:chr m:val="̃"/>
                          <m:ctrlPr>
                            <a:rPr lang="en-US" i="1"/>
                          </m:ctrlPr>
                        </m:accPr>
                        <m:e>
                          <m:r>
                            <a:rPr lang="en-US" i="1"/>
                            <m:t>𝑆</m:t>
                          </m:r>
                        </m:e>
                      </m:acc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𝑡</m:t>
                          </m:r>
                        </m:e>
                      </m:d>
                      <m:r>
                        <a:rPr lang="en-US" i="1"/>
                        <m:t>=</m:t>
                      </m:r>
                      <m:acc>
                        <m:accPr>
                          <m:chr m:val="̃"/>
                          <m:ctrlPr>
                            <a:rPr lang="en-US" i="1"/>
                          </m:ctrlPr>
                        </m:accPr>
                        <m:e>
                          <m:r>
                            <a:rPr lang="en-US" i="1"/>
                            <m:t>𝐴</m:t>
                          </m:r>
                        </m:e>
                      </m:acc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/>
                        <m:t>Δ</m:t>
                      </m:r>
                      <m:r>
                        <a:rPr lang="en-US" i="1"/>
                        <m:t>𝑊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/>
                        <m:t>Δ</m:t>
                      </m:r>
                      <m:acc>
                        <m:accPr>
                          <m:chr m:val="̃"/>
                          <m:ctrlPr>
                            <a:rPr lang="en-US" i="1"/>
                          </m:ctrlPr>
                        </m:accPr>
                        <m:e>
                          <m:r>
                            <a:rPr lang="en-US" i="1"/>
                            <m:t>𝐴</m:t>
                          </m:r>
                        </m:e>
                      </m:acc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𝑡</m:t>
                          </m:r>
                        </m:e>
                      </m:d>
                      <m:r>
                        <a:rPr lang="en-US" i="1"/>
                        <m:t>=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𝜈</m:t>
                          </m:r>
                        </m:e>
                        <m:sub>
                          <m:r>
                            <a:rPr lang="en-US" i="1"/>
                            <m:t>𝑒𝑓𝑓</m:t>
                          </m:r>
                        </m:sub>
                      </m:sSub>
                      <m:acc>
                        <m:accPr>
                          <m:chr m:val="̃"/>
                          <m:ctrlPr>
                            <a:rPr lang="en-US" i="1"/>
                          </m:ctrlPr>
                        </m:accPr>
                        <m:e>
                          <m:r>
                            <a:rPr lang="en-US" i="1"/>
                            <m:t>𝐴</m:t>
                          </m:r>
                        </m:e>
                      </m:acc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/>
                        <m:t>Δ</m:t>
                      </m:r>
                      <m:r>
                        <a:rPr lang="en-US" i="1"/>
                        <m:t>𝑍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/>
                        <m:t>Δ</m:t>
                      </m:r>
                      <m:r>
                        <a:rPr lang="en-US" i="1"/>
                        <m:t>𝑍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/>
                        <m:t>Δ</m:t>
                      </m:r>
                      <m:r>
                        <a:rPr lang="en-US" i="1"/>
                        <m:t>𝑊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𝑡</m:t>
                          </m:r>
                        </m:e>
                      </m:d>
                      <m:r>
                        <a:rPr lang="en-US" i="1"/>
                        <m:t>=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𝜌</m:t>
                          </m:r>
                        </m:e>
                        <m:sub>
                          <m:r>
                            <a:rPr lang="en-US" i="1"/>
                            <m:t>𝑒𝑓𝑓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/>
                        <m:t>Δ</m:t>
                      </m:r>
                      <m:r>
                        <a:rPr lang="en-US" i="1"/>
                        <m:t>𝑡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i="1"/>
                              </m:ctrlPr>
                            </m:accPr>
                            <m:e>
                              <m:r>
                                <a:rPr lang="en-US" i="1"/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i="1"/>
                            <m:t>0</m:t>
                          </m:r>
                        </m:sub>
                      </m:sSub>
                      <m:r>
                        <a:rPr lang="en-US" i="1"/>
                        <m:t>=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𝛼</m:t>
                          </m:r>
                        </m:e>
                        <m:sub>
                          <m:r>
                            <a:rPr lang="en-US" i="1"/>
                            <m:t>𝑒𝑓𝑓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𝛼</m:t>
                          </m:r>
                        </m:e>
                        <m:sub>
                          <m:r>
                            <a:rPr lang="en-US" i="1"/>
                            <m:t>𝑒𝑓𝑓</m:t>
                          </m:r>
                        </m:sub>
                      </m:sSub>
                      <m:r>
                        <a:rPr lang="en-US" i="1"/>
                        <m:t>=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/>
                            <m:t>Δ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/>
                              </m:ctrlPr>
                            </m:radPr>
                            <m:deg/>
                            <m:e>
                              <m:r>
                                <a:rPr lang="en-US" i="1"/>
                                <m:t>𝐶</m:t>
                              </m:r>
                            </m:e>
                          </m:rad>
                        </m:den>
                      </m:f>
                      <m:r>
                        <a:rPr lang="en-US" i="1"/>
                        <m:t>≡∆</m:t>
                      </m:r>
                      <m:sSup>
                        <m:sSupPr>
                          <m:ctrlPr>
                            <a:rPr lang="en-US" i="1"/>
                          </m:ctrlPr>
                        </m:sSupPr>
                        <m:e>
                          <m:r>
                            <a:rPr lang="en-US" i="1"/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US" i="1"/>
                              </m:ctrlPr>
                            </m:fPr>
                            <m:num>
                              <m:r>
                                <a:rPr lang="en-US" i="1"/>
                                <m:t>1</m:t>
                              </m:r>
                            </m:num>
                            <m:den>
                              <m:r>
                                <a:rPr lang="en-US" i="1"/>
                                <m:t>4</m:t>
                              </m:r>
                            </m:den>
                          </m:f>
                          <m:r>
                            <a:rPr lang="en-US" i="1"/>
                            <m:t>𝛤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𝜏</m:t>
                              </m:r>
                            </m:e>
                            <m:sub>
                              <m:r>
                                <a:rPr lang="en-US" i="1"/>
                                <m:t>𝐴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𝜌</m:t>
                          </m:r>
                        </m:e>
                        <m:sub>
                          <m:r>
                            <a:rPr lang="en-US" i="1"/>
                            <m:t>𝑒𝑓𝑓</m:t>
                          </m:r>
                        </m:sub>
                      </m:sSub>
                      <m:r>
                        <a:rPr lang="en-US" i="1"/>
                        <m:t>=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r>
                            <a:rPr lang="en-US" i="1"/>
                            <m:t>𝛽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/>
                              </m:ctrlPr>
                            </m:radPr>
                            <m:deg/>
                            <m:e>
                              <m:r>
                                <a:rPr lang="en-US" i="1"/>
                                <m:t>𝛾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𝜈</m:t>
                          </m:r>
                        </m:e>
                        <m:sub>
                          <m:r>
                            <a:rPr lang="en-US" i="1"/>
                            <m:t>𝑒𝑓𝑓</m:t>
                          </m:r>
                        </m:sub>
                      </m:sSub>
                      <m:r>
                        <a:rPr lang="en-US" i="1"/>
                        <m:t>=</m:t>
                      </m:r>
                      <m:rad>
                        <m:radPr>
                          <m:degHide m:val="on"/>
                          <m:ctrlPr>
                            <a:rPr lang="en-US" i="1"/>
                          </m:ctrlPr>
                        </m:radPr>
                        <m:deg/>
                        <m:e>
                          <m:r>
                            <a:rPr lang="en-US" i="1"/>
                            <m:t>𝛾</m:t>
                          </m:r>
                        </m:e>
                      </m:rad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19872D-CE21-B849-E92E-161AD78CF5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20800"/>
                <a:ext cx="10515600" cy="5140960"/>
              </a:xfrm>
              <a:blipFill>
                <a:blip r:embed="rId2"/>
                <a:stretch>
                  <a:fillRect l="-174" t="-14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78931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6ACAD-1105-F364-069C-B4B87EC7F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3361"/>
            <a:ext cx="10515600" cy="1198879"/>
          </a:xfrm>
        </p:spPr>
        <p:txBody>
          <a:bodyPr/>
          <a:lstStyle/>
          <a:p>
            <a:pPr algn="ctr"/>
            <a:r>
              <a:rPr lang="en-US" b="1" dirty="0"/>
              <a:t>Model Design and Assumption (continued)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EF7ACD-C049-8D4F-8B46-D2061B87D4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2240"/>
                <a:ext cx="10515600" cy="5110480"/>
              </a:xfrm>
            </p:spPr>
            <p:txBody>
              <a:bodyPr>
                <a:normAutofit/>
              </a:bodyPr>
              <a:lstStyle/>
              <a:p>
                <a:pPr lvl="0"/>
                <a:r>
                  <a:rPr lang="en-US" u="sng" dirty="0"/>
                  <a:t>Option Price Using Effective SABR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𝑃</m:t>
                      </m:r>
                      <m:r>
                        <a:rPr lang="en-US" i="1"/>
                        <m:t>=</m:t>
                      </m:r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𝑁</m:t>
                          </m:r>
                        </m:e>
                        <m:sub>
                          <m:r>
                            <a:rPr lang="en-US" i="1"/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𝐴</m:t>
                          </m:r>
                        </m:e>
                        <m:sub>
                          <m:r>
                            <a:rPr lang="en-US" i="1"/>
                            <m:t>0</m:t>
                          </m:r>
                        </m:sub>
                      </m:sSub>
                      <m:r>
                        <a:rPr lang="en-US" i="1"/>
                        <m:t>𝐵𝑙𝑎𝑐𝑘𝑁𝑜𝑟𝑚𝑎𝑙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𝜙</m:t>
                          </m:r>
                          <m:r>
                            <a:rPr lang="en-US" i="1"/>
                            <m:t>, </m:t>
                          </m:r>
                          <m:r>
                            <a:rPr lang="en-US" i="1"/>
                            <m:t>𝐹</m:t>
                          </m:r>
                          <m:r>
                            <a:rPr lang="en-US" i="1"/>
                            <m:t>, </m:t>
                          </m:r>
                          <m:r>
                            <a:rPr lang="en-US" i="1"/>
                            <m:t>𝐾</m:t>
                          </m:r>
                          <m:r>
                            <a:rPr lang="en-US" i="1"/>
                            <m:t>, 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𝜎</m:t>
                              </m:r>
                            </m:e>
                            <m:sub>
                              <m:r>
                                <a:rPr lang="en-US" i="1"/>
                                <m:t>𝑁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/>
                              </m:ctrlPr>
                            </m:dPr>
                            <m:e>
                              <m:r>
                                <a:rPr lang="en-US" i="1"/>
                                <m:t>𝐾</m:t>
                              </m:r>
                              <m:r>
                                <a:rPr lang="en-US" i="1"/>
                                <m:t>, </m:t>
                              </m:r>
                              <m:r>
                                <a:rPr lang="en-US" i="1"/>
                                <m:t>𝜏</m:t>
                              </m:r>
                              <m:r>
                                <a:rPr lang="en-US" i="1"/>
                                <m:t>, </m:t>
                              </m:r>
                              <m:r>
                                <a:rPr lang="en-US" i="1"/>
                                <m:t>𝑇</m:t>
                              </m:r>
                            </m:e>
                          </m:d>
                          <m:r>
                            <a:rPr lang="en-US" i="1"/>
                            <m:t>, 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𝜏</m:t>
                              </m:r>
                            </m:e>
                            <m:sub>
                              <m:r>
                                <a:rPr lang="en-US" i="1"/>
                                <m:t>𝐴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𝑁</m:t>
                        </m:r>
                      </m:e>
                      <m:sub>
                        <m:r>
                          <a:rPr lang="en-US" i="1"/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=&gt; Notional of the Swaption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𝐴</m:t>
                        </m:r>
                      </m:e>
                      <m:sub>
                        <m:r>
                          <a:rPr lang="en-US" i="1"/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=&gt; Annuity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𝐴</m:t>
                        </m:r>
                      </m:e>
                      <m:sub>
                        <m:r>
                          <a:rPr lang="en-US" i="1"/>
                          <m:t>𝑠</m:t>
                        </m:r>
                        <m:r>
                          <a:rPr lang="en-US" i="1"/>
                          <m:t>, </m:t>
                        </m:r>
                        <m:r>
                          <a:rPr lang="en-US" i="1"/>
                          <m:t>𝑒</m:t>
                        </m:r>
                      </m:sub>
                    </m:sSub>
                  </m:oMath>
                </a14:m>
                <a:r>
                  <a:rPr lang="en-US" dirty="0"/>
                  <a:t> of the Forward Swap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/>
                      <m:t>𝜙</m:t>
                    </m:r>
                  </m:oMath>
                </a14:m>
                <a:r>
                  <a:rPr lang="en-US" dirty="0"/>
                  <a:t> =&gt; +1 for call and -1 for put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/>
                      <m:t>𝐹</m:t>
                    </m:r>
                  </m:oMath>
                </a14:m>
                <a:r>
                  <a:rPr lang="en-US" dirty="0"/>
                  <a:t> =&gt; Forward Swap Rate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𝐴</m:t>
                        </m:r>
                      </m:e>
                      <m:sub>
                        <m:r>
                          <a:rPr lang="en-US" i="1"/>
                          <m:t>𝑠</m:t>
                        </m:r>
                        <m:r>
                          <a:rPr lang="en-US" i="1"/>
                          <m:t>, </m:t>
                        </m:r>
                        <m:r>
                          <a:rPr lang="en-US" i="1"/>
                          <m:t>𝑒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/>
                      <m:t>𝐾</m:t>
                    </m:r>
                  </m:oMath>
                </a14:m>
                <a:r>
                  <a:rPr lang="en-US" dirty="0"/>
                  <a:t> =&gt; Strike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𝜎</m:t>
                        </m:r>
                      </m:e>
                      <m:sub>
                        <m:r>
                          <a:rPr lang="en-US" i="1"/>
                          <m:t>𝑁</m:t>
                        </m:r>
                      </m:sub>
                    </m:sSub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𝐾</m:t>
                        </m:r>
                        <m:r>
                          <a:rPr lang="en-US" i="1"/>
                          <m:t>, </m:t>
                        </m:r>
                        <m:r>
                          <a:rPr lang="en-US" i="1"/>
                          <m:t>𝜏</m:t>
                        </m:r>
                        <m:r>
                          <a:rPr lang="en-US" i="1"/>
                          <m:t>, </m:t>
                        </m:r>
                        <m:r>
                          <a:rPr lang="en-US" i="1"/>
                          <m:t>𝑇</m:t>
                        </m:r>
                      </m:e>
                    </m:d>
                  </m:oMath>
                </a14:m>
                <a:r>
                  <a:rPr lang="en-US" dirty="0"/>
                  <a:t> =&gt; Volatility from the SABR model using effective SABR parameters with strike </a:t>
                </a:r>
                <a14:m>
                  <m:oMath xmlns:m="http://schemas.openxmlformats.org/officeDocument/2006/math">
                    <m:r>
                      <a:rPr lang="en-US" i="1"/>
                      <m:t>𝐾</m:t>
                    </m:r>
                  </m:oMath>
                </a14:m>
                <a:r>
                  <a:rPr lang="en-US" dirty="0"/>
                  <a:t> and TTE </a:t>
                </a:r>
                <a14:m>
                  <m:oMath xmlns:m="http://schemas.openxmlformats.org/officeDocument/2006/math">
                    <m:r>
                      <a:rPr lang="en-US" i="1"/>
                      <m:t>𝜏</m:t>
                    </m:r>
                  </m:oMath>
                </a14:m>
                <a:r>
                  <a:rPr lang="en-US" dirty="0"/>
                  <a:t> using effective SABR parameters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𝜏</m:t>
                        </m:r>
                      </m:e>
                      <m:sub>
                        <m:r>
                          <a:rPr lang="en-US" i="1"/>
                          <m:t>𝐴</m:t>
                        </m:r>
                      </m:sub>
                    </m:sSub>
                  </m:oMath>
                </a14:m>
                <a:r>
                  <a:rPr lang="en-US" dirty="0"/>
                  <a:t> =&gt; TTE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EF7ACD-C049-8D4F-8B46-D2061B87D4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2240"/>
                <a:ext cx="10515600" cy="5110480"/>
              </a:xfrm>
              <a:blipFill>
                <a:blip r:embed="rId2"/>
                <a:stretch>
                  <a:fillRect l="-1043" t="-2029" b="-3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13159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4ED81-902E-DD00-8C1E-3938D0A7E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841"/>
            <a:ext cx="10515600" cy="1168399"/>
          </a:xfrm>
        </p:spPr>
        <p:txBody>
          <a:bodyPr/>
          <a:lstStyle/>
          <a:p>
            <a:pPr algn="ctr"/>
            <a:r>
              <a:rPr lang="en-US" b="1" dirty="0"/>
              <a:t>Model Design and Assumption (continued)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F44B16-1953-C072-4722-2E74E0EB1E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2240"/>
                <a:ext cx="10515600" cy="5100320"/>
              </a:xfrm>
            </p:spPr>
            <p:txBody>
              <a:bodyPr/>
              <a:lstStyle/>
              <a:p>
                <a:pPr lvl="0"/>
                <a:r>
                  <a:rPr lang="en-US" u="sng" dirty="0"/>
                  <a:t>Long-Short Rate Parameter Set</a:t>
                </a:r>
                <a:r>
                  <a:rPr lang="en-US" dirty="0"/>
                  <a:t>: In the two-correlated SABR framework used for mid-curve option pricing, each swap rate – long and short – is characterized by its own set of marginal SABR parameters – ATM </a:t>
                </a:r>
                <a14:m>
                  <m:oMath xmlns:m="http://schemas.openxmlformats.org/officeDocument/2006/math">
                    <m:r>
                      <a:rPr lang="en-US" i="1"/>
                      <m:t>𝛼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/>
                      <m:t>𝜌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/>
                      <m:t>𝜈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0"/>
                <a:r>
                  <a:rPr lang="en-US" u="sng" dirty="0"/>
                  <a:t>SABR Parameters for Marginal Distribution</a:t>
                </a:r>
                <a:r>
                  <a:rPr lang="en-US" dirty="0"/>
                  <a:t>: The marginal ATM parameters are first obtained by inverting the SABR implied volatility.</a:t>
                </a:r>
              </a:p>
              <a:p>
                <a:pPr lvl="0"/>
                <a:r>
                  <a:rPr lang="en-US" u="sng" dirty="0"/>
                  <a:t>Computing the Effective SABR Parameters</a:t>
                </a:r>
                <a:r>
                  <a:rPr lang="en-US" dirty="0"/>
                  <a:t>: Together with the long-short correlation, these marginal parameters are then combined through an effective parameter aggregation to yield a single effective SABR representation with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𝛼</m:t>
                        </m:r>
                      </m:e>
                      <m:sub>
                        <m:r>
                          <a:rPr lang="en-US" i="1"/>
                          <m:t>𝑒𝑓𝑓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𝜌</m:t>
                        </m:r>
                      </m:e>
                      <m:sub>
                        <m:r>
                          <a:rPr lang="en-US" i="1"/>
                          <m:t>𝑒𝑓𝑓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𝜈</m:t>
                        </m:r>
                      </m:e>
                      <m:sub>
                        <m:r>
                          <a:rPr lang="en-US" i="1"/>
                          <m:t>𝑒𝑓𝑓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F44B16-1953-C072-4722-2E74E0EB1E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2240"/>
                <a:ext cx="10515600" cy="5100320"/>
              </a:xfrm>
              <a:blipFill>
                <a:blip r:embed="rId2"/>
                <a:stretch>
                  <a:fillRect l="-1043" t="-2033" r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6616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67680-314A-9DC8-CA14-ED6414387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3361"/>
            <a:ext cx="10515600" cy="1117599"/>
          </a:xfrm>
        </p:spPr>
        <p:txBody>
          <a:bodyPr/>
          <a:lstStyle/>
          <a:p>
            <a:pPr algn="ctr"/>
            <a:r>
              <a:rPr lang="en-US" b="1" dirty="0"/>
              <a:t>Model Design and Assumption (continued)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E60905-A9BD-68E4-AE9B-588FBD5547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2240"/>
                <a:ext cx="10515600" cy="5080000"/>
              </a:xfrm>
            </p:spPr>
            <p:txBody>
              <a:bodyPr>
                <a:normAutofit fontScale="92500"/>
              </a:bodyPr>
              <a:lstStyle/>
              <a:p>
                <a:pPr lvl="0"/>
                <a:r>
                  <a:rPr lang="en-US" u="sng" dirty="0"/>
                  <a:t>Price/Sensitivities Using Bachelier Formula</a:t>
                </a:r>
                <a:r>
                  <a:rPr lang="en-US" dirty="0"/>
                  <a:t>: The resulting effective volatility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𝜈</m:t>
                        </m:r>
                      </m:e>
                      <m:sub>
                        <m:r>
                          <a:rPr lang="en-US" i="1"/>
                          <m:t>𝑒𝑓𝑓</m:t>
                        </m:r>
                      </m:sub>
                    </m:sSub>
                  </m:oMath>
                </a14:m>
                <a:r>
                  <a:rPr lang="en-US" dirty="0"/>
                  <a:t> is used within the Bachelier formula to compute the swaption price </a:t>
                </a:r>
                <a14:m>
                  <m:oMath xmlns:m="http://schemas.openxmlformats.org/officeDocument/2006/math">
                    <m:r>
                      <a:rPr lang="en-US" i="1"/>
                      <m:t>𝑃</m:t>
                    </m:r>
                  </m:oMath>
                </a14:m>
                <a:r>
                  <a:rPr lang="en-US" dirty="0"/>
                  <a:t>. The calculation mechanism of vega, correlation sensitivity, rho sensitivity, and nu sensitivity are the same.</a:t>
                </a:r>
              </a:p>
              <a:p>
                <a:pPr lvl="0"/>
                <a:r>
                  <a:rPr lang="en-US" u="sng" dirty="0"/>
                  <a:t>Example - The Nu Sensitivity</a:t>
                </a:r>
                <a:r>
                  <a:rPr lang="en-US" dirty="0"/>
                  <a:t>: Using the nu sensitivity as an example,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𝜕</m:t>
                        </m:r>
                        <m:r>
                          <a:rPr lang="en-US" i="1"/>
                          <m:t>𝑃</m:t>
                        </m:r>
                      </m:num>
                      <m:den>
                        <m:r>
                          <a:rPr lang="en-US" i="1"/>
                          <m:t>𝜕𝜈</m:t>
                        </m:r>
                      </m:den>
                    </m:f>
                  </m:oMath>
                </a14:m>
                <a:r>
                  <a:rPr lang="en-US" dirty="0"/>
                  <a:t>, captures the impact of changes in the marginal </a:t>
                </a:r>
                <a14:m>
                  <m:oMath xmlns:m="http://schemas.openxmlformats.org/officeDocument/2006/math">
                    <m:r>
                      <a:rPr lang="en-US" i="1"/>
                      <m:t>𝜈</m:t>
                    </m:r>
                  </m:oMath>
                </a14:m>
                <a:r>
                  <a:rPr lang="en-US" dirty="0"/>
                  <a:t> inputs on the final price.</a:t>
                </a:r>
              </a:p>
              <a:p>
                <a:pPr lvl="0"/>
                <a:r>
                  <a:rPr lang="en-US" u="sng" dirty="0"/>
                  <a:t>Applying Chain Rule for Nu Sensitivity</a:t>
                </a:r>
                <a:r>
                  <a:rPr lang="en-US" dirty="0"/>
                  <a:t>: Its computation involves a multi-layer dependency structure than can be expressed through the chain rule: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r>
                            <a:rPr lang="en-US" i="1"/>
                            <m:t>𝜕</m:t>
                          </m:r>
                          <m:r>
                            <a:rPr lang="en-US" i="1"/>
                            <m:t>𝑃</m:t>
                          </m:r>
                        </m:num>
                        <m:den>
                          <m:r>
                            <a:rPr lang="en-US" i="1"/>
                            <m:t>𝜕𝜈</m:t>
                          </m:r>
                        </m:den>
                      </m:f>
                      <m:r>
                        <a:rPr lang="en-US" i="1"/>
                        <m:t>=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r>
                            <a:rPr lang="en-US" i="1"/>
                            <m:t>𝜕</m:t>
                          </m:r>
                          <m:r>
                            <a:rPr lang="en-US" i="1"/>
                            <m:t>𝑃</m:t>
                          </m:r>
                        </m:num>
                        <m:den>
                          <m:r>
                            <a:rPr lang="en-US" i="1"/>
                            <m:t>𝜕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𝛼</m:t>
                              </m:r>
                            </m:e>
                            <m:sub>
                              <m:r>
                                <a:rPr lang="en-US" i="1"/>
                                <m:t>𝑒𝑓𝑓</m:t>
                              </m:r>
                            </m:sub>
                          </m:sSub>
                        </m:den>
                      </m:f>
                      <m:r>
                        <a:rPr lang="en-US" i="1"/>
                        <m:t>∙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r>
                            <a:rPr lang="en-US" i="1"/>
                            <m:t>𝜕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𝛼</m:t>
                              </m:r>
                            </m:e>
                            <m:sub>
                              <m:r>
                                <a:rPr lang="en-US" i="1"/>
                                <m:t>𝑒𝑓𝑓</m:t>
                              </m:r>
                            </m:sub>
                          </m:sSub>
                        </m:num>
                        <m:den>
                          <m:r>
                            <a:rPr lang="en-US" i="1"/>
                            <m:t>𝜕𝜈</m:t>
                          </m:r>
                        </m:den>
                      </m:f>
                      <m:r>
                        <a:rPr lang="en-US" i="1"/>
                        <m:t>+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r>
                            <a:rPr lang="en-US" i="1"/>
                            <m:t>𝜕</m:t>
                          </m:r>
                          <m:r>
                            <a:rPr lang="en-US" i="1"/>
                            <m:t>𝑃</m:t>
                          </m:r>
                        </m:num>
                        <m:den>
                          <m:r>
                            <a:rPr lang="en-US" i="1"/>
                            <m:t>𝜕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𝜌</m:t>
                              </m:r>
                            </m:e>
                            <m:sub>
                              <m:r>
                                <a:rPr lang="en-US" i="1"/>
                                <m:t>𝑒𝑓𝑓</m:t>
                              </m:r>
                            </m:sub>
                          </m:sSub>
                        </m:den>
                      </m:f>
                      <m:r>
                        <a:rPr lang="en-US" i="1"/>
                        <m:t>∙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r>
                            <a:rPr lang="en-US" i="1"/>
                            <m:t>𝜕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𝜌</m:t>
                              </m:r>
                            </m:e>
                            <m:sub>
                              <m:r>
                                <a:rPr lang="en-US" i="1"/>
                                <m:t>𝑒𝑓𝑓</m:t>
                              </m:r>
                            </m:sub>
                          </m:sSub>
                        </m:num>
                        <m:den>
                          <m:r>
                            <a:rPr lang="en-US" i="1"/>
                            <m:t>𝜕𝜈</m:t>
                          </m:r>
                        </m:den>
                      </m:f>
                      <m:r>
                        <a:rPr lang="en-US" i="1"/>
                        <m:t>+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r>
                            <a:rPr lang="en-US" i="1"/>
                            <m:t>𝜕</m:t>
                          </m:r>
                          <m:r>
                            <a:rPr lang="en-US" i="1"/>
                            <m:t>𝑃</m:t>
                          </m:r>
                        </m:num>
                        <m:den>
                          <m:r>
                            <a:rPr lang="en-US" i="1"/>
                            <m:t>𝜕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𝜈</m:t>
                              </m:r>
                            </m:e>
                            <m:sub>
                              <m:r>
                                <a:rPr lang="en-US" i="1"/>
                                <m:t>𝑒𝑓𝑓</m:t>
                              </m:r>
                            </m:sub>
                          </m:sSub>
                        </m:den>
                      </m:f>
                      <m:r>
                        <a:rPr lang="en-US" i="1"/>
                        <m:t>∙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r>
                            <a:rPr lang="en-US" i="1"/>
                            <m:t>𝜕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𝜈</m:t>
                              </m:r>
                            </m:e>
                            <m:sub>
                              <m:r>
                                <a:rPr lang="en-US" i="1"/>
                                <m:t>𝑒𝑓𝑓</m:t>
                              </m:r>
                            </m:sub>
                          </m:sSub>
                        </m:num>
                        <m:den>
                          <m:r>
                            <a:rPr lang="en-US" i="1"/>
                            <m:t>𝜕𝜈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E60905-A9BD-68E4-AE9B-588FBD5547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2240"/>
                <a:ext cx="10515600" cy="5080000"/>
              </a:xfrm>
              <a:blipFill>
                <a:blip r:embed="rId2"/>
                <a:stretch>
                  <a:fillRect l="-928" t="-1921" r="-1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33432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3EF84-4211-D26D-A671-BC0D41C46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241"/>
            <a:ext cx="10515600" cy="1046479"/>
          </a:xfrm>
        </p:spPr>
        <p:txBody>
          <a:bodyPr/>
          <a:lstStyle/>
          <a:p>
            <a:pPr algn="ctr"/>
            <a:r>
              <a:rPr lang="en-US" b="1" dirty="0"/>
              <a:t>Model Design and Assumption (continued)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CE7DD6-C27F-3766-6430-CAF0AAFEA1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0320"/>
                <a:ext cx="10515600" cy="5110480"/>
              </a:xfrm>
            </p:spPr>
            <p:txBody>
              <a:bodyPr>
                <a:normAutofit fontScale="62500" lnSpcReduction="20000"/>
              </a:bodyPr>
              <a:lstStyle/>
              <a:p>
                <a:pPr lvl="0"/>
                <a:r>
                  <a:rPr lang="en-US" u="sng" dirty="0"/>
                  <a:t>Bachelier Layer, Analytical</a:t>
                </a:r>
                <a:r>
                  <a:rPr lang="en-US" dirty="0"/>
                  <a:t>: Each computation is evaluated through three layers. First, the partial derivatives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𝜕</m:t>
                        </m:r>
                        <m:r>
                          <a:rPr lang="en-US" i="1"/>
                          <m:t>𝑃</m:t>
                        </m:r>
                      </m:num>
                      <m:den>
                        <m:r>
                          <a:rPr lang="en-US" i="1"/>
                          <m:t>𝜕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𝛼</m:t>
                            </m:r>
                          </m:e>
                          <m:sub>
                            <m:r>
                              <a:rPr lang="en-US" i="1"/>
                              <m:t>𝑒𝑓𝑓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𝜕</m:t>
                        </m:r>
                        <m:r>
                          <a:rPr lang="en-US" i="1"/>
                          <m:t>𝑃</m:t>
                        </m:r>
                      </m:num>
                      <m:den>
                        <m:r>
                          <a:rPr lang="en-US" i="1"/>
                          <m:t>𝜕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𝜌</m:t>
                            </m:r>
                          </m:e>
                          <m:sub>
                            <m:r>
                              <a:rPr lang="en-US" i="1"/>
                              <m:t>𝑒𝑓𝑓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𝜕</m:t>
                        </m:r>
                        <m:r>
                          <a:rPr lang="en-US" i="1"/>
                          <m:t>𝑃</m:t>
                        </m:r>
                      </m:num>
                      <m:den>
                        <m:r>
                          <a:rPr lang="en-US" i="1"/>
                          <m:t>𝜕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𝜈</m:t>
                            </m:r>
                          </m:e>
                          <m:sub>
                            <m:r>
                              <a:rPr lang="en-US" i="1"/>
                              <m:t>𝑒𝑓𝑓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are computed analytically from the Bachelier pricing by applying the chain rule through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/>
                        </m:ctrlPr>
                      </m:dPr>
                      <m:e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𝜎</m:t>
                            </m:r>
                          </m:e>
                          <m:sub>
                            <m:r>
                              <a:rPr lang="en-US" i="1"/>
                              <m:t>𝑒𝑓𝑓</m:t>
                            </m:r>
                          </m:sub>
                        </m:sSub>
                        <m:r>
                          <a:rPr lang="en-US" i="1"/>
                          <m:t>, 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𝜌</m:t>
                            </m:r>
                          </m:e>
                          <m:sub>
                            <m:r>
                              <a:rPr lang="en-US" i="1"/>
                              <m:t>𝑒𝑓𝑓</m:t>
                            </m:r>
                          </m:sub>
                        </m:sSub>
                        <m:r>
                          <a:rPr lang="en-US" i="1"/>
                          <m:t>, 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𝜈</m:t>
                            </m:r>
                          </m:e>
                          <m:sub>
                            <m:r>
                              <a:rPr lang="en-US" i="1"/>
                              <m:t>𝑒𝑓𝑓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lvl="0"/>
                <a:r>
                  <a:rPr lang="en-US" u="sng" dirty="0"/>
                  <a:t>Effective Marginal Layer, Numerical #1</a:t>
                </a:r>
                <a:r>
                  <a:rPr lang="en-US" dirty="0"/>
                  <a:t>: The sensitivities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/>
                        </m:ctrlPr>
                      </m:dPr>
                      <m:e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 i="1"/>
                              <m:t>𝜕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𝜎</m:t>
                                </m:r>
                              </m:e>
                              <m:sub>
                                <m:r>
                                  <a:rPr lang="en-US" i="1"/>
                                  <m:t>𝑒𝑓𝑓</m:t>
                                </m:r>
                              </m:sub>
                            </m:sSub>
                          </m:num>
                          <m:den>
                            <m:r>
                              <a:rPr lang="en-US" i="1"/>
                              <m:t>𝜕𝜈</m:t>
                            </m:r>
                          </m:den>
                        </m:f>
                        <m:r>
                          <a:rPr lang="en-US" i="1"/>
                          <m:t>, </m:t>
                        </m:r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 i="1"/>
                              <m:t>𝜕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𝜌</m:t>
                                </m:r>
                              </m:e>
                              <m:sub>
                                <m:r>
                                  <a:rPr lang="en-US" i="1"/>
                                  <m:t>𝑒𝑓𝑓</m:t>
                                </m:r>
                              </m:sub>
                            </m:sSub>
                          </m:num>
                          <m:den>
                            <m:r>
                              <a:rPr lang="en-US" i="1"/>
                              <m:t>𝜕𝜈</m:t>
                            </m:r>
                          </m:den>
                        </m:f>
                        <m:r>
                          <a:rPr lang="en-US" i="1"/>
                          <m:t>, </m:t>
                        </m:r>
                        <m:f>
                          <m:fPr>
                            <m:ctrlPr>
                              <a:rPr lang="en-US" i="1"/>
                            </m:ctrlPr>
                          </m:fPr>
                          <m:num>
                            <m:r>
                              <a:rPr lang="en-US" i="1"/>
                              <m:t>𝜕</m:t>
                            </m:r>
                            <m:sSub>
                              <m:sSubPr>
                                <m:ctrlPr>
                                  <a:rPr lang="en-US" i="1"/>
                                </m:ctrlPr>
                              </m:sSubPr>
                              <m:e>
                                <m:r>
                                  <a:rPr lang="en-US" i="1"/>
                                  <m:t>𝜈</m:t>
                                </m:r>
                              </m:e>
                              <m:sub>
                                <m:r>
                                  <a:rPr lang="en-US" i="1"/>
                                  <m:t>𝑒𝑓𝑓</m:t>
                                </m:r>
                              </m:sub>
                            </m:sSub>
                          </m:num>
                          <m:den>
                            <m:r>
                              <a:rPr lang="en-US" i="1"/>
                              <m:t>𝜕𝜈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are obtained via a numerical differentiation approach.</a:t>
                </a:r>
              </a:p>
              <a:p>
                <a:pPr lvl="0"/>
                <a:r>
                  <a:rPr lang="en-US" u="sng" dirty="0"/>
                  <a:t>Effective Marginal Layer, Numerical #2</a:t>
                </a:r>
                <a:r>
                  <a:rPr lang="en-US" dirty="0"/>
                  <a:t>: Because the aggregation of the marginal SABR parameters to effective SABR is a complex non-linear transformation, analytical differentiation is not tractable.</a:t>
                </a:r>
              </a:p>
              <a:p>
                <a:pPr lvl="0"/>
                <a:r>
                  <a:rPr lang="en-US" u="sng" dirty="0"/>
                  <a:t>Effective Marginal Layer, Numerical #3</a:t>
                </a:r>
                <a:r>
                  <a:rPr lang="en-US" dirty="0"/>
                  <a:t>: Instead, a numerical differentiation method is used. The numerical differentiation is as follows. Each time the underlying will be bumped up and down by 1 bp and the corresponding sensitivity will be calculated as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𝑆𝑒𝑛𝑠𝑖𝑡𝑖𝑣𝑖𝑡𝑦</m:t>
                      </m:r>
                      <m:r>
                        <a:rPr lang="en-US" i="1"/>
                        <m:t>=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𝑉</m:t>
                              </m:r>
                            </m:e>
                            <m:sub>
                              <m:r>
                                <a:rPr lang="en-US" i="1"/>
                                <m:t>𝑈𝑃</m:t>
                              </m:r>
                            </m:sub>
                          </m:sSub>
                          <m:r>
                            <a:rPr lang="en-US" i="1"/>
                            <m:t>−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𝑉</m:t>
                              </m:r>
                            </m:e>
                            <m:sub>
                              <m:r>
                                <a:rPr lang="en-US" i="1"/>
                                <m:t>𝐷𝑂𝑊𝑁</m:t>
                              </m:r>
                            </m:sub>
                          </m:sSub>
                        </m:num>
                        <m:den>
                          <m:r>
                            <a:rPr lang="en-US" i="1"/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0"/>
                <a:r>
                  <a:rPr lang="en-US" u="sng" dirty="0"/>
                  <a:t>Marginal-grid Layer, Analytical #1</a:t>
                </a:r>
                <a:r>
                  <a:rPr lang="en-US" dirty="0"/>
                  <a:t>: The marginal parameters </a:t>
                </a:r>
                <a14:m>
                  <m:oMath xmlns:m="http://schemas.openxmlformats.org/officeDocument/2006/math">
                    <m:r>
                      <a:rPr lang="en-US" i="1"/>
                      <m:t>𝜈</m:t>
                    </m:r>
                  </m:oMath>
                </a14:m>
                <a:r>
                  <a:rPr lang="en-US" dirty="0"/>
                  <a:t> themselves are derived from a 2D interpolation surface defined over the term-tenor grid.</a:t>
                </a:r>
              </a:p>
              <a:p>
                <a:pPr lvl="0"/>
                <a:r>
                  <a:rPr lang="en-US" u="sng" dirty="0"/>
                  <a:t>Marginal-grid Layer, Analytical #2</a:t>
                </a:r>
                <a:r>
                  <a:rPr lang="en-US" dirty="0"/>
                  <a:t>: The sensitivities of each marginal </a:t>
                </a:r>
                <a14:m>
                  <m:oMath xmlns:m="http://schemas.openxmlformats.org/officeDocument/2006/math">
                    <m:r>
                      <a:rPr lang="en-US" i="1"/>
                      <m:t>𝜈</m:t>
                    </m:r>
                  </m:oMath>
                </a14:m>
                <a:r>
                  <a:rPr lang="en-US" dirty="0"/>
                  <a:t> to its grid-point values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i="1"/>
                          <m:t>𝜕𝜈</m:t>
                        </m:r>
                      </m:num>
                      <m:den>
                        <m:r>
                          <a:rPr lang="en-US" i="1"/>
                          <m:t>𝜕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𝜈</m:t>
                            </m:r>
                          </m:e>
                          <m:sub>
                            <m:r>
                              <a:rPr lang="en-US" i="1"/>
                              <m:t>𝑖𝑗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are composed analytically according to the linear interpolation method.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CE7DD6-C27F-3766-6430-CAF0AAFEA1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0320"/>
                <a:ext cx="10515600" cy="5110480"/>
              </a:xfrm>
              <a:blipFill>
                <a:blip r:embed="rId2"/>
                <a:stretch>
                  <a:fillRect l="-406" t="-2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80876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1CB13-EE33-B8A1-0047-2F17736A7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7115"/>
          </a:xfrm>
        </p:spPr>
        <p:txBody>
          <a:bodyPr/>
          <a:lstStyle/>
          <a:p>
            <a:pPr algn="ctr"/>
            <a:r>
              <a:rPr lang="en-US" b="1" dirty="0"/>
              <a:t>Model Design and Assumption (continued)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49588A-CB86-FCCC-F89E-1BF9A1B8EE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20800"/>
                <a:ext cx="10515600" cy="5059680"/>
              </a:xfrm>
            </p:spPr>
            <p:txBody>
              <a:bodyPr>
                <a:normAutofit fontScale="70000" lnSpcReduction="20000"/>
              </a:bodyPr>
              <a:lstStyle/>
              <a:p>
                <a:pPr lvl="0"/>
                <a:r>
                  <a:rPr lang="en-US" u="sng" dirty="0"/>
                  <a:t>IR Delta Sensitivities</a:t>
                </a:r>
                <a:r>
                  <a:rPr lang="en-US" dirty="0"/>
                  <a:t>: The delta wrt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𝑗</m:t>
                        </m:r>
                      </m:e>
                      <m:sup>
                        <m:r>
                          <a:rPr lang="en-US" i="1"/>
                          <m:t>𝑡h</m:t>
                        </m:r>
                      </m:sup>
                    </m:sSup>
                  </m:oMath>
                </a14:m>
                <a:r>
                  <a:rPr lang="en-US" dirty="0"/>
                  <a:t> IR instrument is more involved than any other model-parameter sensitivities.</a:t>
                </a:r>
              </a:p>
              <a:p>
                <a:pPr lvl="0"/>
                <a:r>
                  <a:rPr lang="en-US" u="sng" dirty="0"/>
                  <a:t>Complexities with Bachelier IR Delta</a:t>
                </a:r>
                <a:r>
                  <a:rPr lang="en-US" dirty="0"/>
                  <a:t>: This is because the Bachelier pricing formula depends not only on the effective SABR volatility but also explicitly on 2 IR-dependent quantities: the relevant forward swap rate and the annuity.</a:t>
                </a:r>
              </a:p>
              <a:p>
                <a:pPr lvl="0"/>
                <a:r>
                  <a:rPr lang="en-US" u="sng" dirty="0"/>
                  <a:t>Implied Volatility Calculation</a:t>
                </a:r>
                <a:r>
                  <a:rPr lang="en-US" dirty="0"/>
                  <a:t>: This also depends on the Swap Rate.</a:t>
                </a:r>
              </a:p>
              <a:p>
                <a:pPr lvl="0"/>
                <a:r>
                  <a:rPr lang="en-US" u="sng" dirty="0"/>
                  <a:t>Forward Swap Rate and Annuity</a:t>
                </a:r>
                <a:r>
                  <a:rPr lang="en-US" dirty="0"/>
                  <a:t>: Both the forward swap rate and the annuity rate and the annuity are also functions of the underlying discount curve and therefore inherit direct sensitivity to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i="1"/>
                          <m:t>𝑗</m:t>
                        </m:r>
                      </m:e>
                      <m:sup>
                        <m:r>
                          <a:rPr lang="en-US" i="1"/>
                          <m:t>𝑡h</m:t>
                        </m:r>
                      </m:sup>
                    </m:sSup>
                  </m:oMath>
                </a14:m>
                <a:r>
                  <a:rPr lang="en-US" dirty="0"/>
                  <a:t> IR instrument.</a:t>
                </a:r>
              </a:p>
              <a:p>
                <a:pPr lvl="0"/>
                <a:r>
                  <a:rPr lang="en-US" u="sng" dirty="0"/>
                  <a:t>Explicit Tenor ID Delta Expression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r>
                            <a:rPr lang="en-US" i="1"/>
                            <m:t>𝜕</m:t>
                          </m:r>
                          <m:r>
                            <a:rPr lang="en-US" i="1"/>
                            <m:t>𝑃</m:t>
                          </m:r>
                        </m:num>
                        <m:den>
                          <m:r>
                            <a:rPr lang="en-US" i="1"/>
                            <m:t>𝜕</m:t>
                          </m:r>
                          <m:r>
                            <a:rPr lang="en-US" i="1"/>
                            <m:t>𝐼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𝑅</m:t>
                              </m:r>
                            </m:e>
                            <m:sub>
                              <m:r>
                                <a:rPr lang="en-US" i="1"/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i="1"/>
                        <m:t>=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r>
                            <a:rPr lang="en-US" i="1"/>
                            <m:t>𝜕</m:t>
                          </m:r>
                          <m:r>
                            <a:rPr lang="en-US" i="1"/>
                            <m:t>𝑃</m:t>
                          </m:r>
                        </m:num>
                        <m:den>
                          <m:r>
                            <a:rPr lang="en-US" i="1"/>
                            <m:t>𝜕</m:t>
                          </m:r>
                          <m:r>
                            <a:rPr lang="en-US" i="1"/>
                            <m:t>𝐹</m:t>
                          </m:r>
                        </m:den>
                      </m:f>
                      <m:r>
                        <a:rPr lang="en-US" i="1"/>
                        <m:t>∙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r>
                            <a:rPr lang="en-US" i="1"/>
                            <m:t>𝜕</m:t>
                          </m:r>
                          <m:r>
                            <a:rPr lang="en-US" i="1"/>
                            <m:t>𝐹</m:t>
                          </m:r>
                        </m:num>
                        <m:den>
                          <m:r>
                            <a:rPr lang="en-US" i="1"/>
                            <m:t>𝜕</m:t>
                          </m:r>
                          <m:r>
                            <a:rPr lang="en-US" i="1"/>
                            <m:t>𝐼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𝑅</m:t>
                              </m:r>
                            </m:e>
                            <m:sub>
                              <m:r>
                                <a:rPr lang="en-US" i="1"/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i="1"/>
                        <m:t>+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r>
                            <a:rPr lang="en-US" i="1"/>
                            <m:t>𝜕</m:t>
                          </m:r>
                          <m:r>
                            <a:rPr lang="en-US" i="1"/>
                            <m:t>𝑃</m:t>
                          </m:r>
                        </m:num>
                        <m:den>
                          <m:r>
                            <a:rPr lang="en-US" i="1"/>
                            <m:t>𝜕</m:t>
                          </m:r>
                          <m:r>
                            <a:rPr lang="en-US" i="1"/>
                            <m:t>𝐴</m:t>
                          </m:r>
                        </m:den>
                      </m:f>
                      <m:r>
                        <a:rPr lang="en-US" i="1"/>
                        <m:t>∙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r>
                            <a:rPr lang="en-US" i="1"/>
                            <m:t>𝜕</m:t>
                          </m:r>
                          <m:r>
                            <a:rPr lang="en-US" i="1"/>
                            <m:t>𝐴</m:t>
                          </m:r>
                        </m:num>
                        <m:den>
                          <m:r>
                            <a:rPr lang="en-US" i="1"/>
                            <m:t>𝜕</m:t>
                          </m:r>
                          <m:r>
                            <a:rPr lang="en-US" i="1"/>
                            <m:t>𝐼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𝑅</m:t>
                              </m:r>
                            </m:e>
                            <m:sub>
                              <m:r>
                                <a:rPr lang="en-US" i="1"/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i="1"/>
                        <m:t>+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r>
                            <a:rPr lang="en-US" i="1"/>
                            <m:t>𝜕</m:t>
                          </m:r>
                          <m:r>
                            <a:rPr lang="en-US" i="1"/>
                            <m:t>𝑃</m:t>
                          </m:r>
                        </m:num>
                        <m:den>
                          <m:r>
                            <a:rPr lang="en-US" i="1"/>
                            <m:t>𝜕</m:t>
                          </m:r>
                          <m:r>
                            <a:rPr lang="en-US" i="1"/>
                            <m:t>𝑣𝑜𝑙</m:t>
                          </m:r>
                        </m:den>
                      </m:f>
                      <m:r>
                        <a:rPr lang="en-US" i="1"/>
                        <m:t>∙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f>
                            <m:fPr>
                              <m:ctrlPr>
                                <a:rPr lang="en-US" i="1"/>
                              </m:ctrlPr>
                            </m:fPr>
                            <m:num>
                              <m:r>
                                <a:rPr lang="en-US" i="1"/>
                                <m:t>𝜕</m:t>
                              </m:r>
                              <m:r>
                                <a:rPr lang="en-US" i="1"/>
                                <m:t>𝑣𝑜𝑙</m:t>
                              </m:r>
                            </m:num>
                            <m:den>
                              <m:r>
                                <a:rPr lang="en-US" i="1"/>
                                <m:t>𝜕</m:t>
                              </m:r>
                              <m:r>
                                <a:rPr lang="en-US" i="1"/>
                                <m:t>𝑓</m:t>
                              </m:r>
                            </m:den>
                          </m:f>
                          <m:r>
                            <a:rPr lang="en-US" i="1"/>
                            <m:t>∙</m:t>
                          </m:r>
                          <m:f>
                            <m:fPr>
                              <m:ctrlPr>
                                <a:rPr lang="en-US" i="1"/>
                              </m:ctrlPr>
                            </m:fPr>
                            <m:num>
                              <m:r>
                                <a:rPr lang="en-US" i="1"/>
                                <m:t>𝜕</m:t>
                              </m:r>
                              <m:r>
                                <a:rPr lang="en-US" i="1"/>
                                <m:t>𝑓</m:t>
                              </m:r>
                            </m:num>
                            <m:den>
                              <m:r>
                                <a:rPr lang="en-US" i="1"/>
                                <m:t>𝜕</m:t>
                              </m:r>
                              <m:r>
                                <a:rPr lang="en-US" i="1"/>
                                <m:t>𝐼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𝑅</m:t>
                                  </m:r>
                                </m:e>
                                <m:sub>
                                  <m:r>
                                    <a:rPr lang="en-US" i="1"/>
                                    <m:t>𝑗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/>
                            <m:t>+</m:t>
                          </m:r>
                          <m:f>
                            <m:fPr>
                              <m:ctrlPr>
                                <a:rPr lang="en-US" i="1"/>
                              </m:ctrlPr>
                            </m:fPr>
                            <m:num>
                              <m:r>
                                <a:rPr lang="en-US" i="1"/>
                                <m:t>𝜕</m:t>
                              </m:r>
                              <m:r>
                                <a:rPr lang="en-US" i="1"/>
                                <m:t>𝑣𝑜𝑙</m:t>
                              </m:r>
                            </m:num>
                            <m:den>
                              <m:r>
                                <a:rPr lang="en-US" i="1"/>
                                <m:t>𝜕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𝛼</m:t>
                                  </m:r>
                                </m:e>
                                <m:sub>
                                  <m:r>
                                    <a:rPr lang="en-US" i="1"/>
                                    <m:t>𝑒𝑓𝑓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/>
                            <m:t>∙</m:t>
                          </m:r>
                          <m:f>
                            <m:fPr>
                              <m:ctrlPr>
                                <a:rPr lang="en-US" i="1"/>
                              </m:ctrlPr>
                            </m:fPr>
                            <m:num>
                              <m:r>
                                <a:rPr lang="en-US" i="1"/>
                                <m:t>𝜕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𝛼</m:t>
                                  </m:r>
                                </m:e>
                                <m:sub>
                                  <m:r>
                                    <a:rPr lang="en-US" i="1"/>
                                    <m:t>𝑒𝑓𝑓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/>
                                <m:t>𝜕</m:t>
                              </m:r>
                              <m:r>
                                <a:rPr lang="en-US" i="1"/>
                                <m:t>𝐼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𝑅</m:t>
                                  </m:r>
                                </m:e>
                                <m:sub>
                                  <m:r>
                                    <a:rPr lang="en-US" i="1"/>
                                    <m:t>𝑗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/>
                            <m:t>+</m:t>
                          </m:r>
                          <m:f>
                            <m:fPr>
                              <m:ctrlPr>
                                <a:rPr lang="en-US" i="1"/>
                              </m:ctrlPr>
                            </m:fPr>
                            <m:num>
                              <m:r>
                                <a:rPr lang="en-US" i="1"/>
                                <m:t>𝜕</m:t>
                              </m:r>
                              <m:r>
                                <a:rPr lang="en-US" i="1"/>
                                <m:t>𝑣𝑜𝑙</m:t>
                              </m:r>
                            </m:num>
                            <m:den>
                              <m:r>
                                <a:rPr lang="en-US" i="1"/>
                                <m:t>𝜕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𝜌</m:t>
                                  </m:r>
                                </m:e>
                                <m:sub>
                                  <m:r>
                                    <a:rPr lang="en-US" i="1"/>
                                    <m:t>𝑒𝑓𝑓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/>
                            <m:t>∙</m:t>
                          </m:r>
                          <m:f>
                            <m:fPr>
                              <m:ctrlPr>
                                <a:rPr lang="en-US" i="1"/>
                              </m:ctrlPr>
                            </m:fPr>
                            <m:num>
                              <m:r>
                                <a:rPr lang="en-US" i="1"/>
                                <m:t>𝜕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𝜌</m:t>
                                  </m:r>
                                </m:e>
                                <m:sub>
                                  <m:r>
                                    <a:rPr lang="en-US" i="1"/>
                                    <m:t>𝑒𝑓𝑓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/>
                                <m:t>𝜕</m:t>
                              </m:r>
                              <m:r>
                                <a:rPr lang="en-US" i="1"/>
                                <m:t>𝐼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𝑅</m:t>
                                  </m:r>
                                </m:e>
                                <m:sub>
                                  <m:r>
                                    <a:rPr lang="en-US" i="1"/>
                                    <m:t>𝑗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/>
                            <m:t>+</m:t>
                          </m:r>
                          <m:f>
                            <m:fPr>
                              <m:ctrlPr>
                                <a:rPr lang="en-US" i="1"/>
                              </m:ctrlPr>
                            </m:fPr>
                            <m:num>
                              <m:r>
                                <a:rPr lang="en-US" i="1"/>
                                <m:t>𝜕</m:t>
                              </m:r>
                              <m:r>
                                <a:rPr lang="en-US" i="1"/>
                                <m:t>𝑣𝑜𝑙</m:t>
                              </m:r>
                            </m:num>
                            <m:den>
                              <m:r>
                                <a:rPr lang="en-US" i="1"/>
                                <m:t>𝜕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𝜈</m:t>
                                  </m:r>
                                </m:e>
                                <m:sub>
                                  <m:r>
                                    <a:rPr lang="en-US" i="1"/>
                                    <m:t>𝑒𝑓𝑓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/>
                            <m:t>∙</m:t>
                          </m:r>
                          <m:f>
                            <m:fPr>
                              <m:ctrlPr>
                                <a:rPr lang="en-US" i="1"/>
                              </m:ctrlPr>
                            </m:fPr>
                            <m:num>
                              <m:r>
                                <a:rPr lang="en-US" i="1"/>
                                <m:t>𝜕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𝜈</m:t>
                                  </m:r>
                                </m:e>
                                <m:sub>
                                  <m:r>
                                    <a:rPr lang="en-US" i="1"/>
                                    <m:t>𝑒𝑓𝑓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/>
                                <m:t>𝜕</m:t>
                              </m:r>
                              <m:r>
                                <a:rPr lang="en-US" i="1"/>
                                <m:t>𝐼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𝑅</m:t>
                                  </m:r>
                                </m:e>
                                <m:sub>
                                  <m:r>
                                    <a:rPr lang="en-US" i="1"/>
                                    <m:t>𝑗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49588A-CB86-FCCC-F89E-1BF9A1B8EE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20800"/>
                <a:ext cx="10515600" cy="5059680"/>
              </a:xfrm>
              <a:blipFill>
                <a:blip r:embed="rId2"/>
                <a:stretch>
                  <a:fillRect l="-522" t="-2169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3949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1882</Words>
  <Application>Microsoft Office PowerPoint</Application>
  <PresentationFormat>Widescreen</PresentationFormat>
  <Paragraphs>206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Courier New</vt:lpstr>
      <vt:lpstr>Wingdings</vt:lpstr>
      <vt:lpstr>Office Theme</vt:lpstr>
      <vt:lpstr>Mid-Curve Swaptions</vt:lpstr>
      <vt:lpstr>Product Definition</vt:lpstr>
      <vt:lpstr>Model Inputs</vt:lpstr>
      <vt:lpstr>Model Design and Assumption</vt:lpstr>
      <vt:lpstr>Model Design and Assumption (continued)</vt:lpstr>
      <vt:lpstr>Model Design and Assumption (continued)</vt:lpstr>
      <vt:lpstr>Model Design and Assumption (continued)</vt:lpstr>
      <vt:lpstr>Model Design and Assumption (continued)</vt:lpstr>
      <vt:lpstr>Model Design and Assumption (continued)</vt:lpstr>
      <vt:lpstr>Model Design and Assumption (continued)</vt:lpstr>
      <vt:lpstr>Model Design and Assumption (continued)</vt:lpstr>
      <vt:lpstr>Model Design and Assumption (continued)</vt:lpstr>
      <vt:lpstr>Model Design and Assumption (continued)</vt:lpstr>
      <vt:lpstr>Model Design and Assumption (continued)</vt:lpstr>
      <vt:lpstr>Model Design and Assumption (continued)</vt:lpstr>
      <vt:lpstr>Model Design and Assumption (continued)</vt:lpstr>
      <vt:lpstr>Model Design and Assumption (continued)</vt:lpstr>
      <vt:lpstr>Model Design and Assumption (continued)</vt:lpstr>
      <vt:lpstr>Model Design and Assumption (continued)</vt:lpstr>
      <vt:lpstr>Model Design and Assumption (continued)</vt:lpstr>
      <vt:lpstr>Model Design and Assumption (continued)</vt:lpstr>
      <vt:lpstr>Model Design and Assumption (continued)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Lakshmi Krishnamurthy</dc:creator>
  <cp:lastModifiedBy>Lakshmi Krishnamurthy</cp:lastModifiedBy>
  <cp:revision>5</cp:revision>
  <dcterms:created xsi:type="dcterms:W3CDTF">2026-03-30T19:29:38Z</dcterms:created>
  <dcterms:modified xsi:type="dcterms:W3CDTF">2026-03-30T21:12:49Z</dcterms:modified>
</cp:coreProperties>
</file>