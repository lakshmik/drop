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57"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1"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284" r:id="rId51"/>
    <p:sldId id="282" r:id="rId52"/>
    <p:sldId id="283" r:id="rId53"/>
    <p:sldId id="308" r:id="rId54"/>
    <p:sldId id="341" r:id="rId55"/>
    <p:sldId id="342" r:id="rId56"/>
    <p:sldId id="343" r:id="rId57"/>
    <p:sldId id="344" r:id="rId58"/>
    <p:sldId id="345" r:id="rId59"/>
    <p:sldId id="346" r:id="rId60"/>
    <p:sldId id="347" r:id="rId61"/>
    <p:sldId id="348" r:id="rId62"/>
    <p:sldId id="349" r:id="rId63"/>
    <p:sldId id="350" r:id="rId64"/>
    <p:sldId id="351" r:id="rId65"/>
    <p:sldId id="352" r:id="rId66"/>
    <p:sldId id="353" r:id="rId67"/>
    <p:sldId id="354" r:id="rId68"/>
    <p:sldId id="355" r:id="rId69"/>
    <p:sldId id="356" r:id="rId70"/>
    <p:sldId id="357" r:id="rId71"/>
    <p:sldId id="358" r:id="rId72"/>
    <p:sldId id="359" r:id="rId73"/>
    <p:sldId id="360" r:id="rId74"/>
    <p:sldId id="361" r:id="rId75"/>
    <p:sldId id="362" r:id="rId76"/>
    <p:sldId id="363" r:id="rId77"/>
    <p:sldId id="364" r:id="rId78"/>
    <p:sldId id="340" r:id="rId79"/>
    <p:sldId id="309" r:id="rId80"/>
    <p:sldId id="310" r:id="rId81"/>
    <p:sldId id="311" r:id="rId82"/>
    <p:sldId id="312" r:id="rId83"/>
    <p:sldId id="313" r:id="rId84"/>
    <p:sldId id="314" r:id="rId85"/>
    <p:sldId id="315" r:id="rId86"/>
    <p:sldId id="316" r:id="rId87"/>
    <p:sldId id="317" r:id="rId88"/>
    <p:sldId id="318" r:id="rId89"/>
    <p:sldId id="319" r:id="rId90"/>
    <p:sldId id="320" r:id="rId91"/>
    <p:sldId id="321" r:id="rId92"/>
    <p:sldId id="322" r:id="rId93"/>
    <p:sldId id="323" r:id="rId94"/>
    <p:sldId id="324" r:id="rId95"/>
    <p:sldId id="325" r:id="rId96"/>
    <p:sldId id="326" r:id="rId97"/>
    <p:sldId id="327" r:id="rId98"/>
    <p:sldId id="328" r:id="rId99"/>
    <p:sldId id="329" r:id="rId100"/>
    <p:sldId id="330" r:id="rId101"/>
    <p:sldId id="331" r:id="rId102"/>
    <p:sldId id="332" r:id="rId103"/>
    <p:sldId id="333" r:id="rId104"/>
    <p:sldId id="334" r:id="rId105"/>
    <p:sldId id="335" r:id="rId106"/>
    <p:sldId id="336" r:id="rId107"/>
    <p:sldId id="337" r:id="rId108"/>
    <p:sldId id="338" r:id="rId109"/>
    <p:sldId id="339"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3554-282F-7820-CC09-073CCE698D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B8CAC8-D3AC-8A2D-A893-55F6CB4BBE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EDAAA4-0E2C-AFE1-A975-4D06D9FD5D6D}"/>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5" name="Footer Placeholder 4">
            <a:extLst>
              <a:ext uri="{FF2B5EF4-FFF2-40B4-BE49-F238E27FC236}">
                <a16:creationId xmlns:a16="http://schemas.microsoft.com/office/drawing/2014/main" id="{3FBAB7DB-EC7B-6D8F-0199-78E720162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7E46A5-0527-A62C-A50E-5F6251468C90}"/>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200592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4B5F9-A0DD-5B45-FAD8-ADC89D8525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319FB9-D663-2DB3-5C8F-D1478AF96F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372476-28C0-64C2-E6D1-48B1A61C49F3}"/>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5" name="Footer Placeholder 4">
            <a:extLst>
              <a:ext uri="{FF2B5EF4-FFF2-40B4-BE49-F238E27FC236}">
                <a16:creationId xmlns:a16="http://schemas.microsoft.com/office/drawing/2014/main" id="{289E5E8C-6032-1180-4DA9-97ABF2230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5D068-1AA4-5847-8BA2-D3E6290026EF}"/>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1721315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EDD1C-DA4B-4410-9194-71D017FB16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2D12ED-026D-D085-8DF9-5E1A48E28D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BE4675-D51A-F980-8085-3264E87A9EB7}"/>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5" name="Footer Placeholder 4">
            <a:extLst>
              <a:ext uri="{FF2B5EF4-FFF2-40B4-BE49-F238E27FC236}">
                <a16:creationId xmlns:a16="http://schemas.microsoft.com/office/drawing/2014/main" id="{89C439F9-D951-4D1D-5EEF-528D4A5C66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9F9616-1D84-3423-34B9-17F6811C9924}"/>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1860829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B9FA7-7F2B-F8CB-17D0-39C0B53EE6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F4AA73-7AAE-DE71-C30D-5D1B1D7B3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D91ECC-04A3-2207-8660-0E4D69CBFD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BE33E7-3CAB-8AD1-3512-758DDB15F185}"/>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6" name="Footer Placeholder 5">
            <a:extLst>
              <a:ext uri="{FF2B5EF4-FFF2-40B4-BE49-F238E27FC236}">
                <a16:creationId xmlns:a16="http://schemas.microsoft.com/office/drawing/2014/main" id="{44C52492-3188-2CC1-3371-DB75AD7ABC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1F0E5-74A9-8FF6-BC30-749F33B1B8AA}"/>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404075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83B6A-A440-4348-6183-D6DBA28C3C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AAC1EA-1A6A-BA4B-EB8B-5365CBA3EA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B661DB-D777-78C1-B5CC-AD094A9139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6948EC-7B9B-DBE9-C02E-5F2D83569C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624AB9-B420-4DB3-91AD-D468CC8096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E35589-5406-3289-C393-AC30E613D1D1}"/>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8" name="Footer Placeholder 7">
            <a:extLst>
              <a:ext uri="{FF2B5EF4-FFF2-40B4-BE49-F238E27FC236}">
                <a16:creationId xmlns:a16="http://schemas.microsoft.com/office/drawing/2014/main" id="{B1B91495-0188-B5FD-8524-D491D0315C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5B6D08-3B0D-8356-7CA6-FAC1694D74C7}"/>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3902807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C97A-B261-10A4-CED2-56B566AE05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D5BF48-7C6E-EDF4-EECB-91AFC28E63FF}"/>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4" name="Footer Placeholder 3">
            <a:extLst>
              <a:ext uri="{FF2B5EF4-FFF2-40B4-BE49-F238E27FC236}">
                <a16:creationId xmlns:a16="http://schemas.microsoft.com/office/drawing/2014/main" id="{D206804C-C2C1-B403-17F4-D3EB44815E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0F11D7-A913-7708-93F8-EB7E78D1EEF3}"/>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3778207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6502D2-1B3C-1F94-9A82-602DD1539183}"/>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3" name="Footer Placeholder 2">
            <a:extLst>
              <a:ext uri="{FF2B5EF4-FFF2-40B4-BE49-F238E27FC236}">
                <a16:creationId xmlns:a16="http://schemas.microsoft.com/office/drawing/2014/main" id="{9F4A1E1D-C274-594A-82BC-68E1C272C8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8B46D4-9F12-1CFF-45BA-FEC78CC6368C}"/>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3351367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45F4E-B946-447A-C2FD-641A830CE9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DB8CCE-CABB-06E8-2E43-7FB880953B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481B0D-E6D7-FDB2-4BF7-48BCA2B61A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9A01AF-E792-C309-35E2-914D7D65615A}"/>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6" name="Footer Placeholder 5">
            <a:extLst>
              <a:ext uri="{FF2B5EF4-FFF2-40B4-BE49-F238E27FC236}">
                <a16:creationId xmlns:a16="http://schemas.microsoft.com/office/drawing/2014/main" id="{93A61776-200D-9A90-380A-A310BC0916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485EC-22CD-3F8B-3624-8D1906683971}"/>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156035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201C-7E4B-4801-E382-F20F317272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DB4338-2881-917B-5331-8B81B0376D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4FCEBF-6998-1F17-18A7-9D06B25E72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11068B-919E-1D98-3291-A60B222FE843}"/>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6" name="Footer Placeholder 5">
            <a:extLst>
              <a:ext uri="{FF2B5EF4-FFF2-40B4-BE49-F238E27FC236}">
                <a16:creationId xmlns:a16="http://schemas.microsoft.com/office/drawing/2014/main" id="{8AF2DC5C-3997-A2A7-953A-8AFC32403D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7FA181-A6FB-72E6-BF9B-E15C2AD3C5C4}"/>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722424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31D99-7B2D-49D5-55EC-FC78D218DC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9795FE-A904-8FE0-42D3-D3F214C253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4EE739-E1D5-E4BE-9F16-99A81E722F79}"/>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5" name="Footer Placeholder 4">
            <a:extLst>
              <a:ext uri="{FF2B5EF4-FFF2-40B4-BE49-F238E27FC236}">
                <a16:creationId xmlns:a16="http://schemas.microsoft.com/office/drawing/2014/main" id="{2FE602E6-1ADC-E839-56AA-A9B07A30B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C44800-84C5-F1A7-F5E1-EBBBF31E5FAC}"/>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3507156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42DC96-6A6C-812F-E186-EB7DD6BC33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F6E8D0-8214-D106-02BB-B0E2F36538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B1E1E4-06DA-BE73-C3CF-7E0E150550F0}"/>
              </a:ext>
            </a:extLst>
          </p:cNvPr>
          <p:cNvSpPr>
            <a:spLocks noGrp="1"/>
          </p:cNvSpPr>
          <p:nvPr>
            <p:ph type="dt" sz="half" idx="10"/>
          </p:nvPr>
        </p:nvSpPr>
        <p:spPr/>
        <p:txBody>
          <a:bodyPr/>
          <a:lstStyle/>
          <a:p>
            <a:fld id="{E2B580D5-BB97-4D84-BDB3-804661AD0EF5}" type="datetimeFigureOut">
              <a:rPr lang="en-US" smtClean="0"/>
              <a:t>9/9/2026</a:t>
            </a:fld>
            <a:endParaRPr lang="en-US"/>
          </a:p>
        </p:txBody>
      </p:sp>
      <p:sp>
        <p:nvSpPr>
          <p:cNvPr id="5" name="Footer Placeholder 4">
            <a:extLst>
              <a:ext uri="{FF2B5EF4-FFF2-40B4-BE49-F238E27FC236}">
                <a16:creationId xmlns:a16="http://schemas.microsoft.com/office/drawing/2014/main" id="{6CD11ED5-476F-F7AF-85D4-C704F26DD5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59D1D-1CF7-7F9E-533D-E98DCF5797F5}"/>
              </a:ext>
            </a:extLst>
          </p:cNvPr>
          <p:cNvSpPr>
            <a:spLocks noGrp="1"/>
          </p:cNvSpPr>
          <p:nvPr>
            <p:ph type="sldNum" sz="quarter" idx="12"/>
          </p:nvPr>
        </p:nvSpPr>
        <p:spPr/>
        <p:txBody>
          <a:bodyPr/>
          <a:lstStyle/>
          <a:p>
            <a:fld id="{44AB70DC-689E-4556-9B64-29D8DB35DAC9}" type="slidenum">
              <a:rPr lang="en-US" smtClean="0"/>
              <a:t>‹#›</a:t>
            </a:fld>
            <a:endParaRPr lang="en-US"/>
          </a:p>
        </p:txBody>
      </p:sp>
    </p:spTree>
    <p:extLst>
      <p:ext uri="{BB962C8B-B14F-4D97-AF65-F5344CB8AC3E}">
        <p14:creationId xmlns:p14="http://schemas.microsoft.com/office/powerpoint/2010/main" val="84678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C56622-F792-1F16-E93B-86A3B3720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0ED6D5-47EB-D263-32E7-0162F7F6A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10F7DF-90AD-73A5-EEEC-CD29BF7F7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580D5-BB97-4D84-BDB3-804661AD0EF5}" type="datetimeFigureOut">
              <a:rPr lang="en-US" smtClean="0"/>
              <a:t>9/9/2026</a:t>
            </a:fld>
            <a:endParaRPr lang="en-US"/>
          </a:p>
        </p:txBody>
      </p:sp>
      <p:sp>
        <p:nvSpPr>
          <p:cNvPr id="5" name="Footer Placeholder 4">
            <a:extLst>
              <a:ext uri="{FF2B5EF4-FFF2-40B4-BE49-F238E27FC236}">
                <a16:creationId xmlns:a16="http://schemas.microsoft.com/office/drawing/2014/main" id="{73997A22-1C2B-5D39-6D4E-469E9530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3E8AFFD-7173-1A5B-35A7-8703D6021A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AB70DC-689E-4556-9B64-29D8DB35DAC9}" type="slidenum">
              <a:rPr lang="en-US" smtClean="0"/>
              <a:t>‹#›</a:t>
            </a:fld>
            <a:endParaRPr lang="en-US"/>
          </a:p>
        </p:txBody>
      </p:sp>
    </p:spTree>
    <p:extLst>
      <p:ext uri="{BB962C8B-B14F-4D97-AF65-F5344CB8AC3E}">
        <p14:creationId xmlns:p14="http://schemas.microsoft.com/office/powerpoint/2010/main" val="37534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9050-7555-AD39-7B54-8CE0DD67C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513E2-14A1-FA5D-D746-A00F5B66EB9F}"/>
              </a:ext>
            </a:extLst>
          </p:cNvPr>
          <p:cNvSpPr>
            <a:spLocks noGrp="1"/>
          </p:cNvSpPr>
          <p:nvPr>
            <p:ph type="ctrTitle"/>
          </p:nvPr>
        </p:nvSpPr>
        <p:spPr/>
        <p:txBody>
          <a:bodyPr/>
          <a:lstStyle/>
          <a:p>
            <a:r>
              <a:rPr lang="en-US" b="1" dirty="0"/>
              <a:t>Municipal Curve Construction and Callable Bond Pricer</a:t>
            </a:r>
          </a:p>
        </p:txBody>
      </p:sp>
      <p:sp>
        <p:nvSpPr>
          <p:cNvPr id="3" name="Subtitle 2">
            <a:extLst>
              <a:ext uri="{FF2B5EF4-FFF2-40B4-BE49-F238E27FC236}">
                <a16:creationId xmlns:a16="http://schemas.microsoft.com/office/drawing/2014/main" id="{35CC7B08-9909-136D-E958-2A1412D0234E}"/>
              </a:ext>
            </a:extLst>
          </p:cNvPr>
          <p:cNvSpPr>
            <a:spLocks noGrp="1"/>
          </p:cNvSpPr>
          <p:nvPr>
            <p:ph type="subTitle" idx="1"/>
          </p:nvPr>
        </p:nvSpPr>
        <p:spPr/>
        <p:txBody>
          <a:bodyPr/>
          <a:lstStyle/>
          <a:p>
            <a:r>
              <a:rPr lang="en-US" b="1" i="1" dirty="0"/>
              <a:t>v1.09</a:t>
            </a:r>
            <a:r>
              <a:rPr lang="en-US" dirty="0"/>
              <a:t> 9 September 2026</a:t>
            </a:r>
          </a:p>
          <a:p>
            <a:r>
              <a:rPr lang="en-US" dirty="0"/>
              <a:t>Lakshmi Krishnamurthy</a:t>
            </a:r>
          </a:p>
        </p:txBody>
      </p:sp>
    </p:spTree>
    <p:extLst>
      <p:ext uri="{BB962C8B-B14F-4D97-AF65-F5344CB8AC3E}">
        <p14:creationId xmlns:p14="http://schemas.microsoft.com/office/powerpoint/2010/main" val="3982043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E4A35-02BB-CEBC-F079-5662B1AD9063}"/>
              </a:ext>
            </a:extLst>
          </p:cNvPr>
          <p:cNvSpPr>
            <a:spLocks noGrp="1"/>
          </p:cNvSpPr>
          <p:nvPr>
            <p:ph type="title"/>
          </p:nvPr>
        </p:nvSpPr>
        <p:spPr>
          <a:xfrm>
            <a:off x="838200" y="365125"/>
            <a:ext cx="10515600" cy="823595"/>
          </a:xfrm>
        </p:spPr>
        <p:txBody>
          <a:bodyPr/>
          <a:lstStyle/>
          <a:p>
            <a:pPr algn="ctr"/>
            <a:r>
              <a:rPr lang="en-US" b="1" dirty="0"/>
              <a:t>Contents</a:t>
            </a:r>
          </a:p>
        </p:txBody>
      </p:sp>
      <p:sp>
        <p:nvSpPr>
          <p:cNvPr id="3" name="Content Placeholder 2">
            <a:extLst>
              <a:ext uri="{FF2B5EF4-FFF2-40B4-BE49-F238E27FC236}">
                <a16:creationId xmlns:a16="http://schemas.microsoft.com/office/drawing/2014/main" id="{7307F8A8-7125-AE41-712C-AAEE8ED9479E}"/>
              </a:ext>
            </a:extLst>
          </p:cNvPr>
          <p:cNvSpPr>
            <a:spLocks noGrp="1"/>
          </p:cNvSpPr>
          <p:nvPr>
            <p:ph idx="1"/>
          </p:nvPr>
        </p:nvSpPr>
        <p:spPr>
          <a:xfrm>
            <a:off x="838200" y="1348105"/>
            <a:ext cx="10515600" cy="5144770"/>
          </a:xfrm>
        </p:spPr>
        <p:txBody>
          <a:bodyPr/>
          <a:lstStyle/>
          <a:p>
            <a:r>
              <a:rPr lang="en-US" u="sng" dirty="0"/>
              <a:t>Section 1</a:t>
            </a:r>
            <a:r>
              <a:rPr lang="en-US" dirty="0"/>
              <a:t>: Kalotay, Williams, and Fabozzi (1993) Model</a:t>
            </a:r>
          </a:p>
          <a:p>
            <a:r>
              <a:rPr lang="en-US" u="sng" dirty="0"/>
              <a:t>Section 2</a:t>
            </a:r>
            <a:r>
              <a:rPr lang="en-US" dirty="0"/>
              <a:t>: Interest Rate Lattice – Implementation Overview</a:t>
            </a:r>
          </a:p>
          <a:p>
            <a:r>
              <a:rPr lang="en-US" u="sng" dirty="0"/>
              <a:t>Section 3</a:t>
            </a:r>
            <a:r>
              <a:rPr lang="en-US" dirty="0"/>
              <a:t>: AAA Municipal Curve</a:t>
            </a:r>
          </a:p>
          <a:p>
            <a:r>
              <a:rPr lang="en-US" u="sng" dirty="0"/>
              <a:t>Section 4</a:t>
            </a:r>
            <a:r>
              <a:rPr lang="en-US" dirty="0"/>
              <a:t>: Evaluating Callable Municipal Bonds</a:t>
            </a:r>
          </a:p>
          <a:p>
            <a:r>
              <a:rPr lang="en-US" u="sng" dirty="0"/>
              <a:t>Section 5</a:t>
            </a:r>
            <a:r>
              <a:rPr lang="en-US" dirty="0"/>
              <a:t>: Nelder-Mead Method</a:t>
            </a:r>
          </a:p>
          <a:p>
            <a:r>
              <a:rPr lang="en-US" u="sng" dirty="0"/>
              <a:t>Section 6</a:t>
            </a:r>
            <a:r>
              <a:rPr lang="en-US" dirty="0"/>
              <a:t>: Himmelblau Function</a:t>
            </a:r>
          </a:p>
          <a:p>
            <a:r>
              <a:rPr lang="en-US" u="sng" dirty="0"/>
              <a:t>Section 7</a:t>
            </a:r>
            <a:r>
              <a:rPr lang="en-US" dirty="0"/>
              <a:t>: Rosenbrock Function</a:t>
            </a:r>
          </a:p>
          <a:p>
            <a:pPr marL="0" indent="0">
              <a:buNone/>
            </a:pPr>
            <a:endParaRPr lang="en-US" dirty="0"/>
          </a:p>
        </p:txBody>
      </p:sp>
    </p:spTree>
    <p:extLst>
      <p:ext uri="{BB962C8B-B14F-4D97-AF65-F5344CB8AC3E}">
        <p14:creationId xmlns:p14="http://schemas.microsoft.com/office/powerpoint/2010/main" val="3014362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9E7D-4C04-205C-41CE-B35365490072}"/>
              </a:ext>
            </a:extLst>
          </p:cNvPr>
          <p:cNvSpPr>
            <a:spLocks noGrp="1"/>
          </p:cNvSpPr>
          <p:nvPr>
            <p:ph type="ctrTitle"/>
          </p:nvPr>
        </p:nvSpPr>
        <p:spPr/>
        <p:txBody>
          <a:bodyPr/>
          <a:lstStyle/>
          <a:p>
            <a:r>
              <a:rPr lang="en-US" b="1" dirty="0"/>
              <a:t>Section 1 - Kalotay, Williams, and Fabozzi (1993) Model</a:t>
            </a:r>
          </a:p>
        </p:txBody>
      </p:sp>
    </p:spTree>
    <p:extLst>
      <p:ext uri="{BB962C8B-B14F-4D97-AF65-F5344CB8AC3E}">
        <p14:creationId xmlns:p14="http://schemas.microsoft.com/office/powerpoint/2010/main" val="3480457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7937-7A9C-4389-B653-705E5D997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D00BB-7B12-DE0F-71B4-E8375BCA9688}"/>
              </a:ext>
            </a:extLst>
          </p:cNvPr>
          <p:cNvSpPr>
            <a:spLocks noGrp="1"/>
          </p:cNvSpPr>
          <p:nvPr>
            <p:ph type="title"/>
          </p:nvPr>
        </p:nvSpPr>
        <p:spPr>
          <a:xfrm>
            <a:off x="838200" y="365125"/>
            <a:ext cx="10515600" cy="823595"/>
          </a:xfrm>
        </p:spPr>
        <p:txBody>
          <a:bodyPr/>
          <a:lstStyle/>
          <a:p>
            <a:pPr algn="ctr"/>
            <a:r>
              <a:rPr lang="en-US" b="1" dirty="0"/>
              <a:t>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661D4A-36AB-A198-0AA4-F8343941CBCE}"/>
                  </a:ext>
                </a:extLst>
              </p:cNvPr>
              <p:cNvSpPr>
                <a:spLocks noGrp="1"/>
              </p:cNvSpPr>
              <p:nvPr>
                <p:ph idx="1"/>
              </p:nvPr>
            </p:nvSpPr>
            <p:spPr>
              <a:xfrm>
                <a:off x="838200" y="1348105"/>
                <a:ext cx="10515600" cy="5144770"/>
              </a:xfrm>
            </p:spPr>
            <p:txBody>
              <a:bodyPr/>
              <a:lstStyle/>
              <a:p>
                <a:pPr lvl="0"/>
                <a:r>
                  <a:rPr lang="en-US" u="sng" dirty="0"/>
                  <a:t>Long a Callable Bond</a:t>
                </a:r>
                <a:r>
                  <a:rPr lang="en-US" dirty="0"/>
                  <a:t>:</a:t>
                </a:r>
              </a:p>
              <a:p>
                <a:pPr marL="457200" lvl="1" indent="0">
                  <a:buNone/>
                </a:pPr>
                <a:endParaRPr lang="en-US" dirty="0"/>
              </a:p>
              <a:p>
                <a:pPr marL="457200" lvl="1" indent="0">
                  <a:buNone/>
                </a:pPr>
                <a14:m>
                  <m:oMathPara xmlns:m="http://schemas.openxmlformats.org/officeDocument/2006/math">
                    <m:oMathParaPr>
                      <m:jc m:val="center"/>
                    </m:oMathParaPr>
                    <m:oMath xmlns:m="http://schemas.openxmlformats.org/officeDocument/2006/math">
                      <m:r>
                        <a:rPr lang="en-US" i="1">
                          <a:latin typeface="Cambria Math" panose="02040503050406030204" pitchFamily="18" charset="0"/>
                        </a:rPr>
                        <m:t>𝐿𝑜𝑛𝑔</m:t>
                      </m:r>
                      <m:r>
                        <a:rPr lang="en-US"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𝐶𝑎𝑙𝑙𝑎𝑏𝑙𝑒</m:t>
                      </m:r>
                      <m:r>
                        <a:rPr lang="en-US" i="1">
                          <a:latin typeface="Cambria Math" panose="02040503050406030204" pitchFamily="18" charset="0"/>
                        </a:rPr>
                        <m:t> </m:t>
                      </m:r>
                      <m:r>
                        <a:rPr lang="en-US" i="1">
                          <a:latin typeface="Cambria Math" panose="02040503050406030204" pitchFamily="18" charset="0"/>
                        </a:rPr>
                        <m:t>𝐵𝑜𝑛𝑑</m:t>
                      </m:r>
                      <m:r>
                        <a:rPr lang="en-US" i="1">
                          <a:latin typeface="Cambria Math" panose="02040503050406030204" pitchFamily="18" charset="0"/>
                        </a:rPr>
                        <m:t>=</m:t>
                      </m:r>
                      <m:r>
                        <a:rPr lang="en-US" i="1">
                          <a:latin typeface="Cambria Math" panose="02040503050406030204" pitchFamily="18" charset="0"/>
                        </a:rPr>
                        <m:t>𝐿𝑜𝑛𝑔</m:t>
                      </m:r>
                      <m:r>
                        <a:rPr lang="en-US" i="1">
                          <a:latin typeface="Cambria Math" panose="02040503050406030204" pitchFamily="18" charset="0"/>
                        </a:rPr>
                        <m:t> </m:t>
                      </m:r>
                      <m:r>
                        <a:rPr lang="en-US" i="1">
                          <a:latin typeface="Cambria Math" panose="02040503050406030204" pitchFamily="18" charset="0"/>
                        </a:rPr>
                        <m:t>𝑎𝑛</m:t>
                      </m:r>
                      <m:r>
                        <a:rPr lang="en-US" i="1">
                          <a:latin typeface="Cambria Math" panose="02040503050406030204" pitchFamily="18" charset="0"/>
                        </a:rPr>
                        <m:t> </m:t>
                      </m:r>
                      <m:r>
                        <a:rPr lang="en-US" i="1">
                          <a:latin typeface="Cambria Math" panose="02040503050406030204" pitchFamily="18" charset="0"/>
                        </a:rPr>
                        <m:t>𝑂𝑝𝑡𝑖𝑜𝑛</m:t>
                      </m:r>
                      <m:r>
                        <a:rPr lang="en-US" i="1">
                          <a:latin typeface="Cambria Math" panose="02040503050406030204" pitchFamily="18" charset="0"/>
                        </a:rPr>
                        <m:t> </m:t>
                      </m:r>
                      <m:r>
                        <a:rPr lang="en-US" i="1">
                          <a:latin typeface="Cambria Math" panose="02040503050406030204" pitchFamily="18" charset="0"/>
                        </a:rPr>
                        <m:t>𝐹𝑟𝑒𝑒</m:t>
                      </m:r>
                      <m:r>
                        <a:rPr lang="en-US" i="1">
                          <a:latin typeface="Cambria Math" panose="02040503050406030204" pitchFamily="18" charset="0"/>
                        </a:rPr>
                        <m:t> </m:t>
                      </m:r>
                      <m:r>
                        <a:rPr lang="en-US" i="1">
                          <a:latin typeface="Cambria Math" panose="02040503050406030204" pitchFamily="18" charset="0"/>
                        </a:rPr>
                        <m:t>𝐵𝑜𝑛𝑑</m:t>
                      </m:r>
                      <m:r>
                        <a:rPr lang="en-US" i="1">
                          <a:latin typeface="Cambria Math" panose="02040503050406030204" pitchFamily="18" charset="0"/>
                        </a:rPr>
                        <m:t>+</m:t>
                      </m:r>
                      <m:r>
                        <a:rPr lang="en-US" i="1">
                          <a:latin typeface="Cambria Math" panose="02040503050406030204" pitchFamily="18" charset="0"/>
                        </a:rPr>
                        <m:t>𝑆h𝑜𝑟𝑡</m:t>
                      </m:r>
                      <m:r>
                        <a:rPr lang="en-US"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𝐶𝑎𝑙𝑙</m:t>
                      </m:r>
                      <m:r>
                        <a:rPr lang="en-US" i="1">
                          <a:latin typeface="Cambria Math" panose="02040503050406030204" pitchFamily="18" charset="0"/>
                        </a:rPr>
                        <m:t> </m:t>
                      </m:r>
                      <m:r>
                        <a:rPr lang="en-US" i="1">
                          <a:latin typeface="Cambria Math" panose="02040503050406030204" pitchFamily="18" charset="0"/>
                        </a:rPr>
                        <m:t>𝑂𝑝𝑡𝑖𝑜𝑛</m:t>
                      </m:r>
                      <m:r>
                        <a:rPr lang="en-US" i="1">
                          <a:latin typeface="Cambria Math" panose="02040503050406030204" pitchFamily="18" charset="0"/>
                        </a:rPr>
                        <m:t> </m:t>
                      </m:r>
                      <m:r>
                        <a:rPr lang="en-US" i="1">
                          <a:latin typeface="Cambria Math" panose="02040503050406030204" pitchFamily="18" charset="0"/>
                        </a:rPr>
                        <m:t>𝑜𝑛</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𝐵𝑜𝑛𝑑</m:t>
                      </m:r>
                    </m:oMath>
                  </m:oMathPara>
                </a14:m>
                <a:endParaRPr lang="en-US" dirty="0"/>
              </a:p>
              <a:p>
                <a:pPr marL="0" indent="0">
                  <a:buNone/>
                </a:pPr>
                <a:endParaRPr lang="en-US" u="sng" dirty="0"/>
              </a:p>
              <a:p>
                <a:r>
                  <a:rPr lang="en-US" u="sng" dirty="0"/>
                  <a:t>Value of Callable Bond</a:t>
                </a:r>
                <a:r>
                  <a:rPr lang="en-US" dirty="0"/>
                  <a:t>: In terms of the value of a callable bond, this means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𝑉𝑎𝑙𝑢𝑒</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𝐶𝑎𝑙𝑙𝑎𝑏𝑙𝑒</m:t>
                      </m:r>
                      <m:r>
                        <a:rPr lang="en-US" i="1">
                          <a:latin typeface="Cambria Math" panose="02040503050406030204" pitchFamily="18" charset="0"/>
                        </a:rPr>
                        <m:t> </m:t>
                      </m:r>
                      <m:r>
                        <a:rPr lang="en-US" i="1">
                          <a:latin typeface="Cambria Math" panose="02040503050406030204" pitchFamily="18" charset="0"/>
                        </a:rPr>
                        <m:t>𝐵𝑜𝑛𝑑</m:t>
                      </m:r>
                      <m:r>
                        <a:rPr lang="en-US" i="1">
                          <a:latin typeface="Cambria Math" panose="02040503050406030204" pitchFamily="18" charset="0"/>
                        </a:rPr>
                        <m:t>=</m:t>
                      </m:r>
                      <m:r>
                        <a:rPr lang="en-US" i="1">
                          <a:latin typeface="Cambria Math" panose="02040503050406030204" pitchFamily="18" charset="0"/>
                        </a:rPr>
                        <m:t>𝑉𝑎𝑙𝑢𝑒</m:t>
                      </m:r>
                      <m:r>
                        <a:rPr lang="en-US" i="1">
                          <a:latin typeface="Cambria Math" panose="02040503050406030204" pitchFamily="18" charset="0"/>
                        </a:rPr>
                        <m:t> </m:t>
                      </m:r>
                      <m:r>
                        <a:rPr lang="en-US" i="1">
                          <a:latin typeface="Cambria Math" panose="02040503050406030204" pitchFamily="18" charset="0"/>
                        </a:rPr>
                        <m:t>𝑜𝑓𝑎𝑛</m:t>
                      </m:r>
                      <m:r>
                        <a:rPr lang="en-US" i="1">
                          <a:latin typeface="Cambria Math" panose="02040503050406030204" pitchFamily="18" charset="0"/>
                        </a:rPr>
                        <m:t> </m:t>
                      </m:r>
                      <m:r>
                        <a:rPr lang="en-US" i="1">
                          <a:latin typeface="Cambria Math" panose="02040503050406030204" pitchFamily="18" charset="0"/>
                        </a:rPr>
                        <m:t>𝑂𝑝𝑡𝑖𝑜𝑛</m:t>
                      </m:r>
                      <m:r>
                        <a:rPr lang="en-US" i="1">
                          <a:latin typeface="Cambria Math" panose="02040503050406030204" pitchFamily="18" charset="0"/>
                        </a:rPr>
                        <m:t> </m:t>
                      </m:r>
                      <m:r>
                        <a:rPr lang="en-US" i="1">
                          <a:latin typeface="Cambria Math" panose="02040503050406030204" pitchFamily="18" charset="0"/>
                        </a:rPr>
                        <m:t>𝐹𝑟𝑒𝑒</m:t>
                      </m:r>
                      <m:r>
                        <a:rPr lang="en-US" i="1">
                          <a:latin typeface="Cambria Math" panose="02040503050406030204" pitchFamily="18" charset="0"/>
                        </a:rPr>
                        <m:t> </m:t>
                      </m:r>
                      <m:r>
                        <a:rPr lang="en-US" i="1">
                          <a:latin typeface="Cambria Math" panose="02040503050406030204" pitchFamily="18" charset="0"/>
                        </a:rPr>
                        <m:t>𝐵𝑜𝑛𝑑</m:t>
                      </m:r>
                      <m:r>
                        <a:rPr lang="en-US" i="1">
                          <a:latin typeface="Cambria Math" panose="02040503050406030204" pitchFamily="18" charset="0"/>
                        </a:rPr>
                        <m:t>−</m:t>
                      </m:r>
                      <m:r>
                        <a:rPr lang="en-US" i="1">
                          <a:latin typeface="Cambria Math" panose="02040503050406030204" pitchFamily="18" charset="0"/>
                        </a:rPr>
                        <m:t>𝑆h𝑜𝑟𝑡</m:t>
                      </m:r>
                      <m:r>
                        <a:rPr lang="en-US"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𝐶𝑎𝑙𝑙</m:t>
                      </m:r>
                      <m:r>
                        <a:rPr lang="en-US" i="1">
                          <a:latin typeface="Cambria Math" panose="02040503050406030204" pitchFamily="18" charset="0"/>
                        </a:rPr>
                        <m:t> </m:t>
                      </m:r>
                      <m:r>
                        <a:rPr lang="en-US" i="1">
                          <a:latin typeface="Cambria Math" panose="02040503050406030204" pitchFamily="18" charset="0"/>
                        </a:rPr>
                        <m:t>𝑂𝑝𝑡𝑖𝑜𝑛</m:t>
                      </m:r>
                      <m:r>
                        <a:rPr lang="en-US" i="1">
                          <a:latin typeface="Cambria Math" panose="02040503050406030204" pitchFamily="18" charset="0"/>
                        </a:rPr>
                        <m:t> </m:t>
                      </m:r>
                      <m:r>
                        <a:rPr lang="en-US" i="1">
                          <a:latin typeface="Cambria Math" panose="02040503050406030204" pitchFamily="18" charset="0"/>
                        </a:rPr>
                        <m:t>𝑜𝑛</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𝐵𝑜𝑛𝑑</m:t>
                      </m:r>
                    </m:oMath>
                  </m:oMathPara>
                </a14:m>
                <a:endParaRPr lang="en-US" dirty="0"/>
              </a:p>
            </p:txBody>
          </p:sp>
        </mc:Choice>
        <mc:Fallback xmlns="">
          <p:sp>
            <p:nvSpPr>
              <p:cNvPr id="3" name="Content Placeholder 2">
                <a:extLst>
                  <a:ext uri="{FF2B5EF4-FFF2-40B4-BE49-F238E27FC236}">
                    <a16:creationId xmlns:a16="http://schemas.microsoft.com/office/drawing/2014/main" id="{9C661D4A-36AB-A198-0AA4-F8343941CBCE}"/>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a:stretch>
              </a:blipFill>
            </p:spPr>
            <p:txBody>
              <a:bodyPr/>
              <a:lstStyle/>
              <a:p>
                <a:r>
                  <a:rPr lang="en-US">
                    <a:noFill/>
                  </a:rPr>
                  <a:t> </a:t>
                </a:r>
              </a:p>
            </p:txBody>
          </p:sp>
        </mc:Fallback>
      </mc:AlternateContent>
    </p:spTree>
    <p:extLst>
      <p:ext uri="{BB962C8B-B14F-4D97-AF65-F5344CB8AC3E}">
        <p14:creationId xmlns:p14="http://schemas.microsoft.com/office/powerpoint/2010/main" val="619134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F69D7-D0A2-7FF2-8E63-90E49FC95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FD4E1-9251-40F2-4E85-1206988F989F}"/>
              </a:ext>
            </a:extLst>
          </p:cNvPr>
          <p:cNvSpPr>
            <a:spLocks noGrp="1"/>
          </p:cNvSpPr>
          <p:nvPr>
            <p:ph type="title"/>
          </p:nvPr>
        </p:nvSpPr>
        <p:spPr>
          <a:xfrm>
            <a:off x="838200" y="365125"/>
            <a:ext cx="10515600" cy="823595"/>
          </a:xfrm>
        </p:spPr>
        <p:txBody>
          <a:bodyPr/>
          <a:lstStyle/>
          <a:p>
            <a:pPr algn="ctr"/>
            <a:r>
              <a:rPr lang="en-US" b="1" dirty="0"/>
              <a:t>Interest Rate Volatility</a:t>
            </a:r>
          </a:p>
        </p:txBody>
      </p:sp>
      <p:sp>
        <p:nvSpPr>
          <p:cNvPr id="3" name="Content Placeholder 2">
            <a:extLst>
              <a:ext uri="{FF2B5EF4-FFF2-40B4-BE49-F238E27FC236}">
                <a16:creationId xmlns:a16="http://schemas.microsoft.com/office/drawing/2014/main" id="{062B6B36-38EF-1580-9BCB-EBD01EBE85E6}"/>
              </a:ext>
            </a:extLst>
          </p:cNvPr>
          <p:cNvSpPr>
            <a:spLocks noGrp="1"/>
          </p:cNvSpPr>
          <p:nvPr>
            <p:ph idx="1"/>
          </p:nvPr>
        </p:nvSpPr>
        <p:spPr>
          <a:xfrm>
            <a:off x="838200" y="1348105"/>
            <a:ext cx="10515600" cy="5144770"/>
          </a:xfrm>
        </p:spPr>
        <p:txBody>
          <a:bodyPr/>
          <a:lstStyle/>
          <a:p>
            <a:r>
              <a:rPr lang="en-US" u="sng" dirty="0"/>
              <a:t>Binomial Interest Rate Tree</a:t>
            </a:r>
            <a:r>
              <a:rPr lang="en-US" dirty="0"/>
              <a:t>: Once one allows for embedded options, consideration must be given to interest-rate volatility. This can be done by introducing a </a:t>
            </a:r>
            <a:r>
              <a:rPr lang="en-US" i="1" dirty="0"/>
              <a:t>binomial interest rate tree</a:t>
            </a:r>
            <a:r>
              <a:rPr lang="en-US" dirty="0"/>
              <a:t>.</a:t>
            </a:r>
          </a:p>
          <a:p>
            <a:r>
              <a:rPr lang="en-US" u="sng" dirty="0"/>
              <a:t>One Period Discount Rate Evolution</a:t>
            </a:r>
            <a:r>
              <a:rPr lang="en-US" dirty="0"/>
              <a:t>: This tree is nothing more than a discrete representation of the possible evolution over time of the one-period rate based on some assumption about interest rate volatility.</a:t>
            </a:r>
          </a:p>
          <a:p>
            <a:pPr marL="0" indent="0">
              <a:buNone/>
            </a:pPr>
            <a:endParaRPr lang="en-US" dirty="0"/>
          </a:p>
        </p:txBody>
      </p:sp>
    </p:spTree>
    <p:extLst>
      <p:ext uri="{BB962C8B-B14F-4D97-AF65-F5344CB8AC3E}">
        <p14:creationId xmlns:p14="http://schemas.microsoft.com/office/powerpoint/2010/main" val="3788859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5A44E-A18A-090A-6463-47F9A756B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EC18D-E409-3ADE-8139-A4E28AA1D6FE}"/>
              </a:ext>
            </a:extLst>
          </p:cNvPr>
          <p:cNvSpPr>
            <a:spLocks noGrp="1"/>
          </p:cNvSpPr>
          <p:nvPr>
            <p:ph type="title"/>
          </p:nvPr>
        </p:nvSpPr>
        <p:spPr>
          <a:xfrm>
            <a:off x="838200" y="365125"/>
            <a:ext cx="10515600" cy="823595"/>
          </a:xfrm>
        </p:spPr>
        <p:txBody>
          <a:bodyPr/>
          <a:lstStyle/>
          <a:p>
            <a:pPr algn="ctr"/>
            <a:r>
              <a:rPr lang="en-US" b="1" dirty="0"/>
              <a:t>Binomial Interest Rate Tree</a:t>
            </a:r>
          </a:p>
        </p:txBody>
      </p:sp>
      <p:sp>
        <p:nvSpPr>
          <p:cNvPr id="3" name="Content Placeholder 2">
            <a:extLst>
              <a:ext uri="{FF2B5EF4-FFF2-40B4-BE49-F238E27FC236}">
                <a16:creationId xmlns:a16="http://schemas.microsoft.com/office/drawing/2014/main" id="{4FB22C5A-F6BC-5B7F-0FF5-9AC5A9302585}"/>
              </a:ext>
            </a:extLst>
          </p:cNvPr>
          <p:cNvSpPr>
            <a:spLocks noGrp="1"/>
          </p:cNvSpPr>
          <p:nvPr>
            <p:ph idx="1"/>
          </p:nvPr>
        </p:nvSpPr>
        <p:spPr>
          <a:xfrm>
            <a:off x="838200" y="1348105"/>
            <a:ext cx="10515600" cy="5144770"/>
          </a:xfrm>
        </p:spPr>
        <p:txBody>
          <a:bodyPr/>
          <a:lstStyle/>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55CA056E-14E8-4543-FE64-EF39F56B9A00}"/>
              </a:ext>
            </a:extLst>
          </p:cNvPr>
          <p:cNvPicPr>
            <a:picLocks noChangeAspect="1"/>
          </p:cNvPicPr>
          <p:nvPr/>
        </p:nvPicPr>
        <p:blipFill>
          <a:blip r:embed="rId2"/>
          <a:stretch>
            <a:fillRect/>
          </a:stretch>
        </p:blipFill>
        <p:spPr>
          <a:xfrm>
            <a:off x="4063365" y="1307466"/>
            <a:ext cx="4065270" cy="5243194"/>
          </a:xfrm>
          <a:prstGeom prst="rect">
            <a:avLst/>
          </a:prstGeom>
        </p:spPr>
      </p:pic>
    </p:spTree>
    <p:extLst>
      <p:ext uri="{BB962C8B-B14F-4D97-AF65-F5344CB8AC3E}">
        <p14:creationId xmlns:p14="http://schemas.microsoft.com/office/powerpoint/2010/main" val="1619968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DA09-D8E0-76D9-8891-F5BCDFE8F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B02A0-CA88-1119-82F3-A1C3AF48B996}"/>
              </a:ext>
            </a:extLst>
          </p:cNvPr>
          <p:cNvSpPr>
            <a:spLocks noGrp="1"/>
          </p:cNvSpPr>
          <p:nvPr>
            <p:ph type="title"/>
          </p:nvPr>
        </p:nvSpPr>
        <p:spPr>
          <a:xfrm>
            <a:off x="838200" y="365125"/>
            <a:ext cx="10515600" cy="823595"/>
          </a:xfrm>
        </p:spPr>
        <p:txBody>
          <a:bodyPr/>
          <a:lstStyle/>
          <a:p>
            <a:pPr algn="ctr"/>
            <a:r>
              <a:rPr lang="en-US" b="1" dirty="0"/>
              <a:t>Binomial Interest Rate Tree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57A33E-75E7-DE29-8EE7-0417118A18F9}"/>
                  </a:ext>
                </a:extLst>
              </p:cNvPr>
              <p:cNvSpPr>
                <a:spLocks noGrp="1"/>
              </p:cNvSpPr>
              <p:nvPr>
                <p:ph idx="1"/>
              </p:nvPr>
            </p:nvSpPr>
            <p:spPr>
              <a:xfrm>
                <a:off x="838200" y="1348105"/>
                <a:ext cx="10515600" cy="5144770"/>
              </a:xfrm>
            </p:spPr>
            <p:txBody>
              <a:bodyPr/>
              <a:lstStyle/>
              <a:p>
                <a:r>
                  <a:rPr lang="en-US" u="sng" dirty="0"/>
                  <a:t>Recombinancy Inherent in the Tree</a:t>
                </a:r>
                <a:r>
                  <a:rPr lang="en-US" dirty="0"/>
                  <a:t>: Note that this tree is said to be recombinant, so that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𝑈𝐷</m:t>
                        </m:r>
                      </m:sub>
                    </m:sSub>
                  </m:oMath>
                </a14:m>
                <a:r>
                  <a:rPr lang="en-US" dirty="0"/>
                  <a:t> is equivalent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𝐷𝑈</m:t>
                        </m:r>
                      </m:sub>
                    </m:sSub>
                  </m:oMath>
                </a14:m>
                <a:r>
                  <a:rPr lang="en-US" dirty="0"/>
                  <a:t> in the second year, and in the third year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𝑈𝑈𝐷</m:t>
                        </m:r>
                      </m:sub>
                    </m:sSub>
                  </m:oMath>
                </a14:m>
                <a:r>
                  <a:rPr lang="en-US" dirty="0"/>
                  <a:t> is equivalent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𝑈𝑈𝐷</m:t>
                        </m:r>
                      </m:sub>
                    </m:sSub>
                  </m:oMath>
                </a14:m>
                <a:r>
                  <a:rPr lang="en-US" dirty="0"/>
                  <a:t> is equivalent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𝑈𝐷𝑈</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𝐷𝑈𝑈</m:t>
                        </m:r>
                      </m:sub>
                    </m:sSub>
                  </m:oMath>
                </a14:m>
                <a:r>
                  <a:rPr lang="en-US" dirty="0"/>
                  <a:t>.</a:t>
                </a:r>
              </a:p>
              <a:p>
                <a:r>
                  <a:rPr lang="en-US" u="sng" dirty="0"/>
                  <a:t>Notation Simplification for Recombinant Trees</a:t>
                </a:r>
                <a:r>
                  <a:rPr lang="en-US" dirty="0"/>
                  <a:t>: In the figure above, one simply selected one label for a node rather than cluttering up the exhibit with unnecessary information.</a:t>
                </a:r>
              </a:p>
              <a:p>
                <a14:m>
                  <m:oMath xmlns:m="http://schemas.openxmlformats.org/officeDocument/2006/math">
                    <m:r>
                      <a:rPr lang="en-US" i="1" u="sng">
                        <a:latin typeface="Cambria Math" panose="02040503050406030204" pitchFamily="18" charset="0"/>
                      </a:rPr>
                      <m:t>𝜎</m:t>
                    </m:r>
                  </m:oMath>
                </a14:m>
                <a:r>
                  <a:rPr lang="en-US" dirty="0"/>
                  <a:t>: Assumed volatility of the forward 1Y rate at all times.</a:t>
                </a:r>
              </a:p>
              <a:p>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𝑟</m:t>
                        </m:r>
                      </m:e>
                      <m:sub>
                        <m:r>
                          <a:rPr lang="en-US" i="1" u="sng">
                            <a:latin typeface="Cambria Math" panose="02040503050406030204" pitchFamily="18" charset="0"/>
                          </a:rPr>
                          <m:t>1</m:t>
                        </m:r>
                        <m:r>
                          <a:rPr lang="en-US" i="1" u="sng">
                            <a:latin typeface="Cambria Math" panose="02040503050406030204" pitchFamily="18" charset="0"/>
                          </a:rPr>
                          <m:t>𝐷</m:t>
                        </m:r>
                      </m:sub>
                    </m:sSub>
                  </m:oMath>
                </a14:m>
                <a:r>
                  <a:rPr lang="en-US" dirty="0"/>
                  <a:t>: 1Y rate 1Y forward of rates decline.</a:t>
                </a:r>
              </a:p>
              <a:p>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𝑟</m:t>
                        </m:r>
                      </m:e>
                      <m:sub>
                        <m:r>
                          <a:rPr lang="en-US" i="1" u="sng">
                            <a:latin typeface="Cambria Math" panose="02040503050406030204" pitchFamily="18" charset="0"/>
                          </a:rPr>
                          <m:t>1</m:t>
                        </m:r>
                        <m:r>
                          <a:rPr lang="en-US" i="1" u="sng">
                            <a:latin typeface="Cambria Math" panose="02040503050406030204" pitchFamily="18" charset="0"/>
                          </a:rPr>
                          <m:t>𝑈</m:t>
                        </m:r>
                      </m:sub>
                    </m:sSub>
                  </m:oMath>
                </a14:m>
                <a:r>
                  <a:rPr lang="en-US" dirty="0"/>
                  <a:t>: 1Y rate 1Y forward of rates rise.</a:t>
                </a:r>
              </a:p>
            </p:txBody>
          </p:sp>
        </mc:Choice>
        <mc:Fallback xmlns="">
          <p:sp>
            <p:nvSpPr>
              <p:cNvPr id="3" name="Content Placeholder 2">
                <a:extLst>
                  <a:ext uri="{FF2B5EF4-FFF2-40B4-BE49-F238E27FC236}">
                    <a16:creationId xmlns:a16="http://schemas.microsoft.com/office/drawing/2014/main" id="{5357A33E-75E7-DE29-8EE7-0417118A18F9}"/>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1797"/>
                </a:stretch>
              </a:blipFill>
            </p:spPr>
            <p:txBody>
              <a:bodyPr/>
              <a:lstStyle/>
              <a:p>
                <a:r>
                  <a:rPr lang="en-US">
                    <a:noFill/>
                  </a:rPr>
                  <a:t> </a:t>
                </a:r>
              </a:p>
            </p:txBody>
          </p:sp>
        </mc:Fallback>
      </mc:AlternateContent>
    </p:spTree>
    <p:extLst>
      <p:ext uri="{BB962C8B-B14F-4D97-AF65-F5344CB8AC3E}">
        <p14:creationId xmlns:p14="http://schemas.microsoft.com/office/powerpoint/2010/main" val="1415450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0E3C1-1ECA-CB68-A877-1A28E159C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D3D9C-863A-E287-A52D-A97B010B06BB}"/>
              </a:ext>
            </a:extLst>
          </p:cNvPr>
          <p:cNvSpPr>
            <a:spLocks noGrp="1"/>
          </p:cNvSpPr>
          <p:nvPr>
            <p:ph type="title"/>
          </p:nvPr>
        </p:nvSpPr>
        <p:spPr>
          <a:xfrm>
            <a:off x="838200" y="365125"/>
            <a:ext cx="10515600" cy="823595"/>
          </a:xfrm>
        </p:spPr>
        <p:txBody>
          <a:bodyPr/>
          <a:lstStyle/>
          <a:p>
            <a:pPr algn="ctr"/>
            <a:r>
              <a:rPr lang="en-US" b="1" dirty="0"/>
              <a:t>Binomial Interest Rate Tree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00F970-AB57-1C23-C0C2-3E0C9C5C6C4C}"/>
                  </a:ext>
                </a:extLst>
              </p:cNvPr>
              <p:cNvSpPr>
                <a:spLocks noGrp="1"/>
              </p:cNvSpPr>
              <p:nvPr>
                <p:ph idx="1"/>
              </p:nvPr>
            </p:nvSpPr>
            <p:spPr>
              <a:xfrm>
                <a:off x="838200" y="1348105"/>
                <a:ext cx="10515600" cy="5144770"/>
              </a:xfrm>
            </p:spPr>
            <p:txBody>
              <a:bodyPr>
                <a:normAutofit fontScale="92500"/>
              </a:bodyPr>
              <a:lstStyle/>
              <a:p>
                <a:r>
                  <a:rPr lang="en-US" u="sng" dirty="0"/>
                  <a:t>Relation between </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𝑟</m:t>
                        </m:r>
                      </m:e>
                      <m:sub>
                        <m:r>
                          <a:rPr lang="en-US" i="1" u="sng">
                            <a:latin typeface="Cambria Math" panose="02040503050406030204" pitchFamily="18" charset="0"/>
                          </a:rPr>
                          <m:t>1</m:t>
                        </m:r>
                        <m:r>
                          <a:rPr lang="en-US" i="1" u="sng">
                            <a:latin typeface="Cambria Math" panose="02040503050406030204" pitchFamily="18" charset="0"/>
                          </a:rPr>
                          <m:t>𝐷</m:t>
                        </m:r>
                      </m:sub>
                    </m:sSub>
                  </m:oMath>
                </a14:m>
                <a:r>
                  <a:rPr lang="en-US" u="sng" dirty="0"/>
                  <a:t> and </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𝑟</m:t>
                        </m:r>
                      </m:e>
                      <m:sub>
                        <m:r>
                          <a:rPr lang="en-US" i="1" u="sng">
                            <a:latin typeface="Cambria Math" panose="02040503050406030204" pitchFamily="18" charset="0"/>
                          </a:rPr>
                          <m:t>1</m:t>
                        </m:r>
                        <m:r>
                          <a:rPr lang="en-US" i="1" u="sng">
                            <a:latin typeface="Cambria Math" panose="02040503050406030204" pitchFamily="18" charset="0"/>
                          </a:rPr>
                          <m:t>𝑈</m:t>
                        </m:r>
                      </m:sub>
                    </m:sSub>
                  </m:oMath>
                </a14:m>
                <a:r>
                  <a:rPr lang="en-US" dirty="0"/>
                  <a:t>: Given the assumption that the two 1Y rate 1Y forward are equally likely, the relation between the two is simply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r>
                            <a:rPr lang="en-US" i="1">
                              <a:latin typeface="Cambria Math" panose="02040503050406030204" pitchFamily="18" charset="0"/>
                            </a:rPr>
                            <m:t>𝑈</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r>
                            <a:rPr lang="en-US" i="1">
                              <a:latin typeface="Cambria Math" panose="02040503050406030204" pitchFamily="18" charset="0"/>
                            </a:rPr>
                            <m:t>𝐷</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2</m:t>
                          </m:r>
                          <m:r>
                            <a:rPr lang="en-US" i="1">
                              <a:latin typeface="Cambria Math" panose="02040503050406030204" pitchFamily="18" charset="0"/>
                            </a:rPr>
                            <m:t>𝜎</m:t>
                          </m:r>
                        </m:sup>
                      </m:sSup>
                    </m:oMath>
                  </m:oMathPara>
                </a14:m>
                <a:endParaRPr lang="en-US" dirty="0"/>
              </a:p>
              <a:p>
                <a:pPr marL="0" indent="0">
                  <a:buNone/>
                </a:pPr>
                <a:endParaRPr lang="en-US" dirty="0"/>
              </a:p>
              <a:p>
                <a:r>
                  <a:rPr lang="en-US" u="sng" dirty="0"/>
                  <a:t>Relation between </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𝑟</m:t>
                        </m:r>
                      </m:e>
                      <m:sub>
                        <m:r>
                          <a:rPr lang="en-US" i="1" u="sng">
                            <a:latin typeface="Cambria Math" panose="02040503050406030204" pitchFamily="18" charset="0"/>
                          </a:rPr>
                          <m:t>2</m:t>
                        </m:r>
                        <m:r>
                          <a:rPr lang="en-US" i="1" u="sng">
                            <a:latin typeface="Cambria Math" panose="02040503050406030204" pitchFamily="18" charset="0"/>
                          </a:rPr>
                          <m:t>𝑈𝐷</m:t>
                        </m:r>
                      </m:sub>
                    </m:sSub>
                  </m:oMath>
                </a14:m>
                <a:r>
                  <a:rPr lang="en-US" u="sng" dirty="0"/>
                  <a:t> and </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𝑟</m:t>
                        </m:r>
                      </m:e>
                      <m:sub>
                        <m:r>
                          <a:rPr lang="en-US" i="1" u="sng">
                            <a:latin typeface="Cambria Math" panose="02040503050406030204" pitchFamily="18" charset="0"/>
                          </a:rPr>
                          <m:t>2</m:t>
                        </m:r>
                        <m:r>
                          <a:rPr lang="en-US" i="1" u="sng">
                            <a:latin typeface="Cambria Math" panose="02040503050406030204" pitchFamily="18" charset="0"/>
                          </a:rPr>
                          <m:t>𝐷𝐷</m:t>
                        </m:r>
                      </m:sub>
                    </m:sSub>
                  </m:oMath>
                </a14:m>
                <a:r>
                  <a:rPr lang="en-US" dirty="0"/>
                  <a:t>: The relationship between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r>
                          <a:rPr lang="en-US" i="1">
                            <a:latin typeface="Cambria Math" panose="02040503050406030204" pitchFamily="18" charset="0"/>
                          </a:rPr>
                          <m:t>𝑈𝐷</m:t>
                        </m:r>
                      </m:sub>
                    </m:sSub>
                  </m:oMath>
                </a14:m>
                <a:r>
                  <a:rPr lang="en-US" dirty="0"/>
                  <a:t> and the other two forward rates is as follows: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r>
                            <a:rPr lang="en-US" i="1">
                              <a:latin typeface="Cambria Math" panose="02040503050406030204" pitchFamily="18" charset="0"/>
                            </a:rPr>
                            <m:t>𝑈𝐷</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r>
                            <a:rPr lang="en-US" i="1">
                              <a:latin typeface="Cambria Math" panose="02040503050406030204" pitchFamily="18" charset="0"/>
                            </a:rPr>
                            <m:t>𝐷𝐷</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2</m:t>
                          </m:r>
                          <m:r>
                            <a:rPr lang="en-US" i="1">
                              <a:latin typeface="Cambria Math" panose="02040503050406030204" pitchFamily="18" charset="0"/>
                            </a:rPr>
                            <m:t>𝜎</m:t>
                          </m:r>
                        </m:sup>
                      </m:sSup>
                    </m:oMath>
                  </m:oMathPara>
                </a14:m>
                <a:endParaRPr lang="en-US" dirty="0"/>
              </a:p>
              <a:p>
                <a:pPr marL="457200" lvl="1" indent="0">
                  <a:buNone/>
                </a:pPr>
                <a:r>
                  <a:rPr lang="en-US" dirty="0"/>
                  <a:t> and</a:t>
                </a:r>
              </a:p>
              <a:p>
                <a:pPr marL="457200" lvl="1"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r>
                            <a:rPr lang="en-US" i="1">
                              <a:latin typeface="Cambria Math" panose="02040503050406030204" pitchFamily="18" charset="0"/>
                            </a:rPr>
                            <m:t>𝑈𝑈</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r>
                            <a:rPr lang="en-US" i="1">
                              <a:latin typeface="Cambria Math" panose="02040503050406030204" pitchFamily="18" charset="0"/>
                            </a:rPr>
                            <m:t>𝐷𝐷</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4</m:t>
                          </m:r>
                          <m:r>
                            <a:rPr lang="en-US" i="1">
                              <a:latin typeface="Cambria Math" panose="02040503050406030204" pitchFamily="18" charset="0"/>
                            </a:rPr>
                            <m:t>𝜎</m:t>
                          </m:r>
                        </m:sup>
                      </m:sSup>
                    </m:oMath>
                  </m:oMathPara>
                </a14:m>
                <a:endParaRPr lang="en-US" dirty="0"/>
              </a:p>
            </p:txBody>
          </p:sp>
        </mc:Choice>
        <mc:Fallback xmlns="">
          <p:sp>
            <p:nvSpPr>
              <p:cNvPr id="3" name="Content Placeholder 2">
                <a:extLst>
                  <a:ext uri="{FF2B5EF4-FFF2-40B4-BE49-F238E27FC236}">
                    <a16:creationId xmlns:a16="http://schemas.microsoft.com/office/drawing/2014/main" id="{8200F970-AB57-1C23-C0C2-3E0C9C5C6C4C}"/>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28" t="-1777"/>
                </a:stretch>
              </a:blipFill>
            </p:spPr>
            <p:txBody>
              <a:bodyPr/>
              <a:lstStyle/>
              <a:p>
                <a:r>
                  <a:rPr lang="en-US">
                    <a:noFill/>
                  </a:rPr>
                  <a:t> </a:t>
                </a:r>
              </a:p>
            </p:txBody>
          </p:sp>
        </mc:Fallback>
      </mc:AlternateContent>
    </p:spTree>
    <p:extLst>
      <p:ext uri="{BB962C8B-B14F-4D97-AF65-F5344CB8AC3E}">
        <p14:creationId xmlns:p14="http://schemas.microsoft.com/office/powerpoint/2010/main" val="4123371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7E53C-1677-8EE9-36B7-E21EBE8D5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980FA-99E0-B4B4-8E5E-EF09D7AB3D1B}"/>
              </a:ext>
            </a:extLst>
          </p:cNvPr>
          <p:cNvSpPr>
            <a:spLocks noGrp="1"/>
          </p:cNvSpPr>
          <p:nvPr>
            <p:ph type="title"/>
          </p:nvPr>
        </p:nvSpPr>
        <p:spPr>
          <a:xfrm>
            <a:off x="838200" y="365125"/>
            <a:ext cx="10515600" cy="823595"/>
          </a:xfrm>
        </p:spPr>
        <p:txBody>
          <a:bodyPr/>
          <a:lstStyle/>
          <a:p>
            <a:pPr algn="ctr"/>
            <a:r>
              <a:rPr lang="en-US" b="1" dirty="0"/>
              <a:t>Binomial Interest Rate Tree (continued)</a:t>
            </a:r>
          </a:p>
        </p:txBody>
      </p:sp>
      <p:sp>
        <p:nvSpPr>
          <p:cNvPr id="3" name="Content Placeholder 2">
            <a:extLst>
              <a:ext uri="{FF2B5EF4-FFF2-40B4-BE49-F238E27FC236}">
                <a16:creationId xmlns:a16="http://schemas.microsoft.com/office/drawing/2014/main" id="{B16D8852-E838-68E6-C818-997117D0143E}"/>
              </a:ext>
            </a:extLst>
          </p:cNvPr>
          <p:cNvSpPr>
            <a:spLocks noGrp="1"/>
          </p:cNvSpPr>
          <p:nvPr>
            <p:ph idx="1"/>
          </p:nvPr>
        </p:nvSpPr>
        <p:spPr>
          <a:xfrm>
            <a:off x="838200" y="1348105"/>
            <a:ext cx="10515600" cy="5144770"/>
          </a:xfrm>
        </p:spPr>
        <p:txBody>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95E0CB00-8D1F-AC41-2250-201C97E7DD49}"/>
              </a:ext>
            </a:extLst>
          </p:cNvPr>
          <p:cNvPicPr>
            <a:picLocks noChangeAspect="1"/>
          </p:cNvPicPr>
          <p:nvPr/>
        </p:nvPicPr>
        <p:blipFill>
          <a:blip r:embed="rId2"/>
          <a:stretch>
            <a:fillRect/>
          </a:stretch>
        </p:blipFill>
        <p:spPr>
          <a:xfrm>
            <a:off x="2448560" y="1258094"/>
            <a:ext cx="7183120" cy="5324792"/>
          </a:xfrm>
          <a:prstGeom prst="rect">
            <a:avLst/>
          </a:prstGeom>
        </p:spPr>
      </p:pic>
    </p:spTree>
    <p:extLst>
      <p:ext uri="{BB962C8B-B14F-4D97-AF65-F5344CB8AC3E}">
        <p14:creationId xmlns:p14="http://schemas.microsoft.com/office/powerpoint/2010/main" val="2622807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B2AD2-CF09-F608-E636-F19BA00EA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36BBB-17F3-7276-7C6F-D4C97B4DBB17}"/>
              </a:ext>
            </a:extLst>
          </p:cNvPr>
          <p:cNvSpPr>
            <a:spLocks noGrp="1"/>
          </p:cNvSpPr>
          <p:nvPr>
            <p:ph type="title"/>
          </p:nvPr>
        </p:nvSpPr>
        <p:spPr>
          <a:xfrm>
            <a:off x="838200" y="365125"/>
            <a:ext cx="10515600" cy="823595"/>
          </a:xfrm>
        </p:spPr>
        <p:txBody>
          <a:bodyPr/>
          <a:lstStyle/>
          <a:p>
            <a:pPr algn="ctr"/>
            <a:r>
              <a:rPr lang="en-US" b="1" dirty="0"/>
              <a:t>Determining the Value at a Node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469932-D61D-C9AF-9C98-E278C35891B0}"/>
                  </a:ext>
                </a:extLst>
              </p:cNvPr>
              <p:cNvSpPr>
                <a:spLocks noGrp="1"/>
              </p:cNvSpPr>
              <p:nvPr>
                <p:ph idx="1"/>
              </p:nvPr>
            </p:nvSpPr>
            <p:spPr>
              <a:xfrm>
                <a:off x="838200" y="1348105"/>
                <a:ext cx="10515600" cy="5144770"/>
              </a:xfrm>
            </p:spPr>
            <p:txBody>
              <a:bodyPr>
                <a:normAutofit fontScale="92500"/>
              </a:bodyPr>
              <a:lstStyle/>
              <a:p>
                <a:r>
                  <a:rPr lang="en-US" u="sng" dirty="0"/>
                  <a:t>Value at the RHS Nodes</a:t>
                </a:r>
                <a:r>
                  <a:rPr lang="en-US" dirty="0"/>
                  <a:t>: To find the value of a bond at a node, one first calculates the bond’s value at the nodes t the right of the node of interest.</a:t>
                </a:r>
              </a:p>
              <a:p>
                <a:r>
                  <a:rPr lang="en-US" u="sng" dirty="0"/>
                  <a:t>Example: </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𝑁</m:t>
                        </m:r>
                      </m:e>
                      <m:sub>
                        <m:r>
                          <a:rPr lang="en-US" i="1" u="sng">
                            <a:latin typeface="Cambria Math" panose="02040503050406030204" pitchFamily="18" charset="0"/>
                          </a:rPr>
                          <m:t>𝑈</m:t>
                        </m:r>
                      </m:sub>
                    </m:sSub>
                  </m:oMath>
                </a14:m>
                <a:r>
                  <a:rPr lang="en-US" u="sng" dirty="0"/>
                  <a:t> from </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𝑁</m:t>
                        </m:r>
                      </m:e>
                      <m:sub>
                        <m:r>
                          <a:rPr lang="en-US" i="1" u="sng">
                            <a:latin typeface="Cambria Math" panose="02040503050406030204" pitchFamily="18" charset="0"/>
                          </a:rPr>
                          <m:t>𝑈𝑈</m:t>
                        </m:r>
                      </m:sub>
                    </m:sSub>
                  </m:oMath>
                </a14:m>
                <a:r>
                  <a:rPr lang="en-US" u="sng" dirty="0"/>
                  <a:t>/</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𝑁</m:t>
                        </m:r>
                      </m:e>
                      <m:sub>
                        <m:r>
                          <a:rPr lang="en-US" i="1" u="sng">
                            <a:latin typeface="Cambria Math" panose="02040503050406030204" pitchFamily="18" charset="0"/>
                          </a:rPr>
                          <m:t>𝑈𝐷</m:t>
                        </m:r>
                      </m:sub>
                    </m:sSub>
                  </m:oMath>
                </a14:m>
                <a:r>
                  <a:rPr lang="en-US" dirty="0"/>
                  <a:t>: For example, to determine the bond’s value at the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m:t>
                        </m:r>
                      </m:sub>
                    </m:sSub>
                  </m:oMath>
                </a14:m>
                <a:r>
                  <a:rPr lang="en-US" dirty="0"/>
                  <a:t> above, values at the nodes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𝑈𝑈</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𝑈𝐷</m:t>
                        </m:r>
                      </m:sub>
                    </m:sSub>
                  </m:oMath>
                </a14:m>
                <a:r>
                  <a:rPr lang="en-US" dirty="0"/>
                  <a:t> must be determined.</a:t>
                </a:r>
              </a:p>
              <a:p>
                <a:r>
                  <a:rPr lang="en-US" u="sng" dirty="0"/>
                  <a:t>Backward Induction from Terminal Node</a:t>
                </a:r>
                <a:r>
                  <a:rPr lang="en-US" dirty="0"/>
                  <a:t>: Holding aside for now how these values are obtained, as will be seen later, the process involves starting from the last period in the tree and working backward to get the final solution, so these two values will be known.</a:t>
                </a:r>
              </a:p>
              <a:p>
                <a:pPr lvl="0"/>
                <a:r>
                  <a:rPr lang="en-US" u="sng" dirty="0"/>
                  <a:t>Components of the Cashflows</a:t>
                </a:r>
                <a:r>
                  <a:rPr lang="en-US" dirty="0"/>
                  <a:t>: The contribution from the future cashflows can be separated into</a:t>
                </a:r>
              </a:p>
              <a:p>
                <a:pPr lvl="1">
                  <a:buFont typeface="Wingdings" panose="05000000000000000000" pitchFamily="2" charset="2"/>
                  <a:buChar char="§"/>
                </a:pPr>
                <a:r>
                  <a:rPr lang="en-US" dirty="0"/>
                  <a:t>Coupon payments 1Y from now</a:t>
                </a:r>
              </a:p>
              <a:p>
                <a:pPr lvl="1">
                  <a:buFont typeface="Wingdings" panose="05000000000000000000" pitchFamily="2" charset="2"/>
                  <a:buChar char="§"/>
                </a:pPr>
                <a:r>
                  <a:rPr lang="en-US" dirty="0"/>
                  <a:t>Bond’s value 1Y from now</a:t>
                </a:r>
              </a:p>
            </p:txBody>
          </p:sp>
        </mc:Choice>
        <mc:Fallback xmlns="">
          <p:sp>
            <p:nvSpPr>
              <p:cNvPr id="3" name="Content Placeholder 2">
                <a:extLst>
                  <a:ext uri="{FF2B5EF4-FFF2-40B4-BE49-F238E27FC236}">
                    <a16:creationId xmlns:a16="http://schemas.microsoft.com/office/drawing/2014/main" id="{A3469932-D61D-C9AF-9C98-E278C35891B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28" t="-1777" r="-1565"/>
                </a:stretch>
              </a:blipFill>
            </p:spPr>
            <p:txBody>
              <a:bodyPr/>
              <a:lstStyle/>
              <a:p>
                <a:r>
                  <a:rPr lang="en-US">
                    <a:noFill/>
                  </a:rPr>
                  <a:t> </a:t>
                </a:r>
              </a:p>
            </p:txBody>
          </p:sp>
        </mc:Fallback>
      </mc:AlternateContent>
    </p:spTree>
    <p:extLst>
      <p:ext uri="{BB962C8B-B14F-4D97-AF65-F5344CB8AC3E}">
        <p14:creationId xmlns:p14="http://schemas.microsoft.com/office/powerpoint/2010/main" val="157221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4DC76-DA57-9C27-7988-1F871CF72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0EB71-6BE1-D6B4-8B02-CF548DC456B3}"/>
              </a:ext>
            </a:extLst>
          </p:cNvPr>
          <p:cNvSpPr>
            <a:spLocks noGrp="1"/>
          </p:cNvSpPr>
          <p:nvPr>
            <p:ph type="title"/>
          </p:nvPr>
        </p:nvSpPr>
        <p:spPr>
          <a:xfrm>
            <a:off x="838200" y="365125"/>
            <a:ext cx="10515600" cy="823595"/>
          </a:xfrm>
        </p:spPr>
        <p:txBody>
          <a:bodyPr/>
          <a:lstStyle/>
          <a:p>
            <a:pPr algn="ctr"/>
            <a:r>
              <a:rPr lang="en-US" b="1" dirty="0"/>
              <a:t>Determining the Value at a Node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88E858-E69E-AB00-9D83-AFFF7E38326B}"/>
                  </a:ext>
                </a:extLst>
              </p:cNvPr>
              <p:cNvSpPr>
                <a:spLocks noGrp="1"/>
              </p:cNvSpPr>
              <p:nvPr>
                <p:ph idx="1"/>
              </p:nvPr>
            </p:nvSpPr>
            <p:spPr>
              <a:xfrm>
                <a:off x="838200" y="1348105"/>
                <a:ext cx="10515600" cy="5144770"/>
              </a:xfrm>
            </p:spPr>
            <p:txBody>
              <a:bodyPr>
                <a:normAutofit lnSpcReduction="10000"/>
              </a:bodyPr>
              <a:lstStyle/>
              <a:p>
                <a:r>
                  <a:rPr lang="en-US" u="sng" dirty="0"/>
                  <a:t>Determining the Future Cashflows</a:t>
                </a:r>
                <a:r>
                  <a:rPr lang="en-US" dirty="0"/>
                  <a:t>: The first part is known. The second depends on whether the 1Y rate rises or falls in the coming year.</a:t>
                </a:r>
              </a:p>
              <a:p>
                <a:r>
                  <a:rPr lang="en-US" u="sng" dirty="0"/>
                  <a:t>Bond Values at U/D Scenario #1</a:t>
                </a:r>
                <a:r>
                  <a:rPr lang="en-US" dirty="0"/>
                  <a:t>: The two nodes to the right of any given node show the bond’s value when rates rise or fall.</a:t>
                </a:r>
              </a:p>
              <a:p>
                <a:pPr lvl="0"/>
                <a:r>
                  <a:rPr lang="en-US" u="sng" dirty="0"/>
                  <a:t>Bond Values at U/D Scenario #2</a:t>
                </a:r>
                <a:r>
                  <a:rPr lang="en-US" dirty="0"/>
                  <a:t>: Suppose one intends to sell the bond at the next node date. The cashflow received on that future date will be either:</a:t>
                </a:r>
              </a:p>
              <a:p>
                <a:pPr lvl="1">
                  <a:buFont typeface="Wingdings" panose="05000000000000000000" pitchFamily="2" charset="2"/>
                  <a:buChar char="§"/>
                </a:pPr>
                <a:r>
                  <a:rPr lang="en-US" dirty="0"/>
                  <a:t>Bond’s value if the rates rise plus the coupon payment, OR</a:t>
                </a:r>
              </a:p>
              <a:p>
                <a:pPr lvl="1">
                  <a:buFont typeface="Wingdings" panose="05000000000000000000" pitchFamily="2" charset="2"/>
                  <a:buChar char="§"/>
                </a:pPr>
                <a:r>
                  <a:rPr lang="en-US" dirty="0"/>
                  <a:t>Bond’s value if the rates fall plus the coupon payment</a:t>
                </a:r>
              </a:p>
              <a:p>
                <a:r>
                  <a:rPr lang="en-US" u="sng" dirty="0"/>
                  <a:t>Coupon Contribution at </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𝑁</m:t>
                        </m:r>
                      </m:e>
                      <m:sub>
                        <m:r>
                          <a:rPr lang="en-US" i="1" u="sng">
                            <a:latin typeface="Cambria Math" panose="02040503050406030204" pitchFamily="18" charset="0"/>
                          </a:rPr>
                          <m:t>𝑈𝑈</m:t>
                        </m:r>
                      </m:sub>
                    </m:sSub>
                  </m:oMath>
                </a14:m>
                <a:r>
                  <a:rPr lang="en-US" u="sng" dirty="0"/>
                  <a:t>/</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𝑁</m:t>
                        </m:r>
                      </m:e>
                      <m:sub>
                        <m:r>
                          <a:rPr lang="en-US" i="1" u="sng">
                            <a:latin typeface="Cambria Math" panose="02040503050406030204" pitchFamily="18" charset="0"/>
                          </a:rPr>
                          <m:t>𝑈𝐷</m:t>
                        </m:r>
                      </m:sub>
                    </m:sSub>
                  </m:oMath>
                </a14:m>
                <a:r>
                  <a:rPr lang="en-US" u="sng" dirty="0"/>
                  <a:t>/</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𝑁</m:t>
                        </m:r>
                      </m:e>
                      <m:sub>
                        <m:r>
                          <a:rPr lang="en-US" i="1" u="sng">
                            <a:latin typeface="Cambria Math" panose="02040503050406030204" pitchFamily="18" charset="0"/>
                          </a:rPr>
                          <m:t>𝐷𝐷</m:t>
                        </m:r>
                      </m:sub>
                    </m:sSub>
                  </m:oMath>
                </a14:m>
                <a:r>
                  <a:rPr lang="en-US" dirty="0"/>
                  <a:t>: The bond’s value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m:t>
                        </m:r>
                      </m:sub>
                    </m:sSub>
                  </m:oMath>
                </a14:m>
                <a:r>
                  <a:rPr lang="en-US" dirty="0"/>
                  <a:t>, then, will either be its value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𝑈𝑈</m:t>
                        </m:r>
                      </m:sub>
                    </m:sSub>
                  </m:oMath>
                </a14:m>
                <a:r>
                  <a:rPr lang="en-US" dirty="0"/>
                  <a:t> plus the coupon payment of its value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𝑈𝐷</m:t>
                        </m:r>
                      </m:sub>
                    </m:sSub>
                  </m:oMath>
                </a14:m>
                <a:r>
                  <a:rPr lang="en-US" dirty="0"/>
                  <a:t> plus the coupon payment, discounted.</a:t>
                </a:r>
              </a:p>
            </p:txBody>
          </p:sp>
        </mc:Choice>
        <mc:Fallback xmlns="">
          <p:sp>
            <p:nvSpPr>
              <p:cNvPr id="3" name="Content Placeholder 2">
                <a:extLst>
                  <a:ext uri="{FF2B5EF4-FFF2-40B4-BE49-F238E27FC236}">
                    <a16:creationId xmlns:a16="http://schemas.microsoft.com/office/drawing/2014/main" id="{2788E858-E69E-AB00-9D83-AFFF7E38326B}"/>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1855"/>
                </a:stretch>
              </a:blipFill>
            </p:spPr>
            <p:txBody>
              <a:bodyPr/>
              <a:lstStyle/>
              <a:p>
                <a:r>
                  <a:rPr lang="en-US">
                    <a:noFill/>
                  </a:rPr>
                  <a:t> </a:t>
                </a:r>
              </a:p>
            </p:txBody>
          </p:sp>
        </mc:Fallback>
      </mc:AlternateContent>
    </p:spTree>
    <p:extLst>
      <p:ext uri="{BB962C8B-B14F-4D97-AF65-F5344CB8AC3E}">
        <p14:creationId xmlns:p14="http://schemas.microsoft.com/office/powerpoint/2010/main" val="202029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01FA-94DA-9B52-4799-D7AC6DDF6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55B7B-DC44-F185-46AE-A6A6EC2FB93D}"/>
              </a:ext>
            </a:extLst>
          </p:cNvPr>
          <p:cNvSpPr>
            <a:spLocks noGrp="1"/>
          </p:cNvSpPr>
          <p:nvPr>
            <p:ph type="title"/>
          </p:nvPr>
        </p:nvSpPr>
        <p:spPr>
          <a:xfrm>
            <a:off x="838200" y="365125"/>
            <a:ext cx="10515600" cy="823595"/>
          </a:xfrm>
        </p:spPr>
        <p:txBody>
          <a:bodyPr/>
          <a:lstStyle/>
          <a:p>
            <a:pPr algn="ctr"/>
            <a:r>
              <a:rPr lang="en-US" b="1" dirty="0"/>
              <a:t>Determining the Value at a Node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45A4DA-727B-55EB-A4AC-05CF6251F48B}"/>
                  </a:ext>
                </a:extLst>
              </p:cNvPr>
              <p:cNvSpPr>
                <a:spLocks noGrp="1"/>
              </p:cNvSpPr>
              <p:nvPr>
                <p:ph idx="1"/>
              </p:nvPr>
            </p:nvSpPr>
            <p:spPr>
              <a:xfrm>
                <a:off x="838200" y="1348105"/>
                <a:ext cx="10515600" cy="5144770"/>
              </a:xfrm>
            </p:spPr>
            <p:txBody>
              <a:bodyPr>
                <a:normAutofit lnSpcReduction="10000"/>
              </a:bodyPr>
              <a:lstStyle/>
              <a:p>
                <a:r>
                  <a:rPr lang="en-US" u="sng" dirty="0"/>
                  <a:t>The corresponding Discount Factor</a:t>
                </a:r>
                <a:r>
                  <a:rPr lang="en-US" dirty="0"/>
                  <a:t>: In calculating the PV of the expected future cashflows, the appropriate discount rate is the 1Y rate at the node where one seeks the value.</a:t>
                </a:r>
              </a:p>
              <a:p>
                <a:r>
                  <a:rPr lang="en-US" u="sng" dirty="0"/>
                  <a:t>U/D Specific Discount Rate</a:t>
                </a:r>
                <a:r>
                  <a:rPr lang="en-US" dirty="0"/>
                  <a:t>: Now, here are 2 futures values to discount – the value if the 1Y rate rises over the coming year, or the value if it falls.</a:t>
                </a:r>
              </a:p>
              <a:p>
                <a:r>
                  <a:rPr lang="en-US" u="sng" dirty="0"/>
                  <a:t>Average across Future Values</a:t>
                </a:r>
                <a:r>
                  <a:rPr lang="en-US" dirty="0"/>
                  <a:t>: Assuming both outcomes are equally likely, one can simply average the two future values.</a:t>
                </a:r>
              </a:p>
              <a:p>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𝑟</m:t>
                        </m:r>
                      </m:e>
                      <m:sub>
                        <m:r>
                          <a:rPr lang="en-US" i="1" u="sng">
                            <a:latin typeface="Cambria Math" panose="02040503050406030204" pitchFamily="18" charset="0"/>
                          </a:rPr>
                          <m:t>∗</m:t>
                        </m:r>
                      </m:sub>
                    </m:sSub>
                  </m:oMath>
                </a14:m>
                <a:r>
                  <a:rPr lang="en-US" u="sng" dirty="0"/>
                  <a:t> - the 1Y Rate</a:t>
                </a:r>
                <a:r>
                  <a:rPr lang="en-US" dirty="0"/>
                  <a:t>: Assuming that the 1Y rate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m:t>
                        </m:r>
                      </m:sub>
                    </m:sSub>
                  </m:oMath>
                </a14:m>
                <a:r>
                  <a:rPr lang="en-US" dirty="0"/>
                  <a:t> at the node being valued, the following are set.</a:t>
                </a:r>
              </a:p>
              <a:p>
                <a14:m>
                  <m:oMath xmlns:m="http://schemas.openxmlformats.org/officeDocument/2006/math">
                    <m:r>
                      <a:rPr lang="en-US" i="1" u="sng">
                        <a:latin typeface="Cambria Math" panose="02040503050406030204" pitchFamily="18" charset="0"/>
                      </a:rPr>
                      <m:t>𝑉</m:t>
                    </m:r>
                  </m:oMath>
                </a14:m>
                <a:r>
                  <a:rPr lang="en-US" dirty="0"/>
                  <a:t>: Bond’s value at the node in question.</a:t>
                </a:r>
              </a:p>
              <a:p>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𝑉</m:t>
                        </m:r>
                      </m:e>
                      <m:sub>
                        <m:r>
                          <a:rPr lang="en-US" i="1" u="sng">
                            <a:latin typeface="Cambria Math" panose="02040503050406030204" pitchFamily="18" charset="0"/>
                          </a:rPr>
                          <m:t>0</m:t>
                        </m:r>
                      </m:sub>
                    </m:sSub>
                  </m:oMath>
                </a14:m>
                <a:r>
                  <a:rPr lang="en-US" dirty="0"/>
                  <a:t>: Bond’s value in 1Y if the 1Y rate falls</a:t>
                </a:r>
              </a:p>
            </p:txBody>
          </p:sp>
        </mc:Choice>
        <mc:Fallback xmlns="">
          <p:sp>
            <p:nvSpPr>
              <p:cNvPr id="3" name="Content Placeholder 2">
                <a:extLst>
                  <a:ext uri="{FF2B5EF4-FFF2-40B4-BE49-F238E27FC236}">
                    <a16:creationId xmlns:a16="http://schemas.microsoft.com/office/drawing/2014/main" id="{EF45A4DA-727B-55EB-A4AC-05CF6251F48B}"/>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a:stretch>
              </a:blipFill>
            </p:spPr>
            <p:txBody>
              <a:bodyPr/>
              <a:lstStyle/>
              <a:p>
                <a:r>
                  <a:rPr lang="en-US">
                    <a:noFill/>
                  </a:rPr>
                  <a:t> </a:t>
                </a:r>
              </a:p>
            </p:txBody>
          </p:sp>
        </mc:Fallback>
      </mc:AlternateContent>
    </p:spTree>
    <p:extLst>
      <p:ext uri="{BB962C8B-B14F-4D97-AF65-F5344CB8AC3E}">
        <p14:creationId xmlns:p14="http://schemas.microsoft.com/office/powerpoint/2010/main" val="3862409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9D00D-1DE5-720D-5EB9-23C75F289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CDE16-2C38-A4C3-C45D-AE0675183730}"/>
              </a:ext>
            </a:extLst>
          </p:cNvPr>
          <p:cNvSpPr>
            <a:spLocks noGrp="1"/>
          </p:cNvSpPr>
          <p:nvPr>
            <p:ph type="title"/>
          </p:nvPr>
        </p:nvSpPr>
        <p:spPr>
          <a:xfrm>
            <a:off x="838200" y="365125"/>
            <a:ext cx="10515600" cy="823595"/>
          </a:xfrm>
        </p:spPr>
        <p:txBody>
          <a:bodyPr/>
          <a:lstStyle/>
          <a:p>
            <a:pPr algn="ctr"/>
            <a:r>
              <a:rPr lang="en-US" b="1" dirty="0"/>
              <a:t>Determining the Value at a Node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3722E6-A2A4-6293-73CC-1B7936A49630}"/>
                  </a:ext>
                </a:extLst>
              </p:cNvPr>
              <p:cNvSpPr>
                <a:spLocks noGrp="1"/>
              </p:cNvSpPr>
              <p:nvPr>
                <p:ph idx="1"/>
              </p:nvPr>
            </p:nvSpPr>
            <p:spPr>
              <a:xfrm>
                <a:off x="838200" y="1348105"/>
                <a:ext cx="10515600" cy="5144770"/>
              </a:xfrm>
            </p:spPr>
            <p:txBody>
              <a:bodyPr>
                <a:normAutofit/>
              </a:bodyPr>
              <a:lstStyle/>
              <a:p>
                <a14:m>
                  <m:oMath xmlns:m="http://schemas.openxmlformats.org/officeDocument/2006/math">
                    <m:r>
                      <a:rPr lang="en-US" i="1" u="sng">
                        <a:latin typeface="Cambria Math" panose="02040503050406030204" pitchFamily="18" charset="0"/>
                      </a:rPr>
                      <m:t>𝐶</m:t>
                    </m:r>
                  </m:oMath>
                </a14:m>
                <a:r>
                  <a:rPr lang="en-US" dirty="0"/>
                  <a:t>: The coupon Payment</a:t>
                </a:r>
              </a:p>
              <a:p>
                <a:r>
                  <a:rPr lang="en-US" u="sng" dirty="0"/>
                  <a:t>Up/Down Cashflows</a:t>
                </a:r>
                <a:r>
                  <a:rPr lang="en-US" dirty="0"/>
                  <a:t>: The cashflow at a node is either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𝑈</m:t>
                        </m:r>
                      </m:sub>
                    </m:sSub>
                    <m:r>
                      <a:rPr lang="en-US" i="1">
                        <a:latin typeface="Cambria Math" panose="02040503050406030204" pitchFamily="18" charset="0"/>
                      </a:rPr>
                      <m:t>+</m:t>
                    </m:r>
                    <m:r>
                      <a:rPr lang="en-US" i="1">
                        <a:latin typeface="Cambria Math" panose="02040503050406030204" pitchFamily="18" charset="0"/>
                      </a:rPr>
                      <m:t>𝐶</m:t>
                    </m:r>
                  </m:oMath>
                </a14:m>
                <a:r>
                  <a:rPr lang="en-US" dirty="0"/>
                  <a:t> if the 1Y rate rises 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m:t>
                        </m:r>
                      </m:sub>
                    </m:sSub>
                    <m:r>
                      <a:rPr lang="en-US" i="1">
                        <a:latin typeface="Cambria Math" panose="02040503050406030204" pitchFamily="18" charset="0"/>
                      </a:rPr>
                      <m:t>+</m:t>
                    </m:r>
                    <m:r>
                      <a:rPr lang="en-US" i="1">
                        <a:latin typeface="Cambria Math" panose="02040503050406030204" pitchFamily="18" charset="0"/>
                      </a:rPr>
                      <m:t>𝐶</m:t>
                    </m:r>
                  </m:oMath>
                </a14:m>
                <a:r>
                  <a:rPr lang="en-US" dirty="0"/>
                  <a:t> if the 1Y rate falls.</a:t>
                </a:r>
              </a:p>
              <a:p>
                <a:r>
                  <a:rPr lang="en-US" u="sng" dirty="0"/>
                  <a:t>PV at the U/D Scenarios</a:t>
                </a:r>
                <a:r>
                  <a:rPr lang="en-US" dirty="0"/>
                  <a:t>: The PVs for the 2 cashflows, using the 1Y rate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m:t>
                        </m:r>
                      </m:sub>
                    </m:sSub>
                  </m:oMath>
                </a14:m>
                <a:r>
                  <a:rPr lang="en-US" dirty="0"/>
                  <a:t> at the node, are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𝑈</m:t>
                            </m:r>
                          </m:sub>
                        </m:sSub>
                        <m:r>
                          <a:rPr lang="en-US" i="1">
                            <a:latin typeface="Cambria Math" panose="02040503050406030204" pitchFamily="18" charset="0"/>
                          </a:rPr>
                          <m:t>+</m:t>
                        </m:r>
                        <m:r>
                          <a:rPr lang="en-US" i="1">
                            <a:latin typeface="Cambria Math" panose="02040503050406030204" pitchFamily="18" charset="0"/>
                          </a:rPr>
                          <m:t>𝐶</m:t>
                        </m:r>
                      </m:num>
                      <m:den>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m:t>
                            </m:r>
                          </m:sub>
                        </m:sSub>
                      </m:den>
                    </m:f>
                  </m:oMath>
                </a14:m>
                <a:r>
                  <a:rPr lang="en-US" dirty="0"/>
                  <a:t> if the 1Y rate rises and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m:t>
                            </m:r>
                          </m:sub>
                        </m:sSub>
                        <m:r>
                          <a:rPr lang="en-US" i="1">
                            <a:latin typeface="Cambria Math" panose="02040503050406030204" pitchFamily="18" charset="0"/>
                          </a:rPr>
                          <m:t>+</m:t>
                        </m:r>
                        <m:r>
                          <a:rPr lang="en-US" i="1">
                            <a:latin typeface="Cambria Math" panose="02040503050406030204" pitchFamily="18" charset="0"/>
                          </a:rPr>
                          <m:t>𝐶</m:t>
                        </m:r>
                      </m:num>
                      <m:den>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m:t>
                            </m:r>
                          </m:sub>
                        </m:sSub>
                      </m:den>
                    </m:f>
                  </m:oMath>
                </a14:m>
                <a:r>
                  <a:rPr lang="en-US" dirty="0"/>
                  <a:t> if the 1Y rate falls.</a:t>
                </a:r>
              </a:p>
              <a:p>
                <a:r>
                  <a:rPr lang="en-US" u="sng" dirty="0"/>
                  <a:t>Average across the Scenarios</a:t>
                </a:r>
                <a:r>
                  <a:rPr lang="en-US" dirty="0"/>
                  <a:t>: The value of the bond at the node is then found as follows: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𝑉</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𝑈</m:t>
                                  </m:r>
                                </m:sub>
                              </m:sSub>
                              <m:r>
                                <a:rPr lang="en-US" i="1">
                                  <a:latin typeface="Cambria Math" panose="02040503050406030204" pitchFamily="18" charset="0"/>
                                </a:rPr>
                                <m:t>+</m:t>
                              </m:r>
                              <m:r>
                                <a:rPr lang="en-US" i="1">
                                  <a:latin typeface="Cambria Math" panose="02040503050406030204" pitchFamily="18" charset="0"/>
                                </a:rPr>
                                <m:t>𝐶</m:t>
                              </m:r>
                            </m:num>
                            <m:den>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m:t>
                                  </m:r>
                                </m:sub>
                              </m:sSub>
                              <m:r>
                                <a:rPr lang="en-US" i="1">
                                  <a:latin typeface="Cambria Math" panose="02040503050406030204" pitchFamily="18" charset="0"/>
                                </a:rPr>
                                <m:t>+</m:t>
                              </m:r>
                              <m:r>
                                <a:rPr lang="en-US" i="1">
                                  <a:latin typeface="Cambria Math" panose="02040503050406030204" pitchFamily="18" charset="0"/>
                                </a:rPr>
                                <m:t>𝐶</m:t>
                              </m:r>
                            </m:num>
                            <m:den>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m:t>
                                  </m:r>
                                </m:sub>
                              </m:sSub>
                            </m:den>
                          </m:f>
                        </m:e>
                      </m:d>
                    </m:oMath>
                  </m:oMathPara>
                </a14:m>
                <a:endParaRPr lang="en-US" dirty="0"/>
              </a:p>
            </p:txBody>
          </p:sp>
        </mc:Choice>
        <mc:Fallback xmlns="">
          <p:sp>
            <p:nvSpPr>
              <p:cNvPr id="3" name="Content Placeholder 2">
                <a:extLst>
                  <a:ext uri="{FF2B5EF4-FFF2-40B4-BE49-F238E27FC236}">
                    <a16:creationId xmlns:a16="http://schemas.microsoft.com/office/drawing/2014/main" id="{3D3722E6-A2A4-6293-73CC-1B7936A4963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1449"/>
                </a:stretch>
              </a:blipFill>
            </p:spPr>
            <p:txBody>
              <a:bodyPr/>
              <a:lstStyle/>
              <a:p>
                <a:r>
                  <a:rPr lang="en-US">
                    <a:noFill/>
                  </a:rPr>
                  <a:t> </a:t>
                </a:r>
              </a:p>
            </p:txBody>
          </p:sp>
        </mc:Fallback>
      </mc:AlternateContent>
    </p:spTree>
    <p:extLst>
      <p:ext uri="{BB962C8B-B14F-4D97-AF65-F5344CB8AC3E}">
        <p14:creationId xmlns:p14="http://schemas.microsoft.com/office/powerpoint/2010/main" val="3838840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35E9-7A98-380A-BDE9-FAE86B5E0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83B70-FF12-708C-9A10-2C753875C952}"/>
              </a:ext>
            </a:extLst>
          </p:cNvPr>
          <p:cNvSpPr>
            <a:spLocks noGrp="1"/>
          </p:cNvSpPr>
          <p:nvPr>
            <p:ph type="title"/>
          </p:nvPr>
        </p:nvSpPr>
        <p:spPr>
          <a:xfrm>
            <a:off x="838200" y="365125"/>
            <a:ext cx="10515600" cy="823595"/>
          </a:xfrm>
        </p:spPr>
        <p:txBody>
          <a:bodyPr/>
          <a:lstStyle/>
          <a:p>
            <a:pPr algn="ctr"/>
            <a:r>
              <a:rPr lang="en-US" b="1" dirty="0"/>
              <a:t>Constructing a Binomial Interest Rate Tree</a:t>
            </a:r>
          </a:p>
        </p:txBody>
      </p:sp>
      <p:pic>
        <p:nvPicPr>
          <p:cNvPr id="4" name="Content Placeholder 3">
            <a:extLst>
              <a:ext uri="{FF2B5EF4-FFF2-40B4-BE49-F238E27FC236}">
                <a16:creationId xmlns:a16="http://schemas.microsoft.com/office/drawing/2014/main" id="{E955B6B0-4092-CD54-4F1A-7B9D82A1C802}"/>
              </a:ext>
            </a:extLst>
          </p:cNvPr>
          <p:cNvPicPr>
            <a:picLocks noGrp="1" noChangeAspect="1"/>
          </p:cNvPicPr>
          <p:nvPr>
            <p:ph idx="1"/>
          </p:nvPr>
        </p:nvPicPr>
        <p:blipFill>
          <a:blip r:embed="rId2"/>
          <a:stretch>
            <a:fillRect/>
          </a:stretch>
        </p:blipFill>
        <p:spPr>
          <a:xfrm>
            <a:off x="3095442" y="1347788"/>
            <a:ext cx="6001115" cy="5145087"/>
          </a:xfrm>
          <a:prstGeom prst="rect">
            <a:avLst/>
          </a:prstGeom>
        </p:spPr>
      </p:pic>
    </p:spTree>
    <p:extLst>
      <p:ext uri="{BB962C8B-B14F-4D97-AF65-F5344CB8AC3E}">
        <p14:creationId xmlns:p14="http://schemas.microsoft.com/office/powerpoint/2010/main" val="117214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B5E00-15B0-8C3C-1B20-F9D47538D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2524B-829A-042E-2401-2C639F5A95C5}"/>
              </a:ext>
            </a:extLst>
          </p:cNvPr>
          <p:cNvSpPr>
            <a:spLocks noGrp="1"/>
          </p:cNvSpPr>
          <p:nvPr>
            <p:ph type="title"/>
          </p:nvPr>
        </p:nvSpPr>
        <p:spPr>
          <a:xfrm>
            <a:off x="838200" y="365125"/>
            <a:ext cx="10515600" cy="1209675"/>
          </a:xfrm>
        </p:spPr>
        <p:txBody>
          <a:bodyPr>
            <a:noAutofit/>
          </a:bodyPr>
          <a:lstStyle/>
          <a:p>
            <a:pPr algn="ctr"/>
            <a:r>
              <a:rPr lang="en-US" b="1" dirty="0"/>
              <a:t>Constructing a Binomial Interest Rate Tree (continued)</a:t>
            </a:r>
          </a:p>
        </p:txBody>
      </p:sp>
      <p:pic>
        <p:nvPicPr>
          <p:cNvPr id="8" name="Picture 7">
            <a:extLst>
              <a:ext uri="{FF2B5EF4-FFF2-40B4-BE49-F238E27FC236}">
                <a16:creationId xmlns:a16="http://schemas.microsoft.com/office/drawing/2014/main" id="{AA89B9F6-3F4A-0A84-BB6B-6EADB9A1420B}"/>
              </a:ext>
            </a:extLst>
          </p:cNvPr>
          <p:cNvPicPr>
            <a:picLocks noChangeAspect="1"/>
          </p:cNvPicPr>
          <p:nvPr/>
        </p:nvPicPr>
        <p:blipFill>
          <a:blip r:embed="rId2"/>
          <a:stretch>
            <a:fillRect/>
          </a:stretch>
        </p:blipFill>
        <p:spPr>
          <a:xfrm>
            <a:off x="1381760" y="1656080"/>
            <a:ext cx="8707120" cy="4730432"/>
          </a:xfrm>
          <a:prstGeom prst="rect">
            <a:avLst/>
          </a:prstGeom>
        </p:spPr>
      </p:pic>
    </p:spTree>
    <p:extLst>
      <p:ext uri="{BB962C8B-B14F-4D97-AF65-F5344CB8AC3E}">
        <p14:creationId xmlns:p14="http://schemas.microsoft.com/office/powerpoint/2010/main" val="2105553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18E11-F8DC-87CF-2BDF-AAE2FB4CA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2E09C-F333-F5CC-4927-EFA79AE81F8B}"/>
              </a:ext>
            </a:extLst>
          </p:cNvPr>
          <p:cNvSpPr>
            <a:spLocks noGrp="1"/>
          </p:cNvSpPr>
          <p:nvPr>
            <p:ph type="title"/>
          </p:nvPr>
        </p:nvSpPr>
        <p:spPr>
          <a:xfrm>
            <a:off x="838200" y="365125"/>
            <a:ext cx="10515600" cy="823595"/>
          </a:xfrm>
        </p:spPr>
        <p:txBody>
          <a:bodyPr/>
          <a:lstStyle/>
          <a:p>
            <a:pPr algn="ctr"/>
            <a:r>
              <a:rPr lang="en-US" b="1" dirty="0"/>
              <a:t>Using the Binomial Tree</a:t>
            </a:r>
          </a:p>
        </p:txBody>
      </p:sp>
      <p:pic>
        <p:nvPicPr>
          <p:cNvPr id="6" name="Picture 5">
            <a:extLst>
              <a:ext uri="{FF2B5EF4-FFF2-40B4-BE49-F238E27FC236}">
                <a16:creationId xmlns:a16="http://schemas.microsoft.com/office/drawing/2014/main" id="{55D97EDE-3D29-1309-D614-F79870B86EC2}"/>
              </a:ext>
            </a:extLst>
          </p:cNvPr>
          <p:cNvPicPr>
            <a:picLocks noChangeAspect="1"/>
          </p:cNvPicPr>
          <p:nvPr/>
        </p:nvPicPr>
        <p:blipFill>
          <a:blip r:embed="rId2"/>
          <a:stretch>
            <a:fillRect/>
          </a:stretch>
        </p:blipFill>
        <p:spPr>
          <a:xfrm>
            <a:off x="3328987" y="1625599"/>
            <a:ext cx="5534025" cy="4727575"/>
          </a:xfrm>
          <a:prstGeom prst="rect">
            <a:avLst/>
          </a:prstGeom>
        </p:spPr>
      </p:pic>
    </p:spTree>
    <p:extLst>
      <p:ext uri="{BB962C8B-B14F-4D97-AF65-F5344CB8AC3E}">
        <p14:creationId xmlns:p14="http://schemas.microsoft.com/office/powerpoint/2010/main" val="4222294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8AFF-000E-E39F-0F24-2BB574748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108E1-C9FC-4AD9-DB4D-978CD3FA8E94}"/>
              </a:ext>
            </a:extLst>
          </p:cNvPr>
          <p:cNvSpPr>
            <a:spLocks noGrp="1"/>
          </p:cNvSpPr>
          <p:nvPr>
            <p:ph type="title"/>
          </p:nvPr>
        </p:nvSpPr>
        <p:spPr>
          <a:xfrm>
            <a:off x="838200" y="365125"/>
            <a:ext cx="10515600" cy="823595"/>
          </a:xfrm>
        </p:spPr>
        <p:txBody>
          <a:bodyPr/>
          <a:lstStyle/>
          <a:p>
            <a:pPr algn="ctr"/>
            <a:r>
              <a:rPr lang="en-US" b="1" dirty="0"/>
              <a:t>Valuing a Callable Bond</a:t>
            </a:r>
          </a:p>
        </p:txBody>
      </p:sp>
      <p:pic>
        <p:nvPicPr>
          <p:cNvPr id="3" name="Picture 2">
            <a:extLst>
              <a:ext uri="{FF2B5EF4-FFF2-40B4-BE49-F238E27FC236}">
                <a16:creationId xmlns:a16="http://schemas.microsoft.com/office/drawing/2014/main" id="{8D8662AF-114F-F45B-5974-6D0A451912C3}"/>
              </a:ext>
            </a:extLst>
          </p:cNvPr>
          <p:cNvPicPr>
            <a:picLocks noChangeAspect="1"/>
          </p:cNvPicPr>
          <p:nvPr/>
        </p:nvPicPr>
        <p:blipFill>
          <a:blip r:embed="rId2"/>
          <a:stretch>
            <a:fillRect/>
          </a:stretch>
        </p:blipFill>
        <p:spPr>
          <a:xfrm>
            <a:off x="3343275" y="1666240"/>
            <a:ext cx="5505450" cy="4715510"/>
          </a:xfrm>
          <a:prstGeom prst="rect">
            <a:avLst/>
          </a:prstGeom>
        </p:spPr>
      </p:pic>
    </p:spTree>
    <p:extLst>
      <p:ext uri="{BB962C8B-B14F-4D97-AF65-F5344CB8AC3E}">
        <p14:creationId xmlns:p14="http://schemas.microsoft.com/office/powerpoint/2010/main" val="2862116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F95D2-624F-D65F-B24E-A8394ED28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BB81B-236E-06EF-BAB8-1050E1FF3279}"/>
              </a:ext>
            </a:extLst>
          </p:cNvPr>
          <p:cNvSpPr>
            <a:spLocks noGrp="1"/>
          </p:cNvSpPr>
          <p:nvPr>
            <p:ph type="title"/>
          </p:nvPr>
        </p:nvSpPr>
        <p:spPr>
          <a:xfrm>
            <a:off x="838200" y="365125"/>
            <a:ext cx="10515600" cy="823595"/>
          </a:xfrm>
        </p:spPr>
        <p:txBody>
          <a:bodyPr/>
          <a:lstStyle/>
          <a:p>
            <a:pPr algn="ctr"/>
            <a:r>
              <a:rPr lang="en-US" b="1" dirty="0"/>
              <a:t>Transaction Costs</a:t>
            </a:r>
          </a:p>
        </p:txBody>
      </p:sp>
      <p:sp>
        <p:nvSpPr>
          <p:cNvPr id="3" name="Content Placeholder 2">
            <a:extLst>
              <a:ext uri="{FF2B5EF4-FFF2-40B4-BE49-F238E27FC236}">
                <a16:creationId xmlns:a16="http://schemas.microsoft.com/office/drawing/2014/main" id="{A5438744-6575-74AA-D46F-6C7A9C2CFE0F}"/>
              </a:ext>
            </a:extLst>
          </p:cNvPr>
          <p:cNvSpPr>
            <a:spLocks noGrp="1"/>
          </p:cNvSpPr>
          <p:nvPr>
            <p:ph idx="1"/>
          </p:nvPr>
        </p:nvSpPr>
        <p:spPr>
          <a:xfrm>
            <a:off x="838200" y="1348105"/>
            <a:ext cx="10515600" cy="5144770"/>
          </a:xfrm>
        </p:spPr>
        <p:txBody>
          <a:bodyPr>
            <a:normAutofit lnSpcReduction="10000"/>
          </a:bodyPr>
          <a:lstStyle/>
          <a:p>
            <a:r>
              <a:rPr lang="en-US" u="sng" dirty="0"/>
              <a:t>Refinancing Costs on a Call</a:t>
            </a:r>
            <a:r>
              <a:rPr lang="en-US" dirty="0"/>
              <a:t>: When an issuer calls a bond, the debt is generally refinanced. The issuer will, in general, incur transaction costs in the refinancing.</a:t>
            </a:r>
          </a:p>
          <a:p>
            <a:r>
              <a:rPr lang="en-US" u="sng" dirty="0"/>
              <a:t>Incorporating these Costs in the Tree</a:t>
            </a:r>
            <a:r>
              <a:rPr lang="en-US" dirty="0"/>
              <a:t>: These costs may be injected into the valuation model by scaling up the call price appropriately.</a:t>
            </a:r>
          </a:p>
          <a:p>
            <a:r>
              <a:rPr lang="en-US" u="sng" dirty="0"/>
              <a:t>The Corresponding Call Economics</a:t>
            </a:r>
            <a:r>
              <a:rPr lang="en-US" dirty="0"/>
              <a:t>: It would be imprudent for an issuer to exercise a call option unless the NPV savings realized by calling the bond represented a substantial fraction of the forfeited option value, i.e., unless the intrinsic value of the call option dominated its incremental time value.</a:t>
            </a:r>
          </a:p>
          <a:p>
            <a:r>
              <a:rPr lang="en-US" u="sng" dirty="0"/>
              <a:t>Transaction Costs at Every Call</a:t>
            </a:r>
            <a:r>
              <a:rPr lang="en-US" dirty="0"/>
              <a:t>: By including transaction costs in every option-exercise decision, one obtains an option-adjusted value that does not penalize re-funding.</a:t>
            </a:r>
          </a:p>
        </p:txBody>
      </p:sp>
    </p:spTree>
    <p:extLst>
      <p:ext uri="{BB962C8B-B14F-4D97-AF65-F5344CB8AC3E}">
        <p14:creationId xmlns:p14="http://schemas.microsoft.com/office/powerpoint/2010/main" val="103187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542EE-790F-F35D-9111-3D78CE7C4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A2087-543C-D80D-6029-1199F5D36B43}"/>
              </a:ext>
            </a:extLst>
          </p:cNvPr>
          <p:cNvSpPr>
            <a:spLocks noGrp="1"/>
          </p:cNvSpPr>
          <p:nvPr>
            <p:ph type="title"/>
          </p:nvPr>
        </p:nvSpPr>
        <p:spPr>
          <a:xfrm>
            <a:off x="838200" y="365125"/>
            <a:ext cx="10515600" cy="823595"/>
          </a:xfrm>
        </p:spPr>
        <p:txBody>
          <a:bodyPr/>
          <a:lstStyle/>
          <a:p>
            <a:pPr algn="ctr"/>
            <a:r>
              <a:rPr lang="en-US" b="1" dirty="0"/>
              <a:t>Transaction Costs (continued)</a:t>
            </a:r>
          </a:p>
        </p:txBody>
      </p:sp>
      <p:sp>
        <p:nvSpPr>
          <p:cNvPr id="3" name="Content Placeholder 2">
            <a:extLst>
              <a:ext uri="{FF2B5EF4-FFF2-40B4-BE49-F238E27FC236}">
                <a16:creationId xmlns:a16="http://schemas.microsoft.com/office/drawing/2014/main" id="{9743B33D-EE5B-8B10-BE85-2D288E01FC86}"/>
              </a:ext>
            </a:extLst>
          </p:cNvPr>
          <p:cNvSpPr>
            <a:spLocks noGrp="1"/>
          </p:cNvSpPr>
          <p:nvPr>
            <p:ph idx="1"/>
          </p:nvPr>
        </p:nvSpPr>
        <p:spPr>
          <a:xfrm>
            <a:off x="838200" y="1348105"/>
            <a:ext cx="10515600" cy="5144770"/>
          </a:xfrm>
        </p:spPr>
        <p:txBody>
          <a:bodyPr>
            <a:normAutofit/>
          </a:bodyPr>
          <a:lstStyle/>
          <a:p>
            <a:r>
              <a:rPr lang="en-US" u="sng" dirty="0"/>
              <a:t>Debt Refinancing at Maturity</a:t>
            </a:r>
            <a:r>
              <a:rPr lang="en-US" dirty="0"/>
              <a:t>: One must consider, however, what will happen at the final maturity. Debt is rarely extinguished at maturity; it is generally refinanced, again with transaction expenses.</a:t>
            </a:r>
          </a:p>
          <a:p>
            <a:r>
              <a:rPr lang="en-US" u="sng" dirty="0"/>
              <a:t>Need to Incorporate this Refinancing</a:t>
            </a:r>
            <a:r>
              <a:rPr lang="en-US" dirty="0"/>
              <a:t>: Failure to include these costs at maturity will penalize the decision to exercise the call option on a bond close to maturity.</a:t>
            </a:r>
          </a:p>
          <a:p>
            <a:pPr marL="0" indent="0">
              <a:buNone/>
            </a:pPr>
            <a:endParaRPr lang="en-US" dirty="0"/>
          </a:p>
        </p:txBody>
      </p:sp>
    </p:spTree>
    <p:extLst>
      <p:ext uri="{BB962C8B-B14F-4D97-AF65-F5344CB8AC3E}">
        <p14:creationId xmlns:p14="http://schemas.microsoft.com/office/powerpoint/2010/main" val="3351086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CDFD6-5564-622E-628D-AEC5FCD5A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EC440-ED93-408F-8B65-AED3C9F42CCD}"/>
              </a:ext>
            </a:extLst>
          </p:cNvPr>
          <p:cNvSpPr>
            <a:spLocks noGrp="1"/>
          </p:cNvSpPr>
          <p:nvPr>
            <p:ph type="title"/>
          </p:nvPr>
        </p:nvSpPr>
        <p:spPr>
          <a:xfrm>
            <a:off x="838200" y="365125"/>
            <a:ext cx="10515600" cy="823595"/>
          </a:xfrm>
        </p:spPr>
        <p:txBody>
          <a:bodyPr/>
          <a:lstStyle/>
          <a:p>
            <a:pPr algn="ctr"/>
            <a:r>
              <a:rPr lang="en-US" b="1" dirty="0"/>
              <a:t>Other Embedded Options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9E2CC4-5DA7-388E-9C87-06F4E80B8EE2}"/>
                  </a:ext>
                </a:extLst>
              </p:cNvPr>
              <p:cNvSpPr>
                <a:spLocks noGrp="1"/>
              </p:cNvSpPr>
              <p:nvPr>
                <p:ph idx="1"/>
              </p:nvPr>
            </p:nvSpPr>
            <p:spPr>
              <a:xfrm>
                <a:off x="838200" y="1348105"/>
                <a:ext cx="10515600" cy="5144770"/>
              </a:xfrm>
            </p:spPr>
            <p:txBody>
              <a:bodyPr>
                <a:noAutofit/>
              </a:bodyPr>
              <a:lstStyle/>
              <a:p>
                <a:r>
                  <a:rPr lang="en-US" sz="2300" u="sng" dirty="0"/>
                  <a:t>Valuing Elaborate Payoffs on a Tree</a:t>
                </a:r>
                <a:r>
                  <a:rPr lang="en-US" sz="2300" dirty="0"/>
                  <a:t>: The bond valuation framework presented here can be used to analyze securities such as puttable bonds, options on interest-rate swaps, caps, and floors on floating notes, and the optional accelerated redemption granted to an issuer in fulfilling sinking fund requirements.</a:t>
                </a:r>
              </a:p>
              <a:p>
                <a:r>
                  <a:rPr lang="en-US" sz="2300" u="sng" dirty="0"/>
                  <a:t>Value of the Put option - Expression</a:t>
                </a:r>
                <a:r>
                  <a:rPr lang="en-US" sz="2300" dirty="0"/>
                  <a:t>: As the value of a non-puttable can be expressed as the value of a puttable bond minus the value of the put option on the bond:</a:t>
                </a:r>
              </a:p>
              <a:p>
                <a:pPr marL="0" indent="0">
                  <a:buNone/>
                </a:pPr>
                <a:endParaRPr lang="en-US" sz="2300" dirty="0"/>
              </a:p>
              <a:p>
                <a:pPr marL="0" indent="0">
                  <a:buNone/>
                </a:pPr>
                <a14:m>
                  <m:oMathPara xmlns:m="http://schemas.openxmlformats.org/officeDocument/2006/math">
                    <m:oMathParaPr>
                      <m:jc m:val="center"/>
                    </m:oMathParaPr>
                    <m:oMath xmlns:m="http://schemas.openxmlformats.org/officeDocument/2006/math">
                      <m:r>
                        <a:rPr lang="en-US" sz="2300" i="1">
                          <a:latin typeface="Cambria Math" panose="02040503050406030204" pitchFamily="18" charset="0"/>
                        </a:rPr>
                        <m:t>𝑉𝑎𝑙𝑢𝑒</m:t>
                      </m:r>
                      <m:r>
                        <a:rPr lang="en-US" sz="2300" i="1">
                          <a:latin typeface="Cambria Math" panose="02040503050406030204" pitchFamily="18" charset="0"/>
                        </a:rPr>
                        <m:t> </m:t>
                      </m:r>
                      <m:r>
                        <a:rPr lang="en-US" sz="2300" i="1">
                          <a:latin typeface="Cambria Math" panose="02040503050406030204" pitchFamily="18" charset="0"/>
                        </a:rPr>
                        <m:t>𝑜𝑓</m:t>
                      </m:r>
                      <m:r>
                        <a:rPr lang="en-US" sz="2300" i="1">
                          <a:latin typeface="Cambria Math" panose="02040503050406030204" pitchFamily="18" charset="0"/>
                        </a:rPr>
                        <m:t> </m:t>
                      </m:r>
                      <m:r>
                        <a:rPr lang="en-US" sz="2300" i="1">
                          <a:latin typeface="Cambria Math" panose="02040503050406030204" pitchFamily="18" charset="0"/>
                        </a:rPr>
                        <m:t>𝑃𝑢𝑡</m:t>
                      </m:r>
                      <m:r>
                        <a:rPr lang="en-US" sz="2300" i="1">
                          <a:latin typeface="Cambria Math" panose="02040503050406030204" pitchFamily="18" charset="0"/>
                        </a:rPr>
                        <m:t> </m:t>
                      </m:r>
                      <m:r>
                        <a:rPr lang="en-US" sz="2300" i="1">
                          <a:latin typeface="Cambria Math" panose="02040503050406030204" pitchFamily="18" charset="0"/>
                        </a:rPr>
                        <m:t>𝑂𝑝𝑡𝑖𝑜𝑛</m:t>
                      </m:r>
                      <m:r>
                        <a:rPr lang="en-US" sz="2300" i="1">
                          <a:latin typeface="Cambria Math" panose="02040503050406030204" pitchFamily="18" charset="0"/>
                        </a:rPr>
                        <m:t>=</m:t>
                      </m:r>
                      <m:r>
                        <a:rPr lang="en-US" sz="2300" i="1">
                          <a:latin typeface="Cambria Math" panose="02040503050406030204" pitchFamily="18" charset="0"/>
                        </a:rPr>
                        <m:t>𝑉𝑎𝑙𝑢𝑒</m:t>
                      </m:r>
                      <m:r>
                        <a:rPr lang="en-US" sz="2300" i="1">
                          <a:latin typeface="Cambria Math" panose="02040503050406030204" pitchFamily="18" charset="0"/>
                        </a:rPr>
                        <m:t> </m:t>
                      </m:r>
                      <m:r>
                        <a:rPr lang="en-US" sz="2300" i="1">
                          <a:latin typeface="Cambria Math" panose="02040503050406030204" pitchFamily="18" charset="0"/>
                        </a:rPr>
                        <m:t>𝑜𝑓</m:t>
                      </m:r>
                      <m:r>
                        <a:rPr lang="en-US" sz="2300" i="1">
                          <a:latin typeface="Cambria Math" panose="02040503050406030204" pitchFamily="18" charset="0"/>
                        </a:rPr>
                        <m:t> </m:t>
                      </m:r>
                      <m:r>
                        <a:rPr lang="en-US" sz="2300" i="1">
                          <a:latin typeface="Cambria Math" panose="02040503050406030204" pitchFamily="18" charset="0"/>
                        </a:rPr>
                        <m:t>𝑂𝑝𝑡𝑖𝑜𝑛</m:t>
                      </m:r>
                      <m:r>
                        <a:rPr lang="en-US" sz="2300" i="1">
                          <a:latin typeface="Cambria Math" panose="02040503050406030204" pitchFamily="18" charset="0"/>
                        </a:rPr>
                        <m:t> </m:t>
                      </m:r>
                      <m:r>
                        <a:rPr lang="en-US" sz="2300" i="1">
                          <a:latin typeface="Cambria Math" panose="02040503050406030204" pitchFamily="18" charset="0"/>
                        </a:rPr>
                        <m:t>𝑓𝑟𝑒𝑒</m:t>
                      </m:r>
                      <m:r>
                        <a:rPr lang="en-US" sz="2300" i="1">
                          <a:latin typeface="Cambria Math" panose="02040503050406030204" pitchFamily="18" charset="0"/>
                        </a:rPr>
                        <m:t> </m:t>
                      </m:r>
                      <m:r>
                        <a:rPr lang="en-US" sz="2300" i="1">
                          <a:latin typeface="Cambria Math" panose="02040503050406030204" pitchFamily="18" charset="0"/>
                        </a:rPr>
                        <m:t>𝐵𝑜𝑛𝑑</m:t>
                      </m:r>
                      <m:r>
                        <a:rPr lang="en-US" sz="2300" i="1">
                          <a:latin typeface="Cambria Math" panose="02040503050406030204" pitchFamily="18" charset="0"/>
                        </a:rPr>
                        <m:t>−</m:t>
                      </m:r>
                      <m:r>
                        <a:rPr lang="en-US" sz="2300" i="1">
                          <a:latin typeface="Cambria Math" panose="02040503050406030204" pitchFamily="18" charset="0"/>
                        </a:rPr>
                        <m:t>𝑉𝑎𝑙𝑢𝑒</m:t>
                      </m:r>
                      <m:r>
                        <a:rPr lang="en-US" sz="2300" i="1">
                          <a:latin typeface="Cambria Math" panose="02040503050406030204" pitchFamily="18" charset="0"/>
                        </a:rPr>
                        <m:t> </m:t>
                      </m:r>
                      <m:r>
                        <a:rPr lang="en-US" sz="2300" i="1">
                          <a:latin typeface="Cambria Math" panose="02040503050406030204" pitchFamily="18" charset="0"/>
                        </a:rPr>
                        <m:t>𝑜𝑓</m:t>
                      </m:r>
                      <m:r>
                        <a:rPr lang="en-US" sz="2300" i="1">
                          <a:latin typeface="Cambria Math" panose="02040503050406030204" pitchFamily="18" charset="0"/>
                        </a:rPr>
                        <m:t> </m:t>
                      </m:r>
                      <m:r>
                        <a:rPr lang="en-US" sz="2300" i="1">
                          <a:latin typeface="Cambria Math" panose="02040503050406030204" pitchFamily="18" charset="0"/>
                        </a:rPr>
                        <m:t>𝑃𝑢𝑡𝑡𝑎𝑏𝑙𝑒</m:t>
                      </m:r>
                      <m:r>
                        <a:rPr lang="en-US" sz="2300" i="1">
                          <a:latin typeface="Cambria Math" panose="02040503050406030204" pitchFamily="18" charset="0"/>
                        </a:rPr>
                        <m:t> </m:t>
                      </m:r>
                      <m:r>
                        <a:rPr lang="en-US" sz="2300" i="1">
                          <a:latin typeface="Cambria Math" panose="02040503050406030204" pitchFamily="18" charset="0"/>
                        </a:rPr>
                        <m:t>𝐵𝑜𝑛𝑑</m:t>
                      </m:r>
                    </m:oMath>
                  </m:oMathPara>
                </a14:m>
                <a:endParaRPr lang="en-US" sz="2300" dirty="0"/>
              </a:p>
              <a:p>
                <a:pPr marL="0" indent="0">
                  <a:buNone/>
                </a:pPr>
                <a:endParaRPr lang="en-US" sz="2300" dirty="0"/>
              </a:p>
              <a:p>
                <a:r>
                  <a:rPr lang="en-US" sz="2300" u="sng" dirty="0"/>
                  <a:t>Sign Convention behind the Value</a:t>
                </a:r>
                <a:r>
                  <a:rPr lang="en-US" sz="2300" dirty="0"/>
                  <a:t>: The negative sign indicates that the issuer holds the option, or equivalently, the investor has purchased the option.</a:t>
                </a:r>
              </a:p>
              <a:p>
                <a:r>
                  <a:rPr lang="en-US" sz="2300" u="sng" dirty="0"/>
                  <a:t>Incorporating Multiple Exercise Nodes</a:t>
                </a:r>
                <a:r>
                  <a:rPr lang="en-US" sz="2300" dirty="0"/>
                  <a:t>: The same general framework can be used to value a bond with multiple or interrelated embedded option. The bond values at each node are imply altered to reflect the exercise of any of the options.</a:t>
                </a:r>
              </a:p>
            </p:txBody>
          </p:sp>
        </mc:Choice>
        <mc:Fallback xmlns="">
          <p:sp>
            <p:nvSpPr>
              <p:cNvPr id="3" name="Content Placeholder 2">
                <a:extLst>
                  <a:ext uri="{FF2B5EF4-FFF2-40B4-BE49-F238E27FC236}">
                    <a16:creationId xmlns:a16="http://schemas.microsoft.com/office/drawing/2014/main" id="{E49E2CC4-5DA7-388E-9C87-06F4E80B8EE2}"/>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696" t="-1540" r="-1217" b="-2607"/>
                </a:stretch>
              </a:blipFill>
            </p:spPr>
            <p:txBody>
              <a:bodyPr/>
              <a:lstStyle/>
              <a:p>
                <a:r>
                  <a:rPr lang="en-US">
                    <a:noFill/>
                  </a:rPr>
                  <a:t> </a:t>
                </a:r>
              </a:p>
            </p:txBody>
          </p:sp>
        </mc:Fallback>
      </mc:AlternateContent>
    </p:spTree>
    <p:extLst>
      <p:ext uri="{BB962C8B-B14F-4D97-AF65-F5344CB8AC3E}">
        <p14:creationId xmlns:p14="http://schemas.microsoft.com/office/powerpoint/2010/main" val="1959321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BA9D-E661-16C8-AEFB-DF6A10B22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E21B7-4072-95B0-915C-559BF797DFF7}"/>
              </a:ext>
            </a:extLst>
          </p:cNvPr>
          <p:cNvSpPr>
            <a:spLocks noGrp="1"/>
          </p:cNvSpPr>
          <p:nvPr>
            <p:ph type="title"/>
          </p:nvPr>
        </p:nvSpPr>
        <p:spPr>
          <a:xfrm>
            <a:off x="838200" y="365125"/>
            <a:ext cx="10515600" cy="823595"/>
          </a:xfrm>
        </p:spPr>
        <p:txBody>
          <a:bodyPr/>
          <a:lstStyle/>
          <a:p>
            <a:pPr algn="ctr"/>
            <a:r>
              <a:rPr lang="en-US" b="1" dirty="0"/>
              <a:t>Other Embedded Options (continued)</a:t>
            </a:r>
          </a:p>
        </p:txBody>
      </p:sp>
      <p:pic>
        <p:nvPicPr>
          <p:cNvPr id="4" name="Picture 3">
            <a:extLst>
              <a:ext uri="{FF2B5EF4-FFF2-40B4-BE49-F238E27FC236}">
                <a16:creationId xmlns:a16="http://schemas.microsoft.com/office/drawing/2014/main" id="{41DF20AB-22E2-99E2-3773-D5CC52038517}"/>
              </a:ext>
            </a:extLst>
          </p:cNvPr>
          <p:cNvPicPr>
            <a:picLocks noChangeAspect="1"/>
          </p:cNvPicPr>
          <p:nvPr/>
        </p:nvPicPr>
        <p:blipFill>
          <a:blip r:embed="rId2"/>
          <a:stretch>
            <a:fillRect/>
          </a:stretch>
        </p:blipFill>
        <p:spPr>
          <a:xfrm>
            <a:off x="1310640" y="1320800"/>
            <a:ext cx="9204959" cy="4965700"/>
          </a:xfrm>
          <a:prstGeom prst="rect">
            <a:avLst/>
          </a:prstGeom>
        </p:spPr>
      </p:pic>
    </p:spTree>
    <p:extLst>
      <p:ext uri="{BB962C8B-B14F-4D97-AF65-F5344CB8AC3E}">
        <p14:creationId xmlns:p14="http://schemas.microsoft.com/office/powerpoint/2010/main" val="1866788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8E2D0-92F4-8147-77F8-9C5CC41BE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DE3C4-F19F-D4C8-9694-0584CEBD5B6B}"/>
              </a:ext>
            </a:extLst>
          </p:cNvPr>
          <p:cNvSpPr>
            <a:spLocks noGrp="1"/>
          </p:cNvSpPr>
          <p:nvPr>
            <p:ph type="title"/>
          </p:nvPr>
        </p:nvSpPr>
        <p:spPr>
          <a:xfrm>
            <a:off x="838200" y="365125"/>
            <a:ext cx="10515600" cy="823595"/>
          </a:xfrm>
        </p:spPr>
        <p:txBody>
          <a:bodyPr/>
          <a:lstStyle/>
          <a:p>
            <a:pPr algn="ctr"/>
            <a:r>
              <a:rPr lang="en-US" b="1" dirty="0"/>
              <a:t>After-tax Valuation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E0899D-9CFE-BD86-D382-2417D51ED9E4}"/>
                  </a:ext>
                </a:extLst>
              </p:cNvPr>
              <p:cNvSpPr>
                <a:spLocks noGrp="1"/>
              </p:cNvSpPr>
              <p:nvPr>
                <p:ph idx="1"/>
              </p:nvPr>
            </p:nvSpPr>
            <p:spPr>
              <a:xfrm>
                <a:off x="838200" y="1348105"/>
                <a:ext cx="10515600" cy="5144770"/>
              </a:xfrm>
            </p:spPr>
            <p:txBody>
              <a:bodyPr>
                <a:normAutofit lnSpcReduction="10000"/>
              </a:bodyPr>
              <a:lstStyle/>
              <a:p>
                <a:r>
                  <a:rPr lang="en-US" u="sng" dirty="0"/>
                  <a:t>Bonds on an After-tax Basis</a:t>
                </a:r>
                <a:r>
                  <a:rPr lang="en-US" dirty="0"/>
                  <a:t>: Certain market participants, particularly corporations, must value bonds on an after-tax basis.</a:t>
                </a:r>
              </a:p>
              <a:p>
                <a:r>
                  <a:rPr lang="en-US" u="sng" dirty="0"/>
                  <a:t>Scaling the Yield Curve by the Tax Rate</a:t>
                </a:r>
                <a:r>
                  <a:rPr lang="en-US" dirty="0"/>
                  <a:t>: The standard approach is to discount after-tax cashflows at after-tax rates. One begins by multiplying the entire on-the-run yield curve by </a:t>
                </a:r>
                <a14:m>
                  <m:oMath xmlns:m="http://schemas.openxmlformats.org/officeDocument/2006/math">
                    <m:r>
                      <a:rPr lang="en-US" i="1">
                        <a:latin typeface="Cambria Math" panose="02040503050406030204" pitchFamily="18" charset="0"/>
                      </a:rPr>
                      <m:t>1−</m:t>
                    </m:r>
                    <m:r>
                      <a:rPr lang="en-US" i="1">
                        <a:latin typeface="Cambria Math" panose="02040503050406030204" pitchFamily="18" charset="0"/>
                      </a:rPr>
                      <m:t>𝑇𝑎𝑥</m:t>
                    </m:r>
                    <m:r>
                      <a:rPr lang="en-US" i="1">
                        <a:latin typeface="Cambria Math" panose="02040503050406030204" pitchFamily="18" charset="0"/>
                      </a:rPr>
                      <m:t> </m:t>
                    </m:r>
                    <m:r>
                      <a:rPr lang="en-US" i="1">
                        <a:latin typeface="Cambria Math" panose="02040503050406030204" pitchFamily="18" charset="0"/>
                      </a:rPr>
                      <m:t>𝑅𝑎𝑡𝑒</m:t>
                    </m:r>
                  </m:oMath>
                </a14:m>
                <a:endParaRPr lang="en-US" dirty="0"/>
              </a:p>
              <a:p>
                <a:r>
                  <a:rPr lang="en-US" u="sng" dirty="0"/>
                  <a:t>Resulting Tax-adjusted Yield Curves</a:t>
                </a:r>
                <a:r>
                  <a:rPr lang="en-US" dirty="0"/>
                  <a:t>: Using the resulting after-tax yield curve, one can determine either a set of zero-coupon rates or a set of forward one-period rates, which can then be used to discount after-tax cashflows.</a:t>
                </a:r>
              </a:p>
              <a:p>
                <a:r>
                  <a:rPr lang="en-US" u="sng" dirty="0"/>
                  <a:t>Lack of Optionality in the Curve</a:t>
                </a:r>
                <a:r>
                  <a:rPr lang="en-US" dirty="0"/>
                  <a:t>: As in the case of pre-tax valuation, however, this discounting methodology does not take volatility of interest rates into account, hence is unable to capture the value of any embedded options.</a:t>
                </a:r>
              </a:p>
            </p:txBody>
          </p:sp>
        </mc:Choice>
        <mc:Fallback xmlns="">
          <p:sp>
            <p:nvSpPr>
              <p:cNvPr id="3" name="Content Placeholder 2">
                <a:extLst>
                  <a:ext uri="{FF2B5EF4-FFF2-40B4-BE49-F238E27FC236}">
                    <a16:creationId xmlns:a16="http://schemas.microsoft.com/office/drawing/2014/main" id="{54E0899D-9CFE-BD86-D382-2417D51ED9E4}"/>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1159"/>
                </a:stretch>
              </a:blipFill>
            </p:spPr>
            <p:txBody>
              <a:bodyPr/>
              <a:lstStyle/>
              <a:p>
                <a:r>
                  <a:rPr lang="en-US">
                    <a:noFill/>
                  </a:rPr>
                  <a:t> </a:t>
                </a:r>
              </a:p>
            </p:txBody>
          </p:sp>
        </mc:Fallback>
      </mc:AlternateContent>
    </p:spTree>
    <p:extLst>
      <p:ext uri="{BB962C8B-B14F-4D97-AF65-F5344CB8AC3E}">
        <p14:creationId xmlns:p14="http://schemas.microsoft.com/office/powerpoint/2010/main" val="1807409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B08-35CC-7266-3B68-D47CEF495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3F48B-B565-BFCC-F268-97E4399EB4DD}"/>
              </a:ext>
            </a:extLst>
          </p:cNvPr>
          <p:cNvSpPr>
            <a:spLocks noGrp="1"/>
          </p:cNvSpPr>
          <p:nvPr>
            <p:ph type="title"/>
          </p:nvPr>
        </p:nvSpPr>
        <p:spPr>
          <a:xfrm>
            <a:off x="838200" y="365125"/>
            <a:ext cx="10515600" cy="823595"/>
          </a:xfrm>
        </p:spPr>
        <p:txBody>
          <a:bodyPr/>
          <a:lstStyle/>
          <a:p>
            <a:pPr algn="ctr"/>
            <a:r>
              <a:rPr lang="en-US" b="1" dirty="0"/>
              <a:t>After-tax Valuation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1A46FB-4CE7-6789-A815-3994CD586B66}"/>
                  </a:ext>
                </a:extLst>
              </p:cNvPr>
              <p:cNvSpPr>
                <a:spLocks noGrp="1"/>
              </p:cNvSpPr>
              <p:nvPr>
                <p:ph idx="1"/>
              </p:nvPr>
            </p:nvSpPr>
            <p:spPr>
              <a:xfrm>
                <a:off x="838200" y="1348105"/>
                <a:ext cx="10515600" cy="5144770"/>
              </a:xfrm>
            </p:spPr>
            <p:txBody>
              <a:bodyPr>
                <a:normAutofit lnSpcReduction="10000"/>
              </a:bodyPr>
              <a:lstStyle/>
              <a:p>
                <a:r>
                  <a:rPr lang="en-US" u="sng" dirty="0"/>
                  <a:t>Caveat on the Approach</a:t>
                </a:r>
                <a:r>
                  <a:rPr lang="en-US" dirty="0"/>
                  <a:t>: Using a binomial tree for after-tax valuation would seem to be simple. There is a significant catch, however.</a:t>
                </a:r>
              </a:p>
              <a:p>
                <a:r>
                  <a:rPr lang="en-US" u="sng" dirty="0"/>
                  <a:t>Tax-adjusted Rate at Each Node</a:t>
                </a:r>
                <a:r>
                  <a:rPr lang="en-US" dirty="0"/>
                  <a:t>: If an after-tax binomial interest rate tree is constructed by simply multiplying each one-period rate on a pre-tax tree by </a:t>
                </a:r>
                <a14:m>
                  <m:oMath xmlns:m="http://schemas.openxmlformats.org/officeDocument/2006/math">
                    <m:r>
                      <a:rPr lang="en-US" i="1">
                        <a:latin typeface="Cambria Math" panose="02040503050406030204" pitchFamily="18" charset="0"/>
                      </a:rPr>
                      <m:t>1−</m:t>
                    </m:r>
                    <m:r>
                      <a:rPr lang="en-US" i="1">
                        <a:latin typeface="Cambria Math" panose="02040503050406030204" pitchFamily="18" charset="0"/>
                      </a:rPr>
                      <m:t>𝑇𝑎𝑥</m:t>
                    </m:r>
                    <m:r>
                      <a:rPr lang="en-US" i="1">
                        <a:latin typeface="Cambria Math" panose="02040503050406030204" pitchFamily="18" charset="0"/>
                      </a:rPr>
                      <m:t> </m:t>
                    </m:r>
                    <m:r>
                      <a:rPr lang="en-US" i="1">
                        <a:latin typeface="Cambria Math" panose="02040503050406030204" pitchFamily="18" charset="0"/>
                      </a:rPr>
                      <m:t>𝑅𝑎𝑡𝑒</m:t>
                    </m:r>
                  </m:oMath>
                </a14:m>
                <a:r>
                  <a:rPr lang="en-US" dirty="0"/>
                  <a:t>, the after-tax expected cost of an option-tree bond is dependent on volatility.</a:t>
                </a:r>
              </a:p>
              <a:p>
                <a:r>
                  <a:rPr lang="en-US" u="sng" dirty="0"/>
                  <a:t>Alteration of the Discounting Curve</a:t>
                </a:r>
                <a:r>
                  <a:rPr lang="en-US" dirty="0"/>
                  <a:t>: If one constructs an interest-rate tree based on an after-tax yield curve – so that the after-tax discounted PV of the after-tax flows of a bond is independent of volatility – the implied underlying pre-tax interest rate process is different from that obtained directly from the pre-tax yield curve.</a:t>
                </a:r>
              </a:p>
              <a:p>
                <a:r>
                  <a:rPr lang="en-US" u="sng" dirty="0"/>
                  <a:t>Additional Implication of After-tax</a:t>
                </a:r>
                <a:r>
                  <a:rPr lang="en-US" dirty="0"/>
                  <a:t>: There is another interesting implication of the after-tax valuation of option-bearing bonds.</a:t>
                </a:r>
              </a:p>
            </p:txBody>
          </p:sp>
        </mc:Choice>
        <mc:Fallback xmlns="">
          <p:sp>
            <p:nvSpPr>
              <p:cNvPr id="3" name="Content Placeholder 2">
                <a:extLst>
                  <a:ext uri="{FF2B5EF4-FFF2-40B4-BE49-F238E27FC236}">
                    <a16:creationId xmlns:a16="http://schemas.microsoft.com/office/drawing/2014/main" id="{3D1A46FB-4CE7-6789-A815-3994CD586B66}"/>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696"/>
                </a:stretch>
              </a:blipFill>
            </p:spPr>
            <p:txBody>
              <a:bodyPr/>
              <a:lstStyle/>
              <a:p>
                <a:r>
                  <a:rPr lang="en-US">
                    <a:noFill/>
                  </a:rPr>
                  <a:t> </a:t>
                </a:r>
              </a:p>
            </p:txBody>
          </p:sp>
        </mc:Fallback>
      </mc:AlternateContent>
    </p:spTree>
    <p:extLst>
      <p:ext uri="{BB962C8B-B14F-4D97-AF65-F5344CB8AC3E}">
        <p14:creationId xmlns:p14="http://schemas.microsoft.com/office/powerpoint/2010/main" val="160302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9B484-10E8-ABCE-01C1-E7E2ADAE6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68A09-EBC3-3337-2182-1C68B6B5B5AF}"/>
              </a:ext>
            </a:extLst>
          </p:cNvPr>
          <p:cNvSpPr>
            <a:spLocks noGrp="1"/>
          </p:cNvSpPr>
          <p:nvPr>
            <p:ph type="title"/>
          </p:nvPr>
        </p:nvSpPr>
        <p:spPr>
          <a:xfrm>
            <a:off x="838200" y="365125"/>
            <a:ext cx="10515600" cy="823595"/>
          </a:xfrm>
        </p:spPr>
        <p:txBody>
          <a:bodyPr/>
          <a:lstStyle/>
          <a:p>
            <a:pPr algn="ctr"/>
            <a:r>
              <a:rPr lang="en-US" b="1" dirty="0"/>
              <a:t>After-tax Valuation (continued)</a:t>
            </a:r>
          </a:p>
        </p:txBody>
      </p:sp>
      <p:sp>
        <p:nvSpPr>
          <p:cNvPr id="3" name="Content Placeholder 2">
            <a:extLst>
              <a:ext uri="{FF2B5EF4-FFF2-40B4-BE49-F238E27FC236}">
                <a16:creationId xmlns:a16="http://schemas.microsoft.com/office/drawing/2014/main" id="{6E12CA8F-F218-4C39-CDA1-196D0CEC94AF}"/>
              </a:ext>
            </a:extLst>
          </p:cNvPr>
          <p:cNvSpPr>
            <a:spLocks noGrp="1"/>
          </p:cNvSpPr>
          <p:nvPr>
            <p:ph idx="1"/>
          </p:nvPr>
        </p:nvSpPr>
        <p:spPr>
          <a:xfrm>
            <a:off x="838200" y="1348105"/>
            <a:ext cx="10515600" cy="5144770"/>
          </a:xfrm>
        </p:spPr>
        <p:txBody>
          <a:bodyPr>
            <a:normAutofit/>
          </a:bodyPr>
          <a:lstStyle/>
          <a:p>
            <a:r>
              <a:rPr lang="en-US" u="sng" dirty="0"/>
              <a:t>Objective of the Exercise Scheme</a:t>
            </a:r>
            <a:r>
              <a:rPr lang="en-US" dirty="0"/>
              <a:t>: The valuation process described here is essentially optimization procedure designed to produce the lowest possible for the investor or, equivalently, the lowest possible expected cost of servicing the outstanding debt for the issuer.</a:t>
            </a:r>
          </a:p>
          <a:p>
            <a:r>
              <a:rPr lang="en-US" u="sng" dirty="0"/>
              <a:t>Option Increases Value to Investor</a:t>
            </a:r>
            <a:r>
              <a:rPr lang="en-US" dirty="0"/>
              <a:t>: It follows, then, that any other set of option-exercise decisions can only increase the value of the bond to the invest</a:t>
            </a:r>
          </a:p>
          <a:p>
            <a:r>
              <a:rPr lang="en-US" u="sng" dirty="0"/>
              <a:t>Valuation Objective to Minimize Tax</a:t>
            </a:r>
            <a:r>
              <a:rPr lang="en-US" dirty="0"/>
              <a:t>: But that the valuation process is carried out so as to minimize the issuer’s after-tax, cost of servicing the </a:t>
            </a:r>
            <a:r>
              <a:rPr lang="en-US" dirty="0" err="1"/>
              <a:t>debt.or</a:t>
            </a:r>
            <a:r>
              <a:rPr lang="en-US" dirty="0"/>
              <a:t> – who, it is assumed, is not a tax-payer.</a:t>
            </a:r>
          </a:p>
        </p:txBody>
      </p:sp>
    </p:spTree>
    <p:extLst>
      <p:ext uri="{BB962C8B-B14F-4D97-AF65-F5344CB8AC3E}">
        <p14:creationId xmlns:p14="http://schemas.microsoft.com/office/powerpoint/2010/main" val="3025162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98FC-F36B-2C66-C550-5C0797B6D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71E88-29E6-A7BD-9660-7CD5CC29BCB2}"/>
              </a:ext>
            </a:extLst>
          </p:cNvPr>
          <p:cNvSpPr>
            <a:spLocks noGrp="1"/>
          </p:cNvSpPr>
          <p:nvPr>
            <p:ph type="title"/>
          </p:nvPr>
        </p:nvSpPr>
        <p:spPr>
          <a:xfrm>
            <a:off x="838200" y="365125"/>
            <a:ext cx="10515600" cy="823595"/>
          </a:xfrm>
        </p:spPr>
        <p:txBody>
          <a:bodyPr/>
          <a:lstStyle/>
          <a:p>
            <a:pPr algn="ctr"/>
            <a:r>
              <a:rPr lang="en-US" b="1" dirty="0"/>
              <a:t>The Challenge of Implementation</a:t>
            </a:r>
          </a:p>
        </p:txBody>
      </p:sp>
      <p:sp>
        <p:nvSpPr>
          <p:cNvPr id="3" name="Content Placeholder 2">
            <a:extLst>
              <a:ext uri="{FF2B5EF4-FFF2-40B4-BE49-F238E27FC236}">
                <a16:creationId xmlns:a16="http://schemas.microsoft.com/office/drawing/2014/main" id="{780F0D24-C8E4-B60E-7EA9-1ECF6B66B81E}"/>
              </a:ext>
            </a:extLst>
          </p:cNvPr>
          <p:cNvSpPr>
            <a:spLocks noGrp="1"/>
          </p:cNvSpPr>
          <p:nvPr>
            <p:ph idx="1"/>
          </p:nvPr>
        </p:nvSpPr>
        <p:spPr>
          <a:xfrm>
            <a:off x="838200" y="1348105"/>
            <a:ext cx="10515600" cy="5144770"/>
          </a:xfrm>
        </p:spPr>
        <p:txBody>
          <a:bodyPr>
            <a:normAutofit/>
          </a:bodyPr>
          <a:lstStyle/>
          <a:p>
            <a:r>
              <a:rPr lang="en-US" u="sng" dirty="0"/>
              <a:t>Fine-graining for American Options</a:t>
            </a:r>
            <a:r>
              <a:rPr lang="en-US" dirty="0"/>
              <a:t>: Spacing of the node lines in the tree must be much finer, particularly if American options are to be valued.</a:t>
            </a:r>
          </a:p>
          <a:p>
            <a:r>
              <a:rPr lang="en-US" u="sng" dirty="0"/>
              <a:t>Challenges with Fine-graining</a:t>
            </a:r>
            <a:r>
              <a:rPr lang="en-US" dirty="0"/>
              <a:t>: However, if fine spacing required to value short-dated securities becomes computationally inefficient if one seeks to value, say, 30Y bonds.</a:t>
            </a:r>
          </a:p>
          <a:p>
            <a:r>
              <a:rPr lang="en-US" u="sng" dirty="0"/>
              <a:t>Challenges with Time-dependent Spacing</a:t>
            </a:r>
            <a:r>
              <a:rPr lang="en-US" dirty="0"/>
              <a:t>: While one can introduce time-dependent node spacing, caution is required; it is easy to distort the term structure of volatility.</a:t>
            </a:r>
          </a:p>
          <a:p>
            <a:r>
              <a:rPr lang="en-US" u="sng" dirty="0"/>
              <a:t>Cashflows between Nodes</a:t>
            </a:r>
            <a:r>
              <a:rPr lang="en-US" dirty="0"/>
              <a:t>: Other practical difficulties include the management of cashflows that fall between two node lines.</a:t>
            </a:r>
          </a:p>
        </p:txBody>
      </p:sp>
    </p:spTree>
    <p:extLst>
      <p:ext uri="{BB962C8B-B14F-4D97-AF65-F5344CB8AC3E}">
        <p14:creationId xmlns:p14="http://schemas.microsoft.com/office/powerpoint/2010/main" val="1318085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9E541-646A-98CF-75F5-DCF076317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329E7-1960-DC2D-864A-B7604B3025EF}"/>
              </a:ext>
            </a:extLst>
          </p:cNvPr>
          <p:cNvSpPr>
            <a:spLocks noGrp="1"/>
          </p:cNvSpPr>
          <p:nvPr>
            <p:ph type="ctrTitle"/>
          </p:nvPr>
        </p:nvSpPr>
        <p:spPr/>
        <p:txBody>
          <a:bodyPr>
            <a:normAutofit fontScale="90000"/>
          </a:bodyPr>
          <a:lstStyle/>
          <a:p>
            <a:r>
              <a:rPr lang="en-US" b="1" dirty="0"/>
              <a:t>Section 2 - Interest Rate Lattice – Implementation Overview</a:t>
            </a:r>
          </a:p>
        </p:txBody>
      </p:sp>
    </p:spTree>
    <p:extLst>
      <p:ext uri="{BB962C8B-B14F-4D97-AF65-F5344CB8AC3E}">
        <p14:creationId xmlns:p14="http://schemas.microsoft.com/office/powerpoint/2010/main" val="4000186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9ABC7-31F2-3E15-A0CF-FE48EF94C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E280F-25B1-E86A-D941-CC95D0A26075}"/>
              </a:ext>
            </a:extLst>
          </p:cNvPr>
          <p:cNvSpPr>
            <a:spLocks noGrp="1"/>
          </p:cNvSpPr>
          <p:nvPr>
            <p:ph type="title"/>
          </p:nvPr>
        </p:nvSpPr>
        <p:spPr>
          <a:xfrm>
            <a:off x="838200" y="365125"/>
            <a:ext cx="10515600" cy="823595"/>
          </a:xfrm>
        </p:spPr>
        <p:txBody>
          <a:bodyPr/>
          <a:lstStyle/>
          <a:p>
            <a:pPr algn="ctr"/>
            <a:r>
              <a:rPr lang="en-US" b="1" dirty="0"/>
              <a:t>Purpose and High-level Concept</a:t>
            </a:r>
          </a:p>
        </p:txBody>
      </p:sp>
      <p:sp>
        <p:nvSpPr>
          <p:cNvPr id="3" name="Content Placeholder 2">
            <a:extLst>
              <a:ext uri="{FF2B5EF4-FFF2-40B4-BE49-F238E27FC236}">
                <a16:creationId xmlns:a16="http://schemas.microsoft.com/office/drawing/2014/main" id="{FAF2D555-579B-1651-A0DA-E8D4D2346C88}"/>
              </a:ext>
            </a:extLst>
          </p:cNvPr>
          <p:cNvSpPr>
            <a:spLocks noGrp="1"/>
          </p:cNvSpPr>
          <p:nvPr>
            <p:ph idx="1"/>
          </p:nvPr>
        </p:nvSpPr>
        <p:spPr>
          <a:xfrm>
            <a:off x="838200" y="1348105"/>
            <a:ext cx="10515600" cy="5144770"/>
          </a:xfrm>
        </p:spPr>
        <p:txBody>
          <a:bodyPr>
            <a:normAutofit/>
          </a:bodyPr>
          <a:lstStyle/>
          <a:p>
            <a:r>
              <a:rPr lang="en-US" sz="2400" dirty="0">
                <a:latin typeface="Times New Roman" panose="02020603050405020304" pitchFamily="18" charset="0"/>
                <a:cs typeface="Times New Roman" panose="02020603050405020304" pitchFamily="18" charset="0"/>
              </a:rPr>
              <a:t>InterestRateLattice is a </a:t>
            </a:r>
            <a:r>
              <a:rPr lang="en-US" sz="2400" b="1" dirty="0">
                <a:latin typeface="Times New Roman" panose="02020603050405020304" pitchFamily="18" charset="0"/>
                <a:cs typeface="Times New Roman" panose="02020603050405020304" pitchFamily="18" charset="0"/>
              </a:rPr>
              <a:t>binomial interest-rate tree</a:t>
            </a:r>
            <a:r>
              <a:rPr lang="en-US" sz="2400" dirty="0">
                <a:latin typeface="Times New Roman" panose="02020603050405020304" pitchFamily="18" charset="0"/>
                <a:cs typeface="Times New Roman" panose="02020603050405020304" pitchFamily="18" charset="0"/>
              </a:rPr>
              <a:t> (log-normal short-rate lattice) used to price fixed-income instruments — both callable and non-callable. It follows the methodology described in Kalotay, Williams, and Fabozzi (1993)</a:t>
            </a:r>
          </a:p>
          <a:p>
            <a:r>
              <a:rPr lang="en-US" sz="2400" dirty="0">
                <a:latin typeface="Times New Roman" panose="02020603050405020304" pitchFamily="18" charset="0"/>
                <a:cs typeface="Times New Roman" panose="02020603050405020304" pitchFamily="18" charset="0"/>
              </a:rPr>
              <a:t>Core Idea:</a:t>
            </a:r>
          </a:p>
          <a:p>
            <a:pPr lvl="1"/>
            <a:r>
              <a:rPr lang="en-US" b="1" dirty="0">
                <a:latin typeface="Times New Roman" panose="02020603050405020304" pitchFamily="18" charset="0"/>
                <a:cs typeface="Times New Roman" panose="02020603050405020304" pitchFamily="18" charset="0"/>
              </a:rPr>
              <a:t>Calibrate</a:t>
            </a:r>
            <a:r>
              <a:rPr lang="en-US" dirty="0">
                <a:latin typeface="Times New Roman" panose="02020603050405020304" pitchFamily="18" charset="0"/>
                <a:cs typeface="Times New Roman" panose="02020603050405020304" pitchFamily="18" charset="0"/>
              </a:rPr>
              <a:t> the lattice so it reproduces observed market prices for a set of reference instruments (e.g., par bonds at various maturities)</a:t>
            </a:r>
          </a:p>
          <a:p>
            <a:pPr lvl="1"/>
            <a:r>
              <a:rPr lang="en-US" b="1" dirty="0">
                <a:latin typeface="Times New Roman" panose="02020603050405020304" pitchFamily="18" charset="0"/>
                <a:cs typeface="Times New Roman" panose="02020603050405020304" pitchFamily="18" charset="0"/>
              </a:rPr>
              <a:t>Price</a:t>
            </a:r>
            <a:r>
              <a:rPr lang="en-US" dirty="0">
                <a:latin typeface="Times New Roman" panose="02020603050405020304" pitchFamily="18" charset="0"/>
                <a:cs typeface="Times New Roman" panose="02020603050405020304" pitchFamily="18" charset="0"/>
              </a:rPr>
              <a:t> novel instruments (including those with embedded call options) by backward-induction through the tree</a:t>
            </a:r>
          </a:p>
          <a:p>
            <a:pPr lvl="1"/>
            <a:r>
              <a:rPr lang="en-US" b="1" dirty="0">
                <a:latin typeface="Times New Roman" panose="02020603050405020304" pitchFamily="18" charset="0"/>
                <a:cs typeface="Times New Roman" panose="02020603050405020304" pitchFamily="18" charset="0"/>
              </a:rPr>
              <a:t>Compute analytics</a:t>
            </a:r>
            <a:r>
              <a:rPr lang="en-US" dirty="0">
                <a:latin typeface="Times New Roman" panose="02020603050405020304" pitchFamily="18" charset="0"/>
                <a:cs typeface="Times New Roman" panose="02020603050405020304" pitchFamily="18" charset="0"/>
              </a:rPr>
              <a:t> (OAS, effective duration, effective convexity) by perturbing the lattice and re-pricing</a:t>
            </a:r>
            <a:endParaRPr lang="en-US" dirty="0"/>
          </a:p>
          <a:p>
            <a:pPr marL="0" indent="0">
              <a:buNone/>
            </a:pPr>
            <a:endParaRPr lang="en-US" dirty="0"/>
          </a:p>
        </p:txBody>
      </p:sp>
    </p:spTree>
    <p:extLst>
      <p:ext uri="{BB962C8B-B14F-4D97-AF65-F5344CB8AC3E}">
        <p14:creationId xmlns:p14="http://schemas.microsoft.com/office/powerpoint/2010/main" val="1130565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FAE6-EE33-D9E6-5BBD-070A89FA9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816E3-C31E-D3F8-DB97-C13DCCD957D0}"/>
              </a:ext>
            </a:extLst>
          </p:cNvPr>
          <p:cNvSpPr>
            <a:spLocks noGrp="1"/>
          </p:cNvSpPr>
          <p:nvPr>
            <p:ph type="title"/>
          </p:nvPr>
        </p:nvSpPr>
        <p:spPr>
          <a:xfrm>
            <a:off x="838200" y="365125"/>
            <a:ext cx="10515600" cy="823595"/>
          </a:xfrm>
        </p:spPr>
        <p:txBody>
          <a:bodyPr/>
          <a:lstStyle/>
          <a:p>
            <a:pPr algn="ctr"/>
            <a:r>
              <a:rPr lang="en-US" b="1" dirty="0"/>
              <a:t>Lattice Structure - Geometry</a:t>
            </a:r>
          </a:p>
        </p:txBody>
      </p:sp>
      <p:sp>
        <p:nvSpPr>
          <p:cNvPr id="3" name="Content Placeholder 2">
            <a:extLst>
              <a:ext uri="{FF2B5EF4-FFF2-40B4-BE49-F238E27FC236}">
                <a16:creationId xmlns:a16="http://schemas.microsoft.com/office/drawing/2014/main" id="{2C539CF2-1630-1F26-4FA4-011C08EC3D16}"/>
              </a:ext>
            </a:extLst>
          </p:cNvPr>
          <p:cNvSpPr>
            <a:spLocks noGrp="1"/>
          </p:cNvSpPr>
          <p:nvPr>
            <p:ph idx="1"/>
          </p:nvPr>
        </p:nvSpPr>
        <p:spPr>
          <a:xfrm>
            <a:off x="838200" y="1348105"/>
            <a:ext cx="10515600" cy="5144770"/>
          </a:xfrm>
        </p:spPr>
        <p:txBody>
          <a:bodyPr>
            <a:normAutofit/>
          </a:bodyPr>
          <a:lstStyle/>
          <a:p>
            <a:r>
              <a:rPr lang="en-US" sz="2400" dirty="0">
                <a:latin typeface="Times New Roman" panose="02020603050405020304" pitchFamily="18" charset="0"/>
                <a:cs typeface="Times New Roman" panose="02020603050405020304" pitchFamily="18" charset="0"/>
              </a:rPr>
              <a:t>The lattice is a </a:t>
            </a:r>
            <a:r>
              <a:rPr lang="en-US" sz="2400" b="1" dirty="0">
                <a:latin typeface="Times New Roman" panose="02020603050405020304" pitchFamily="18" charset="0"/>
                <a:cs typeface="Times New Roman" panose="02020603050405020304" pitchFamily="18" charset="0"/>
              </a:rPr>
              <a:t>recombining binomial tree</a:t>
            </a:r>
            <a:r>
              <a:rPr lang="en-US" sz="2400" dirty="0">
                <a:latin typeface="Times New Roman" panose="02020603050405020304" pitchFamily="18" charset="0"/>
                <a:cs typeface="Times New Roman" panose="02020603050405020304" pitchFamily="18" charset="0"/>
              </a:rPr>
              <a:t> with num_levels levels (levels 0 through num_levels - 1). Level L contains L + 1 nodes</a:t>
            </a:r>
          </a:p>
          <a:p>
            <a:pPr lvl="1"/>
            <a:r>
              <a:rPr lang="en-US" b="1" dirty="0">
                <a:latin typeface="Times New Roman" panose="02020603050405020304" pitchFamily="18" charset="0"/>
                <a:cs typeface="Times New Roman" panose="02020603050405020304" pitchFamily="18" charset="0"/>
              </a:rPr>
              <a:t>Total node count</a:t>
            </a:r>
            <a:r>
              <a:rPr lang="en-US" dirty="0">
                <a:latin typeface="Times New Roman" panose="02020603050405020304" pitchFamily="18" charset="0"/>
                <a:cs typeface="Times New Roman" panose="02020603050405020304" pitchFamily="18" charset="0"/>
              </a:rPr>
              <a:t>: num_levels * (num_levels + 1) / 2</a:t>
            </a:r>
          </a:p>
          <a:p>
            <a:pPr lvl="1"/>
            <a:r>
              <a:rPr lang="en-US" b="1" dirty="0">
                <a:latin typeface="Times New Roman" panose="02020603050405020304" pitchFamily="18" charset="0"/>
                <a:cs typeface="Times New Roman" panose="02020603050405020304" pitchFamily="18" charset="0"/>
              </a:rPr>
              <a:t>Node spacing</a:t>
            </a:r>
            <a:r>
              <a:rPr lang="en-US" dirty="0">
                <a:latin typeface="Times New Roman" panose="02020603050405020304" pitchFamily="18" charset="0"/>
                <a:cs typeface="Times New Roman" panose="02020603050405020304" pitchFamily="18" charset="0"/>
              </a:rPr>
              <a:t>: Each level represents a fixed time step. Default: NODE_SPACING_YEARS = 1.0 year.</a:t>
            </a:r>
          </a:p>
          <a:p>
            <a:pPr lvl="1"/>
            <a:r>
              <a:rPr lang="en-US" b="1" dirty="0">
                <a:latin typeface="Times New Roman" panose="02020603050405020304" pitchFamily="18" charset="0"/>
                <a:cs typeface="Times New Roman" panose="02020603050405020304" pitchFamily="18" charset="0"/>
              </a:rPr>
              <a:t>Node indexing</a:t>
            </a:r>
            <a:r>
              <a:rPr lang="en-US" dirty="0">
                <a:latin typeface="Times New Roman" panose="02020603050405020304" pitchFamily="18" charset="0"/>
                <a:cs typeface="Times New Roman" panose="02020603050405020304" pitchFamily="18" charset="0"/>
              </a:rPr>
              <a:t>: Within level L, nodes are indexed 0..L. Index 0 is the lowest short rate; index L is the highest</a:t>
            </a:r>
            <a:endParaRPr lang="en-US" dirty="0"/>
          </a:p>
          <a:p>
            <a:pPr marL="0" indent="0">
              <a:buNone/>
            </a:pPr>
            <a:endParaRPr lang="en-US" dirty="0"/>
          </a:p>
        </p:txBody>
      </p:sp>
    </p:spTree>
    <p:extLst>
      <p:ext uri="{BB962C8B-B14F-4D97-AF65-F5344CB8AC3E}">
        <p14:creationId xmlns:p14="http://schemas.microsoft.com/office/powerpoint/2010/main" val="711077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88130-D420-5040-F8B2-2238C1FAA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0001F-61CD-4A7D-175A-DCAFAA4A15A2}"/>
              </a:ext>
            </a:extLst>
          </p:cNvPr>
          <p:cNvSpPr>
            <a:spLocks noGrp="1"/>
          </p:cNvSpPr>
          <p:nvPr>
            <p:ph type="title"/>
          </p:nvPr>
        </p:nvSpPr>
        <p:spPr>
          <a:xfrm>
            <a:off x="838200" y="365125"/>
            <a:ext cx="10515600" cy="823595"/>
          </a:xfrm>
        </p:spPr>
        <p:txBody>
          <a:bodyPr/>
          <a:lstStyle/>
          <a:p>
            <a:pPr algn="ctr"/>
            <a:r>
              <a:rPr lang="en-US" b="1" dirty="0"/>
              <a:t>Lattice Structure - Node Values (Short Rates)</a:t>
            </a:r>
          </a:p>
        </p:txBody>
      </p:sp>
      <p:sp>
        <p:nvSpPr>
          <p:cNvPr id="3" name="Content Placeholder 2">
            <a:extLst>
              <a:ext uri="{FF2B5EF4-FFF2-40B4-BE49-F238E27FC236}">
                <a16:creationId xmlns:a16="http://schemas.microsoft.com/office/drawing/2014/main" id="{3350CC28-E3EE-4623-DD01-148EAF7D5AB3}"/>
              </a:ext>
            </a:extLst>
          </p:cNvPr>
          <p:cNvSpPr>
            <a:spLocks noGrp="1"/>
          </p:cNvSpPr>
          <p:nvPr>
            <p:ph idx="1"/>
          </p:nvPr>
        </p:nvSpPr>
        <p:spPr>
          <a:xfrm>
            <a:off x="838200" y="1348105"/>
            <a:ext cx="10515600" cy="5144770"/>
          </a:xfrm>
        </p:spPr>
        <p:txBody>
          <a:bodyPr>
            <a:normAutofit/>
          </a:bodyPr>
          <a:lstStyle/>
          <a:p>
            <a:r>
              <a:rPr lang="en-US" sz="2400" dirty="0">
                <a:latin typeface="Times New Roman" panose="02020603050405020304" pitchFamily="18" charset="0"/>
                <a:cs typeface="Times New Roman" panose="02020603050405020304" pitchFamily="18" charset="0"/>
              </a:rPr>
              <a:t>Each node stores a </a:t>
            </a:r>
            <a:r>
              <a:rPr lang="en-US" sz="2400" b="1" dirty="0">
                <a:latin typeface="Times New Roman" panose="02020603050405020304" pitchFamily="18" charset="0"/>
                <a:cs typeface="Times New Roman" panose="02020603050405020304" pitchFamily="18" charset="0"/>
              </a:rPr>
              <a:t>short rate</a:t>
            </a:r>
            <a:r>
              <a:rPr lang="en-US" sz="2400" dirty="0">
                <a:latin typeface="Times New Roman" panose="02020603050405020304" pitchFamily="18" charset="0"/>
                <a:cs typeface="Times New Roman" panose="02020603050405020304" pitchFamily="18" charset="0"/>
              </a:rPr>
              <a:t> (1-period interest rate). Rates within a level are related log-normally:</a:t>
            </a:r>
          </a:p>
          <a:p>
            <a:pPr lvl="1"/>
            <a:r>
              <a:rPr lang="en-US" sz="2000" dirty="0">
                <a:latin typeface="Times New Roman" panose="02020603050405020304" pitchFamily="18" charset="0"/>
                <a:cs typeface="Times New Roman" panose="02020603050405020304" pitchFamily="18" charset="0"/>
              </a:rPr>
              <a:t>rate(</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median_short_rate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 exp(2 * offset * volatility)</a:t>
            </a:r>
          </a:p>
          <a:p>
            <a:pPr marL="0" indent="0">
              <a:buNone/>
            </a:pPr>
            <a:r>
              <a:rPr lang="en-US" sz="2400" dirty="0">
                <a:latin typeface="Times New Roman" panose="02020603050405020304" pitchFamily="18" charset="0"/>
                <a:cs typeface="Times New Roman" panose="02020603050405020304" pitchFamily="18" charset="0"/>
              </a:rPr>
              <a:t>   where offset is the signed distance from the median node index:</a:t>
            </a:r>
          </a:p>
          <a:p>
            <a:pPr lvl="1"/>
            <a:r>
              <a:rPr lang="en-US" sz="2000" dirty="0">
                <a:latin typeface="Times New Roman" panose="02020603050405020304" pitchFamily="18" charset="0"/>
                <a:cs typeface="Times New Roman" panose="02020603050405020304" pitchFamily="18" charset="0"/>
              </a:rPr>
              <a:t>For even levels: offset =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/2</a:t>
            </a:r>
          </a:p>
          <a:p>
            <a:pPr lvl="1"/>
            <a:r>
              <a:rPr lang="en-US" sz="2000" dirty="0">
                <a:latin typeface="Times New Roman" panose="02020603050405020304" pitchFamily="18" charset="0"/>
                <a:cs typeface="Times New Roman" panose="02020603050405020304" pitchFamily="18" charset="0"/>
              </a:rPr>
              <a:t>For odd levels: offset =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/2 - 0.5 (since there is no exact middle node)</a:t>
            </a:r>
          </a:p>
          <a:p>
            <a:r>
              <a:rPr lang="en-US" sz="2400" dirty="0">
                <a:latin typeface="Times New Roman" panose="02020603050405020304" pitchFamily="18" charset="0"/>
                <a:cs typeface="Times New Roman" panose="02020603050405020304" pitchFamily="18" charset="0"/>
              </a:rPr>
              <a:t>Equivalently, adjacent nodes differ by a constant multiplicative factor:</a:t>
            </a:r>
          </a:p>
          <a:p>
            <a:pPr lvl="1"/>
            <a:r>
              <a:rPr lang="en-US" sz="2000" dirty="0" err="1">
                <a:latin typeface="Times New Roman" panose="02020603050405020304" pitchFamily="18" charset="0"/>
                <a:cs typeface="Times New Roman" panose="02020603050405020304" pitchFamily="18" charset="0"/>
              </a:rPr>
              <a:t>adjacent_node_scale_factor</a:t>
            </a:r>
            <a:r>
              <a:rPr lang="en-US" sz="2000" dirty="0">
                <a:latin typeface="Times New Roman" panose="02020603050405020304" pitchFamily="18" charset="0"/>
                <a:cs typeface="Times New Roman" panose="02020603050405020304" pitchFamily="18" charset="0"/>
              </a:rPr>
              <a:t> = exp(2 * volatility)</a:t>
            </a:r>
          </a:p>
          <a:p>
            <a:pPr lvl="1"/>
            <a:r>
              <a:rPr lang="en-US" sz="2000" dirty="0">
                <a:latin typeface="Times New Roman" panose="02020603050405020304" pitchFamily="18" charset="0"/>
                <a:cs typeface="Times New Roman" panose="02020603050405020304" pitchFamily="18" charset="0"/>
              </a:rPr>
              <a:t>rate(</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idx+1) = rate(</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adjacent_node_scale_factor</a:t>
            </a:r>
            <a:endParaRPr lang="en-US" dirty="0"/>
          </a:p>
        </p:txBody>
      </p:sp>
    </p:spTree>
    <p:extLst>
      <p:ext uri="{BB962C8B-B14F-4D97-AF65-F5344CB8AC3E}">
        <p14:creationId xmlns:p14="http://schemas.microsoft.com/office/powerpoint/2010/main" val="941269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11BDD-9283-5842-8A50-D790B7C97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74E12-22FF-7273-D980-91BE21A0F632}"/>
              </a:ext>
            </a:extLst>
          </p:cNvPr>
          <p:cNvSpPr>
            <a:spLocks noGrp="1"/>
          </p:cNvSpPr>
          <p:nvPr>
            <p:ph type="title"/>
          </p:nvPr>
        </p:nvSpPr>
        <p:spPr>
          <a:xfrm>
            <a:off x="838200" y="365125"/>
            <a:ext cx="10515600" cy="823595"/>
          </a:xfrm>
        </p:spPr>
        <p:txBody>
          <a:bodyPr/>
          <a:lstStyle/>
          <a:p>
            <a:pPr algn="ctr"/>
            <a:r>
              <a:rPr lang="en-US" b="1" dirty="0"/>
              <a:t>Lattice Structure – Rate Bounds</a:t>
            </a:r>
          </a:p>
        </p:txBody>
      </p:sp>
      <p:sp>
        <p:nvSpPr>
          <p:cNvPr id="3" name="Content Placeholder 2">
            <a:extLst>
              <a:ext uri="{FF2B5EF4-FFF2-40B4-BE49-F238E27FC236}">
                <a16:creationId xmlns:a16="http://schemas.microsoft.com/office/drawing/2014/main" id="{A9946FEE-877E-71E3-F962-E8522CB23460}"/>
              </a:ext>
            </a:extLst>
          </p:cNvPr>
          <p:cNvSpPr>
            <a:spLocks noGrp="1"/>
          </p:cNvSpPr>
          <p:nvPr>
            <p:ph idx="1"/>
          </p:nvPr>
        </p:nvSpPr>
        <p:spPr>
          <a:xfrm>
            <a:off x="838200" y="1348105"/>
            <a:ext cx="10515600" cy="5144770"/>
          </a:xfrm>
        </p:spPr>
        <p:txBody>
          <a:bodyPr>
            <a:normAutofit/>
          </a:bodyPr>
          <a:lstStyle/>
          <a:p>
            <a:r>
              <a:rPr lang="en-US" sz="2400" dirty="0">
                <a:latin typeface="Times New Roman" panose="02020603050405020304" pitchFamily="18" charset="0"/>
                <a:cs typeface="Times New Roman" panose="02020603050405020304" pitchFamily="18" charset="0"/>
              </a:rPr>
              <a:t>Short rates are clamped to:</a:t>
            </a:r>
          </a:p>
          <a:p>
            <a:pPr lvl="1"/>
            <a:r>
              <a:rPr lang="en-US" sz="2000" b="1" dirty="0">
                <a:latin typeface="Times New Roman" panose="02020603050405020304" pitchFamily="18" charset="0"/>
                <a:cs typeface="Times New Roman" panose="02020603050405020304" pitchFamily="18" charset="0"/>
              </a:rPr>
              <a:t>Minimum</a:t>
            </a:r>
            <a:r>
              <a:rPr lang="en-US" sz="2000" dirty="0">
                <a:latin typeface="Times New Roman" panose="02020603050405020304" pitchFamily="18" charset="0"/>
                <a:cs typeface="Times New Roman" panose="02020603050405020304" pitchFamily="18" charset="0"/>
              </a:rPr>
              <a:t>: MIN_LATTICE_SHORT_RATE = 1e-7</a:t>
            </a:r>
          </a:p>
          <a:p>
            <a:pPr lvl="1"/>
            <a:r>
              <a:rPr lang="en-US" sz="2000" b="1" dirty="0">
                <a:latin typeface="Times New Roman" panose="02020603050405020304" pitchFamily="18" charset="0"/>
                <a:cs typeface="Times New Roman" panose="02020603050405020304" pitchFamily="18" charset="0"/>
              </a:rPr>
              <a:t>Maximum</a:t>
            </a:r>
            <a:r>
              <a:rPr lang="en-US" sz="2000" dirty="0">
                <a:latin typeface="Times New Roman" panose="02020603050405020304" pitchFamily="18" charset="0"/>
                <a:cs typeface="Times New Roman" panose="02020603050405020304" pitchFamily="18" charset="0"/>
              </a:rPr>
              <a:t>: MAX_LATTICE_SHORT_RATE = 1.0 (i.e., 100%)</a:t>
            </a:r>
            <a:endParaRPr lang="en-US" dirty="0"/>
          </a:p>
        </p:txBody>
      </p:sp>
    </p:spTree>
    <p:extLst>
      <p:ext uri="{BB962C8B-B14F-4D97-AF65-F5344CB8AC3E}">
        <p14:creationId xmlns:p14="http://schemas.microsoft.com/office/powerpoint/2010/main" val="1230282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9D825-944C-FF94-D9D7-FD642CB51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F4FD0-983E-E21A-2DDA-6EF218909FA0}"/>
              </a:ext>
            </a:extLst>
          </p:cNvPr>
          <p:cNvSpPr>
            <a:spLocks noGrp="1"/>
          </p:cNvSpPr>
          <p:nvPr>
            <p:ph type="title"/>
          </p:nvPr>
        </p:nvSpPr>
        <p:spPr>
          <a:xfrm>
            <a:off x="838200" y="365125"/>
            <a:ext cx="10515600" cy="823595"/>
          </a:xfrm>
        </p:spPr>
        <p:txBody>
          <a:bodyPr/>
          <a:lstStyle/>
          <a:p>
            <a:pPr algn="ctr"/>
            <a:r>
              <a:rPr lang="en-US" b="1" dirty="0"/>
              <a:t>Lattice Structure – Storage Layout</a:t>
            </a:r>
          </a:p>
        </p:txBody>
      </p:sp>
      <p:sp>
        <p:nvSpPr>
          <p:cNvPr id="3" name="Content Placeholder 2">
            <a:extLst>
              <a:ext uri="{FF2B5EF4-FFF2-40B4-BE49-F238E27FC236}">
                <a16:creationId xmlns:a16="http://schemas.microsoft.com/office/drawing/2014/main" id="{9622B99A-4830-0C4E-7A6C-7750440E4A03}"/>
              </a:ext>
            </a:extLst>
          </p:cNvPr>
          <p:cNvSpPr>
            <a:spLocks noGrp="1"/>
          </p:cNvSpPr>
          <p:nvPr>
            <p:ph idx="1"/>
          </p:nvPr>
        </p:nvSpPr>
        <p:spPr>
          <a:xfrm>
            <a:off x="838200" y="1348105"/>
            <a:ext cx="10515600" cy="5144770"/>
          </a:xfrm>
        </p:spPr>
        <p:txBody>
          <a:bodyPr>
            <a:normAutofit/>
          </a:bodyPr>
          <a:lstStyle/>
          <a:p>
            <a:r>
              <a:rPr lang="en-US" sz="2000" dirty="0">
                <a:latin typeface="Times New Roman" panose="02020603050405020304" pitchFamily="18" charset="0"/>
                <a:cs typeface="Times New Roman" panose="02020603050405020304" pitchFamily="18" charset="0"/>
              </a:rPr>
              <a:t>All node values are stored in a single flat std::vector&lt;double&gt;. The position of node (</a:t>
            </a:r>
            <a:r>
              <a:rPr lang="en-US" sz="2000" dirty="0" err="1">
                <a:latin typeface="Times New Roman" panose="02020603050405020304" pitchFamily="18" charset="0"/>
                <a:cs typeface="Times New Roman" panose="02020603050405020304" pitchFamily="18" charset="0"/>
              </a:rPr>
              <a:t>lvl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idx</a:t>
            </a:r>
            <a:r>
              <a:rPr lang="en-US" sz="2000" dirty="0">
                <a:latin typeface="Times New Roman" panose="02020603050405020304" pitchFamily="18" charset="0"/>
                <a:cs typeface="Times New Roman" panose="02020603050405020304" pitchFamily="18" charset="0"/>
              </a:rPr>
              <a:t>) is:</a:t>
            </a:r>
          </a:p>
          <a:p>
            <a:pPr lvl="1"/>
            <a:r>
              <a:rPr lang="en-US" sz="1600" dirty="0">
                <a:latin typeface="Times New Roman" panose="02020603050405020304" pitchFamily="18" charset="0"/>
                <a:cs typeface="Times New Roman" panose="02020603050405020304" pitchFamily="18" charset="0"/>
              </a:rPr>
              <a:t>position = </a:t>
            </a:r>
            <a:r>
              <a:rPr lang="en-US" sz="1600" dirty="0" err="1">
                <a:latin typeface="Times New Roman" panose="02020603050405020304" pitchFamily="18" charset="0"/>
                <a:cs typeface="Times New Roman" panose="02020603050405020304" pitchFamily="18" charset="0"/>
              </a:rPr>
              <a:t>lvl</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lvl</a:t>
            </a:r>
            <a:r>
              <a:rPr lang="en-US" sz="1600" dirty="0">
                <a:latin typeface="Times New Roman" panose="02020603050405020304" pitchFamily="18" charset="0"/>
                <a:cs typeface="Times New Roman" panose="02020603050405020304" pitchFamily="18" charset="0"/>
              </a:rPr>
              <a:t> + 1) / 2 + </a:t>
            </a:r>
            <a:r>
              <a:rPr lang="en-US" sz="1600" dirty="0" err="1">
                <a:latin typeface="Times New Roman" panose="02020603050405020304" pitchFamily="18" charset="0"/>
                <a:cs typeface="Times New Roman" panose="02020603050405020304" pitchFamily="18" charset="0"/>
              </a:rPr>
              <a:t>idx</a:t>
            </a:r>
            <a:endParaRPr lang="en-US" dirty="0"/>
          </a:p>
        </p:txBody>
      </p:sp>
    </p:spTree>
    <p:extLst>
      <p:ext uri="{BB962C8B-B14F-4D97-AF65-F5344CB8AC3E}">
        <p14:creationId xmlns:p14="http://schemas.microsoft.com/office/powerpoint/2010/main" val="1257850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6F2AA-82F4-17A1-7A30-920B403CC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1DE37-1277-6997-B8F3-76BF00D63194}"/>
              </a:ext>
            </a:extLst>
          </p:cNvPr>
          <p:cNvSpPr>
            <a:spLocks noGrp="1"/>
          </p:cNvSpPr>
          <p:nvPr>
            <p:ph type="title"/>
          </p:nvPr>
        </p:nvSpPr>
        <p:spPr>
          <a:xfrm>
            <a:off x="838200" y="365126"/>
            <a:ext cx="10400607" cy="540962"/>
          </a:xfrm>
        </p:spPr>
        <p:txBody>
          <a:bodyPr>
            <a:normAutofit/>
          </a:bodyPr>
          <a:lstStyle/>
          <a:p>
            <a:pPr algn="ctr"/>
            <a:r>
              <a:rPr lang="en-US" sz="2800" b="1" dirty="0"/>
              <a:t>Lattice Structure – Data Members</a:t>
            </a:r>
          </a:p>
        </p:txBody>
      </p:sp>
      <p:graphicFrame>
        <p:nvGraphicFramePr>
          <p:cNvPr id="4" name="Table 3">
            <a:extLst>
              <a:ext uri="{FF2B5EF4-FFF2-40B4-BE49-F238E27FC236}">
                <a16:creationId xmlns:a16="http://schemas.microsoft.com/office/drawing/2014/main" id="{29899597-03B3-B5E9-15CD-7FF80CCA98BA}"/>
              </a:ext>
            </a:extLst>
          </p:cNvPr>
          <p:cNvGraphicFramePr>
            <a:graphicFrameLocks noGrp="1"/>
          </p:cNvGraphicFramePr>
          <p:nvPr/>
        </p:nvGraphicFramePr>
        <p:xfrm>
          <a:off x="688573" y="2551589"/>
          <a:ext cx="10515600" cy="127635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4128654966"/>
                    </a:ext>
                  </a:extLst>
                </a:gridCol>
                <a:gridCol w="3505200">
                  <a:extLst>
                    <a:ext uri="{9D8B030D-6E8A-4147-A177-3AD203B41FA5}">
                      <a16:colId xmlns:a16="http://schemas.microsoft.com/office/drawing/2014/main" val="3574922501"/>
                    </a:ext>
                  </a:extLst>
                </a:gridCol>
                <a:gridCol w="3505200">
                  <a:extLst>
                    <a:ext uri="{9D8B030D-6E8A-4147-A177-3AD203B41FA5}">
                      <a16:colId xmlns:a16="http://schemas.microsoft.com/office/drawing/2014/main" val="629970177"/>
                    </a:ext>
                  </a:extLst>
                </a:gridCol>
              </a:tblGrid>
              <a:tr h="0">
                <a:tc>
                  <a:txBody>
                    <a:bodyPr/>
                    <a:lstStyle/>
                    <a:p>
                      <a:pPr marL="0" marR="0">
                        <a:spcAft>
                          <a:spcPts val="840"/>
                        </a:spcAft>
                        <a:buNone/>
                      </a:pPr>
                      <a:r>
                        <a:rPr lang="en-US" sz="1050">
                          <a:effectLst/>
                        </a:rPr>
                        <a:t>Member</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dirty="0">
                          <a:effectLst/>
                        </a:rPr>
                        <a:t>Type</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Description</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2966277995"/>
                  </a:ext>
                </a:extLst>
              </a:tr>
              <a:tr h="0">
                <a:tc>
                  <a:txBody>
                    <a:bodyPr/>
                    <a:lstStyle/>
                    <a:p>
                      <a:pPr marL="0" marR="0">
                        <a:spcAft>
                          <a:spcPts val="840"/>
                        </a:spcAft>
                        <a:buNone/>
                      </a:pPr>
                      <a:r>
                        <a:rPr lang="en-US" sz="1000">
                          <a:effectLst/>
                        </a:rPr>
                        <a:t>num_levels_</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int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Number of levels in the lattice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606545221"/>
                  </a:ext>
                </a:extLst>
              </a:tr>
              <a:tr h="0">
                <a:tc>
                  <a:txBody>
                    <a:bodyPr/>
                    <a:lstStyle/>
                    <a:p>
                      <a:pPr marL="0" marR="0">
                        <a:spcAft>
                          <a:spcPts val="840"/>
                        </a:spcAft>
                        <a:buNone/>
                      </a:pPr>
                      <a:r>
                        <a:rPr lang="en-US" sz="1000">
                          <a:effectLst/>
                        </a:rPr>
                        <a:t>node_values_</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vector&lt;double&gt;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Flat array of short rates</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62004039"/>
                  </a:ext>
                </a:extLst>
              </a:tr>
              <a:tr h="0">
                <a:tc>
                  <a:txBody>
                    <a:bodyPr/>
                    <a:lstStyle/>
                    <a:p>
                      <a:pPr marL="0" marR="0">
                        <a:spcAft>
                          <a:spcPts val="840"/>
                        </a:spcAft>
                        <a:buNone/>
                      </a:pPr>
                      <a:r>
                        <a:rPr lang="en-US" sz="1000">
                          <a:effectLst/>
                        </a:rPr>
                        <a:t>volatility_</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double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Assumed log-normal volatility (decimal, e.g., 0.20 = 20%)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7313104"/>
                  </a:ext>
                </a:extLst>
              </a:tr>
              <a:tr h="0">
                <a:tc>
                  <a:txBody>
                    <a:bodyPr/>
                    <a:lstStyle/>
                    <a:p>
                      <a:pPr marL="0" marR="0">
                        <a:spcAft>
                          <a:spcPts val="840"/>
                        </a:spcAft>
                        <a:buNone/>
                      </a:pPr>
                      <a:r>
                        <a:rPr lang="en-US" sz="1000">
                          <a:effectLst/>
                        </a:rPr>
                        <a:t>adjacent_node_scale_factor_</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double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dirty="0">
                          <a:effectLst/>
                        </a:rPr>
                        <a:t>exp(2 * volatility)</a:t>
                      </a:r>
                      <a:r>
                        <a:rPr lang="en-US" sz="1050" dirty="0">
                          <a:effectLst/>
                        </a:rPr>
                        <a:t> — cached for performance</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4037404482"/>
                  </a:ext>
                </a:extLst>
              </a:tr>
            </a:tbl>
          </a:graphicData>
        </a:graphic>
      </p:graphicFrame>
    </p:spTree>
    <p:extLst>
      <p:ext uri="{BB962C8B-B14F-4D97-AF65-F5344CB8AC3E}">
        <p14:creationId xmlns:p14="http://schemas.microsoft.com/office/powerpoint/2010/main" val="2302982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50E83-1456-7044-55E9-599CB1729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224FA-9CC8-6C36-C9B5-647D89C1D0CB}"/>
              </a:ext>
            </a:extLst>
          </p:cNvPr>
          <p:cNvSpPr>
            <a:spLocks noGrp="1"/>
          </p:cNvSpPr>
          <p:nvPr>
            <p:ph type="title"/>
          </p:nvPr>
        </p:nvSpPr>
        <p:spPr>
          <a:xfrm>
            <a:off x="838200" y="365126"/>
            <a:ext cx="10400607" cy="540962"/>
          </a:xfrm>
        </p:spPr>
        <p:txBody>
          <a:bodyPr>
            <a:normAutofit/>
          </a:bodyPr>
          <a:lstStyle/>
          <a:p>
            <a:pPr algn="ctr"/>
            <a:r>
              <a:rPr lang="en-US" sz="2800" b="1" dirty="0"/>
              <a:t>Calibration – Two Stage Process</a:t>
            </a:r>
          </a:p>
        </p:txBody>
      </p:sp>
      <p:sp>
        <p:nvSpPr>
          <p:cNvPr id="3" name="Content Placeholder 2">
            <a:extLst>
              <a:ext uri="{FF2B5EF4-FFF2-40B4-BE49-F238E27FC236}">
                <a16:creationId xmlns:a16="http://schemas.microsoft.com/office/drawing/2014/main" id="{4742BEBB-2513-94F9-351D-2B5204044E1C}"/>
              </a:ext>
            </a:extLst>
          </p:cNvPr>
          <p:cNvSpPr>
            <a:spLocks noGrp="1"/>
          </p:cNvSpPr>
          <p:nvPr>
            <p:ph idx="1"/>
          </p:nvPr>
        </p:nvSpPr>
        <p:spPr>
          <a:xfrm>
            <a:off x="838200" y="1026622"/>
            <a:ext cx="10400607" cy="5150341"/>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Calibration is the process of finding median short rates at each level such that the lattice reproduces observed market prices for input instruments.</a:t>
            </a:r>
          </a:p>
          <a:p>
            <a:pPr lvl="1"/>
            <a:r>
              <a:rPr lang="en-US" dirty="0">
                <a:latin typeface="Times New Roman" panose="02020603050405020304" pitchFamily="18" charset="0"/>
                <a:cs typeface="Times New Roman" panose="02020603050405020304" pitchFamily="18" charset="0"/>
              </a:rPr>
              <a:t>calibrate(instruments, prices, </a:t>
            </a:r>
            <a:r>
              <a:rPr lang="en-US" dirty="0" err="1">
                <a:latin typeface="Times New Roman" panose="02020603050405020304" pitchFamily="18" charset="0"/>
                <a:cs typeface="Times New Roman" panose="02020603050405020304" pitchFamily="18" charset="0"/>
              </a:rPr>
              <a:t>assumed_volatility</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InterestRateLattice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Stage 1: Bootstrap (Levels 1–10)</a:t>
            </a:r>
          </a:p>
          <a:p>
            <a:pPr lvl="1"/>
            <a:r>
              <a:rPr lang="en-US" dirty="0">
                <a:latin typeface="Times New Roman" panose="02020603050405020304" pitchFamily="18" charset="0"/>
                <a:cs typeface="Times New Roman" panose="02020603050405020304" pitchFamily="18" charset="0"/>
              </a:rPr>
              <a:t>Applies to the first 10 instruments (maturities 1Y through 10Y).</a:t>
            </a:r>
          </a:p>
          <a:p>
            <a:pPr lvl="1"/>
            <a:r>
              <a:rPr lang="en-US" b="1" dirty="0">
                <a:latin typeface="Times New Roman" panose="02020603050405020304" pitchFamily="18" charset="0"/>
                <a:cs typeface="Times New Roman" panose="02020603050405020304" pitchFamily="18" charset="0"/>
              </a:rPr>
              <a:t>Constraints</a:t>
            </a:r>
            <a:r>
              <a:rPr lang="en-US" dirty="0">
                <a:latin typeface="Times New Roman" panose="02020603050405020304" pitchFamily="18" charset="0"/>
                <a:cs typeface="Times New Roman" panose="02020603050405020304" pitchFamily="18" charset="0"/>
              </a:rPr>
              <a:t>:</a:t>
            </a:r>
          </a:p>
          <a:p>
            <a:pPr lvl="2"/>
            <a:r>
              <a:rPr lang="en-US" sz="2400" dirty="0">
                <a:latin typeface="Times New Roman" panose="02020603050405020304" pitchFamily="18" charset="0"/>
                <a:cs typeface="Times New Roman" panose="02020603050405020304" pitchFamily="18" charset="0"/>
              </a:rPr>
              <a:t>Must be sequential integer maturities starting at 1Y (one per level).</a:t>
            </a:r>
          </a:p>
          <a:p>
            <a:pPr lvl="2"/>
            <a:r>
              <a:rPr lang="en-US" sz="2400" dirty="0">
                <a:latin typeface="Times New Roman" panose="02020603050405020304" pitchFamily="18" charset="0"/>
                <a:cs typeface="Times New Roman" panose="02020603050405020304" pitchFamily="18" charset="0"/>
              </a:rPr>
              <a:t>Must be </a:t>
            </a:r>
            <a:r>
              <a:rPr lang="en-US" sz="2400" b="1" dirty="0">
                <a:latin typeface="Times New Roman" panose="02020603050405020304" pitchFamily="18" charset="0"/>
                <a:cs typeface="Times New Roman" panose="02020603050405020304" pitchFamily="18" charset="0"/>
              </a:rPr>
              <a:t>non-callable</a:t>
            </a:r>
            <a:r>
              <a:rPr lang="en-US" sz="2400" dirty="0">
                <a:latin typeface="Times New Roman" panose="02020603050405020304" pitchFamily="18" charset="0"/>
                <a:cs typeface="Times New Roman" panose="02020603050405020304" pitchFamily="18" charset="0"/>
              </a:rPr>
              <a:t>.</a:t>
            </a:r>
          </a:p>
          <a:p>
            <a:pPr lvl="2"/>
            <a:r>
              <a:rPr lang="en-US" sz="2400" dirty="0">
                <a:latin typeface="Times New Roman" panose="02020603050405020304" pitchFamily="18" charset="0"/>
                <a:cs typeface="Times New Roman" panose="02020603050405020304" pitchFamily="18" charset="0"/>
              </a:rPr>
              <a:t>Must be sorted by ascending maturity.</a:t>
            </a:r>
          </a:p>
          <a:p>
            <a:pPr lvl="1"/>
            <a:r>
              <a:rPr lang="en-US" b="1" dirty="0">
                <a:latin typeface="Times New Roman" panose="02020603050405020304" pitchFamily="18" charset="0"/>
                <a:cs typeface="Times New Roman" panose="02020603050405020304" pitchFamily="18" charset="0"/>
              </a:rPr>
              <a:t>Algorithm</a:t>
            </a:r>
            <a:r>
              <a:rPr lang="en-US" dirty="0">
                <a:latin typeface="Times New Roman" panose="02020603050405020304" pitchFamily="18" charset="0"/>
                <a:cs typeface="Times New Roman" panose="02020603050405020304" pitchFamily="18" charset="0"/>
              </a:rPr>
              <a:t>: Iterative univariate root-finding. For each level L:</a:t>
            </a:r>
          </a:p>
          <a:p>
            <a:pPr lvl="2"/>
            <a:r>
              <a:rPr lang="en-US" sz="2400" dirty="0">
                <a:latin typeface="Times New Roman" panose="02020603050405020304" pitchFamily="18" charset="0"/>
                <a:cs typeface="Times New Roman" panose="02020603050405020304" pitchFamily="18" charset="0"/>
              </a:rPr>
              <a:t>Assume all previously solved median short rates are fixed.</a:t>
            </a:r>
          </a:p>
          <a:p>
            <a:pPr lvl="2"/>
            <a:r>
              <a:rPr lang="en-US" sz="2400" dirty="0">
                <a:latin typeface="Times New Roman" panose="02020603050405020304" pitchFamily="18" charset="0"/>
                <a:cs typeface="Times New Roman" panose="02020603050405020304" pitchFamily="18" charset="0"/>
              </a:rPr>
              <a:t>Find the median short rate at level L such that pricing the L-year instrument on the partial lattice yields the target price.</a:t>
            </a:r>
          </a:p>
          <a:p>
            <a:pPr lvl="2"/>
            <a:r>
              <a:rPr lang="en-US" sz="2400" dirty="0">
                <a:latin typeface="Times New Roman" panose="02020603050405020304" pitchFamily="18" charset="0"/>
                <a:cs typeface="Times New Roman" panose="02020603050405020304" pitchFamily="18" charset="0"/>
              </a:rPr>
              <a:t>Uses bisection/Brent's method on the interval [1e-7, 1e6] with tolerance 0.001 bond points.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4433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FBC8F-855C-1524-68AC-9436B595F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DFCC5-9EC2-B0EA-8890-A9ADA6025A34}"/>
              </a:ext>
            </a:extLst>
          </p:cNvPr>
          <p:cNvSpPr>
            <a:spLocks noGrp="1"/>
          </p:cNvSpPr>
          <p:nvPr>
            <p:ph type="title"/>
          </p:nvPr>
        </p:nvSpPr>
        <p:spPr>
          <a:xfrm>
            <a:off x="838200" y="365126"/>
            <a:ext cx="10400607" cy="540962"/>
          </a:xfrm>
        </p:spPr>
        <p:txBody>
          <a:bodyPr>
            <a:normAutofit/>
          </a:bodyPr>
          <a:lstStyle/>
          <a:p>
            <a:pPr algn="ctr"/>
            <a:r>
              <a:rPr lang="en-US" sz="2800" b="1" dirty="0"/>
              <a:t>Calibration – Two Stage Process (continued)</a:t>
            </a:r>
          </a:p>
        </p:txBody>
      </p:sp>
      <p:sp>
        <p:nvSpPr>
          <p:cNvPr id="3" name="Content Placeholder 2">
            <a:extLst>
              <a:ext uri="{FF2B5EF4-FFF2-40B4-BE49-F238E27FC236}">
                <a16:creationId xmlns:a16="http://schemas.microsoft.com/office/drawing/2014/main" id="{DA0CFF45-F869-686F-BEED-B97B871F52EC}"/>
              </a:ext>
            </a:extLst>
          </p:cNvPr>
          <p:cNvSpPr>
            <a:spLocks noGrp="1"/>
          </p:cNvSpPr>
          <p:nvPr>
            <p:ph idx="1"/>
          </p:nvPr>
        </p:nvSpPr>
        <p:spPr>
          <a:xfrm>
            <a:off x="838200" y="1026622"/>
            <a:ext cx="10400607" cy="5150341"/>
          </a:xfrm>
        </p:spPr>
        <p:txBody>
          <a:bodyPr>
            <a:normAutofit/>
          </a:bodyPr>
          <a:lstStyle/>
          <a:p>
            <a:r>
              <a:rPr lang="en-US" sz="2600" b="1" dirty="0">
                <a:latin typeface="Times New Roman" panose="02020603050405020304" pitchFamily="18" charset="0"/>
                <a:cs typeface="Times New Roman" panose="02020603050405020304" pitchFamily="18" charset="0"/>
              </a:rPr>
              <a:t>Stage 2: Optimization (Levels beyond 10)</a:t>
            </a:r>
          </a:p>
          <a:p>
            <a:pPr lvl="1"/>
            <a:r>
              <a:rPr lang="en-US" sz="2200" dirty="0">
                <a:latin typeface="Times New Roman" panose="02020603050405020304" pitchFamily="18" charset="0"/>
                <a:cs typeface="Times New Roman" panose="02020603050405020304" pitchFamily="18" charset="0"/>
              </a:rPr>
              <a:t>Applies to instruments with maturities &gt; 10 years (callable instruments are allowed here).</a:t>
            </a:r>
          </a:p>
          <a:p>
            <a:pPr lvl="1"/>
            <a:r>
              <a:rPr lang="en-US" sz="2200" b="1" dirty="0">
                <a:latin typeface="Times New Roman" panose="02020603050405020304" pitchFamily="18" charset="0"/>
                <a:cs typeface="Times New Roman" panose="02020603050405020304" pitchFamily="18" charset="0"/>
              </a:rPr>
              <a:t>Algorithm</a:t>
            </a:r>
            <a:r>
              <a:rPr lang="en-US" sz="2200" dirty="0">
                <a:latin typeface="Times New Roman" panose="02020603050405020304" pitchFamily="18" charset="0"/>
                <a:cs typeface="Times New Roman" panose="02020603050405020304" pitchFamily="18" charset="0"/>
              </a:rPr>
              <a:t>: Nelder-Mead simplex minimization.</a:t>
            </a:r>
          </a:p>
          <a:p>
            <a:pPr lvl="2"/>
            <a:r>
              <a:rPr lang="en-US" sz="2200" b="1" dirty="0">
                <a:latin typeface="Times New Roman" panose="02020603050405020304" pitchFamily="18" charset="0"/>
                <a:cs typeface="Times New Roman" panose="02020603050405020304" pitchFamily="18" charset="0"/>
              </a:rPr>
              <a:t>Objective function</a:t>
            </a:r>
            <a:r>
              <a:rPr lang="en-US" sz="2200" dirty="0">
                <a:latin typeface="Times New Roman" panose="02020603050405020304" pitchFamily="18" charset="0"/>
                <a:cs typeface="Times New Roman" panose="02020603050405020304" pitchFamily="18" charset="0"/>
              </a:rPr>
              <a:t>: Sum of squared pricing errors across all stage-2 instruments.</a:t>
            </a:r>
          </a:p>
          <a:p>
            <a:pPr lvl="2"/>
            <a:r>
              <a:rPr lang="en-US" sz="2200" b="1" dirty="0">
                <a:latin typeface="Times New Roman" panose="02020603050405020304" pitchFamily="18" charset="0"/>
                <a:cs typeface="Times New Roman" panose="02020603050405020304" pitchFamily="18" charset="0"/>
              </a:rPr>
              <a:t>Initial guess</a:t>
            </a:r>
            <a:r>
              <a:rPr lang="en-US" sz="2200" dirty="0">
                <a:latin typeface="Times New Roman" panose="02020603050405020304" pitchFamily="18" charset="0"/>
                <a:cs typeface="Times New Roman" panose="02020603050405020304" pitchFamily="18" charset="0"/>
              </a:rPr>
              <a:t>: Last bootstrapped median short rate, repeated for all new levels.</a:t>
            </a:r>
          </a:p>
          <a:p>
            <a:pPr lvl="2"/>
            <a:r>
              <a:rPr lang="en-US" sz="2200" b="1" dirty="0">
                <a:latin typeface="Times New Roman" panose="02020603050405020304" pitchFamily="18" charset="0"/>
                <a:cs typeface="Times New Roman" panose="02020603050405020304" pitchFamily="18" charset="0"/>
              </a:rPr>
              <a:t>Bounds on median short rates</a:t>
            </a:r>
            <a:r>
              <a:rPr lang="en-US" sz="2200" dirty="0">
                <a:latin typeface="Times New Roman" panose="02020603050405020304" pitchFamily="18" charset="0"/>
                <a:cs typeface="Times New Roman" panose="02020603050405020304" pitchFamily="18" charset="0"/>
              </a:rPr>
              <a:t>: Clamped to [0.005, 0.5] (i.e., 0.5% to 50%).</a:t>
            </a:r>
          </a:p>
          <a:p>
            <a:pPr lvl="2"/>
            <a:r>
              <a:rPr lang="en-US" sz="2200" b="1" dirty="0">
                <a:latin typeface="Times New Roman" panose="02020603050405020304" pitchFamily="18" charset="0"/>
                <a:cs typeface="Times New Roman" panose="02020603050405020304" pitchFamily="18" charset="0"/>
              </a:rPr>
              <a:t>Initial step size</a:t>
            </a:r>
            <a:r>
              <a:rPr lang="en-US" sz="2200" dirty="0">
                <a:latin typeface="Times New Roman" panose="02020603050405020304" pitchFamily="18" charset="0"/>
                <a:cs typeface="Times New Roman" panose="02020603050405020304" pitchFamily="18" charset="0"/>
              </a:rPr>
              <a:t>: 0.1</a:t>
            </a:r>
          </a:p>
          <a:p>
            <a:pPr lvl="2"/>
            <a:r>
              <a:rPr lang="en-US" sz="2200" b="1" dirty="0">
                <a:latin typeface="Times New Roman" panose="02020603050405020304" pitchFamily="18" charset="0"/>
                <a:cs typeface="Times New Roman" panose="02020603050405020304" pitchFamily="18" charset="0"/>
              </a:rPr>
              <a:t>Convergence</a:t>
            </a:r>
            <a:r>
              <a:rPr lang="en-US" sz="2200" dirty="0">
                <a:latin typeface="Times New Roman" panose="02020603050405020304" pitchFamily="18" charset="0"/>
                <a:cs typeface="Times New Roman" panose="02020603050405020304" pitchFamily="18" charset="0"/>
              </a:rPr>
              <a:t>: Nelder-Mead tolerance 1e-6; early termination if objective &lt; 1e-4.</a:t>
            </a:r>
          </a:p>
          <a:p>
            <a:pPr lvl="2"/>
            <a:r>
              <a:rPr lang="en-US" sz="2200" b="1" dirty="0">
                <a:latin typeface="Times New Roman" panose="02020603050405020304" pitchFamily="18" charset="0"/>
                <a:cs typeface="Times New Roman" panose="02020603050405020304" pitchFamily="18" charset="0"/>
              </a:rPr>
              <a:t>Max iterations</a:t>
            </a:r>
            <a:r>
              <a:rPr lang="en-US" sz="2200" dirty="0">
                <a:latin typeface="Times New Roman" panose="02020603050405020304" pitchFamily="18" charset="0"/>
                <a:cs typeface="Times New Roman" panose="02020603050405020304" pitchFamily="18" charset="0"/>
              </a:rPr>
              <a:t>: 100,000.</a:t>
            </a:r>
          </a:p>
          <a:p>
            <a:pPr lvl="1"/>
            <a:r>
              <a:rPr lang="en-US" sz="2200" dirty="0">
                <a:latin typeface="Times New Roman" panose="02020603050405020304" pitchFamily="18" charset="0"/>
                <a:cs typeface="Times New Roman" panose="02020603050405020304" pitchFamily="18" charset="0"/>
              </a:rPr>
              <a:t>The number of free parameters equals the lattice level of the longest-maturity instrument minus 10 (the bootstrap count).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214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F0227-BBF6-FB23-8BAC-C4E8C6F5D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F91ED-AF86-DD2D-F5AC-5CAD95FED308}"/>
              </a:ext>
            </a:extLst>
          </p:cNvPr>
          <p:cNvSpPr>
            <a:spLocks noGrp="1"/>
          </p:cNvSpPr>
          <p:nvPr>
            <p:ph type="title"/>
          </p:nvPr>
        </p:nvSpPr>
        <p:spPr>
          <a:xfrm>
            <a:off x="838200" y="365126"/>
            <a:ext cx="10400607" cy="540962"/>
          </a:xfrm>
        </p:spPr>
        <p:txBody>
          <a:bodyPr>
            <a:normAutofit/>
          </a:bodyPr>
          <a:lstStyle/>
          <a:p>
            <a:pPr algn="ctr"/>
            <a:r>
              <a:rPr lang="en-US" sz="2800" b="1" dirty="0"/>
              <a:t>Calibration – Volatility</a:t>
            </a:r>
          </a:p>
        </p:txBody>
      </p:sp>
      <p:sp>
        <p:nvSpPr>
          <p:cNvPr id="3" name="Content Placeholder 2">
            <a:extLst>
              <a:ext uri="{FF2B5EF4-FFF2-40B4-BE49-F238E27FC236}">
                <a16:creationId xmlns:a16="http://schemas.microsoft.com/office/drawing/2014/main" id="{CC1BCDB9-D728-0CCE-40D8-3CE0DC550456}"/>
              </a:ext>
            </a:extLst>
          </p:cNvPr>
          <p:cNvSpPr>
            <a:spLocks noGrp="1"/>
          </p:cNvSpPr>
          <p:nvPr>
            <p:ph idx="1"/>
          </p:nvPr>
        </p:nvSpPr>
        <p:spPr>
          <a:xfrm>
            <a:off x="838200" y="1026622"/>
            <a:ext cx="10400607" cy="5150341"/>
          </a:xfrm>
        </p:spPr>
        <p:txBody>
          <a:bodyPr>
            <a:normAutofit/>
          </a:bodyPr>
          <a:lstStyle/>
          <a:p>
            <a:r>
              <a:rPr lang="en-US" sz="2400" dirty="0">
                <a:latin typeface="Times New Roman" panose="02020603050405020304" pitchFamily="18" charset="0"/>
                <a:cs typeface="Times New Roman" panose="02020603050405020304" pitchFamily="18" charset="0"/>
              </a:rPr>
              <a:t>Volatility is an </a:t>
            </a:r>
            <a:r>
              <a:rPr lang="en-US" sz="2400" b="1" dirty="0">
                <a:latin typeface="Times New Roman" panose="02020603050405020304" pitchFamily="18" charset="0"/>
                <a:cs typeface="Times New Roman" panose="02020603050405020304" pitchFamily="18" charset="0"/>
              </a:rPr>
              <a:t>input parameter</a:t>
            </a:r>
            <a:r>
              <a:rPr lang="en-US" sz="2400" dirty="0">
                <a:latin typeface="Times New Roman" panose="02020603050405020304" pitchFamily="18" charset="0"/>
                <a:cs typeface="Times New Roman" panose="02020603050405020304" pitchFamily="18" charset="0"/>
              </a:rPr>
              <a:t> to calibration — it is assumed constant across all levels.</a:t>
            </a:r>
          </a:p>
          <a:p>
            <a:r>
              <a:rPr lang="en-US" sz="2400" dirty="0">
                <a:latin typeface="Times New Roman" panose="02020603050405020304" pitchFamily="18" charset="0"/>
                <a:cs typeface="Times New Roman" panose="02020603050405020304" pitchFamily="18" charset="0"/>
              </a:rPr>
              <a:t>It is not solved for; it must be supplied externally (typically from market-implied volatility estimates)</a:t>
            </a:r>
            <a:r>
              <a:rPr lang="en-US" sz="2200"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5008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20C6-F50C-772E-2609-0722D7EBF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59DF8-4CF8-3936-C9B6-D1DDEFCCF69F}"/>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Aligned Instrument Properties</a:t>
            </a:r>
          </a:p>
        </p:txBody>
      </p:sp>
      <p:sp>
        <p:nvSpPr>
          <p:cNvPr id="3" name="Content Placeholder 2">
            <a:extLst>
              <a:ext uri="{FF2B5EF4-FFF2-40B4-BE49-F238E27FC236}">
                <a16:creationId xmlns:a16="http://schemas.microsoft.com/office/drawing/2014/main" id="{54B517E6-561C-7553-D544-E4CB4FA4671E}"/>
              </a:ext>
            </a:extLst>
          </p:cNvPr>
          <p:cNvSpPr>
            <a:spLocks noGrp="1"/>
          </p:cNvSpPr>
          <p:nvPr>
            <p:ph idx="1"/>
          </p:nvPr>
        </p:nvSpPr>
        <p:spPr>
          <a:xfrm>
            <a:off x="838200" y="1026622"/>
            <a:ext cx="10400607" cy="5150341"/>
          </a:xfrm>
        </p:spPr>
        <p:txBody>
          <a:bodyPr>
            <a:normAutofit/>
          </a:bodyPr>
          <a:lstStyle/>
          <a:p>
            <a:r>
              <a:rPr lang="en-US" sz="2400" dirty="0">
                <a:latin typeface="Times New Roman" panose="02020603050405020304" pitchFamily="18" charset="0"/>
                <a:cs typeface="Times New Roman" panose="02020603050405020304" pitchFamily="18" charset="0"/>
              </a:rPr>
              <a:t>Since instrument maturities and call dates rarely fall exactly on lattice level boundaries, the model uses </a:t>
            </a:r>
            <a:r>
              <a:rPr lang="en-US" sz="2400" b="1" dirty="0">
                <a:latin typeface="Times New Roman" panose="02020603050405020304" pitchFamily="18" charset="0"/>
                <a:cs typeface="Times New Roman" panose="02020603050405020304" pitchFamily="18" charset="0"/>
              </a:rPr>
              <a:t>bilinear interpolation</a:t>
            </a:r>
            <a:r>
              <a:rPr lang="en-US" sz="2400" dirty="0">
                <a:latin typeface="Times New Roman" panose="02020603050405020304" pitchFamily="18" charset="0"/>
                <a:cs typeface="Times New Roman" panose="02020603050405020304" pitchFamily="18" charset="0"/>
              </a:rPr>
              <a:t> between four "aligned" approximations of each instrument</a:t>
            </a:r>
          </a:p>
          <a:p>
            <a:r>
              <a:rPr lang="en-US" sz="2400" dirty="0">
                <a:latin typeface="Times New Roman" panose="02020603050405020304" pitchFamily="18" charset="0"/>
                <a:cs typeface="Times New Roman" panose="02020603050405020304" pitchFamily="18" charset="0"/>
              </a:rPr>
              <a:t>Each aligned approximation consists of:</a:t>
            </a:r>
          </a:p>
          <a:p>
            <a:pPr marL="0" indent="0">
              <a:buNone/>
            </a:pPr>
            <a:endParaRPr lang="en-US" dirty="0"/>
          </a:p>
          <a:p>
            <a:endParaRPr lang="en-US" dirty="0"/>
          </a:p>
          <a:p>
            <a:endParaRPr lang="en-US" sz="22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5C3B8AD3-72B4-F574-6135-6BE3CF2A61BD}"/>
              </a:ext>
            </a:extLst>
          </p:cNvPr>
          <p:cNvGraphicFramePr>
            <a:graphicFrameLocks noGrp="1"/>
          </p:cNvGraphicFramePr>
          <p:nvPr/>
        </p:nvGraphicFramePr>
        <p:xfrm>
          <a:off x="838200" y="2714727"/>
          <a:ext cx="10515600" cy="127635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1648182425"/>
                    </a:ext>
                  </a:extLst>
                </a:gridCol>
                <a:gridCol w="3505200">
                  <a:extLst>
                    <a:ext uri="{9D8B030D-6E8A-4147-A177-3AD203B41FA5}">
                      <a16:colId xmlns:a16="http://schemas.microsoft.com/office/drawing/2014/main" val="3262326114"/>
                    </a:ext>
                  </a:extLst>
                </a:gridCol>
                <a:gridCol w="3505200">
                  <a:extLst>
                    <a:ext uri="{9D8B030D-6E8A-4147-A177-3AD203B41FA5}">
                      <a16:colId xmlns:a16="http://schemas.microsoft.com/office/drawing/2014/main" val="966999771"/>
                    </a:ext>
                  </a:extLst>
                </a:gridCol>
              </a:tblGrid>
              <a:tr h="0">
                <a:tc>
                  <a:txBody>
                    <a:bodyPr/>
                    <a:lstStyle/>
                    <a:p>
                      <a:pPr marL="0" marR="0">
                        <a:spcAft>
                          <a:spcPts val="840"/>
                        </a:spcAft>
                        <a:buNone/>
                      </a:pPr>
                      <a:r>
                        <a:rPr lang="en-US" sz="1050" dirty="0">
                          <a:effectLst/>
                        </a:rPr>
                        <a:t>Field</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Type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Description</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2036291873"/>
                  </a:ext>
                </a:extLst>
              </a:tr>
              <a:tr h="0">
                <a:tc>
                  <a:txBody>
                    <a:bodyPr/>
                    <a:lstStyle/>
                    <a:p>
                      <a:pPr marL="0" marR="0">
                        <a:spcAft>
                          <a:spcPts val="840"/>
                        </a:spcAft>
                        <a:buNone/>
                      </a:pPr>
                      <a:r>
                        <a:rPr lang="en-US" sz="1000" dirty="0" err="1">
                          <a:effectLst/>
                        </a:rPr>
                        <a:t>maturity_level</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int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Lattice level of final maturity</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011028030"/>
                  </a:ext>
                </a:extLst>
              </a:tr>
              <a:tr h="0">
                <a:tc>
                  <a:txBody>
                    <a:bodyPr/>
                    <a:lstStyle/>
                    <a:p>
                      <a:pPr marL="0" marR="0">
                        <a:spcAft>
                          <a:spcPts val="840"/>
                        </a:spcAft>
                        <a:buNone/>
                      </a:pPr>
                      <a:r>
                        <a:rPr lang="en-US" sz="1000" dirty="0" err="1">
                          <a:effectLst/>
                        </a:rPr>
                        <a:t>maturity_value</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double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Price at maturity (typically 100)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2146360941"/>
                  </a:ext>
                </a:extLst>
              </a:tr>
              <a:tr h="0">
                <a:tc>
                  <a:txBody>
                    <a:bodyPr/>
                    <a:lstStyle/>
                    <a:p>
                      <a:pPr marL="0" marR="0">
                        <a:spcAft>
                          <a:spcPts val="840"/>
                        </a:spcAft>
                        <a:buNone/>
                      </a:pPr>
                      <a:r>
                        <a:rPr lang="en-US" sz="1000" dirty="0">
                          <a:effectLst/>
                        </a:rPr>
                        <a:t>coupon</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double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a:effectLst/>
                        </a:rPr>
                        <a:t>Annual coupon rate in decimal (e.g., 0.05 = 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937723803"/>
                  </a:ext>
                </a:extLst>
              </a:tr>
              <a:tr h="0">
                <a:tc>
                  <a:txBody>
                    <a:bodyPr/>
                    <a:lstStyle/>
                    <a:p>
                      <a:pPr marL="0" marR="0">
                        <a:spcAft>
                          <a:spcPts val="840"/>
                        </a:spcAft>
                        <a:buNone/>
                      </a:pPr>
                      <a:r>
                        <a:rPr lang="en-US" sz="1000">
                          <a:effectLst/>
                        </a:rPr>
                        <a:t>call_schedule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00">
                          <a:effectLst/>
                        </a:rPr>
                        <a:t>AlignedCallSchedule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tc>
                  <a:txBody>
                    <a:bodyPr/>
                    <a:lstStyle/>
                    <a:p>
                      <a:pPr marL="0" marR="0">
                        <a:spcAft>
                          <a:spcPts val="840"/>
                        </a:spcAft>
                        <a:buNone/>
                      </a:pPr>
                      <a:r>
                        <a:rPr lang="en-US" sz="1050" dirty="0">
                          <a:effectLst/>
                        </a:rPr>
                        <a:t>Call options aligned to lattice levels</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5250" marR="95250" marT="47625" marB="47625" anchor="ctr"/>
                </a:tc>
                <a:extLst>
                  <a:ext uri="{0D108BD9-81ED-4DB2-BD59-A6C34878D82A}">
                    <a16:rowId xmlns:a16="http://schemas.microsoft.com/office/drawing/2014/main" val="3145552118"/>
                  </a:ext>
                </a:extLst>
              </a:tr>
            </a:tbl>
          </a:graphicData>
        </a:graphic>
      </p:graphicFrame>
    </p:spTree>
    <p:extLst>
      <p:ext uri="{BB962C8B-B14F-4D97-AF65-F5344CB8AC3E}">
        <p14:creationId xmlns:p14="http://schemas.microsoft.com/office/powerpoint/2010/main" val="4286911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683AD-B109-B675-ECE8-4910C2ECA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EADA5-8DFF-4F4B-B1E4-CC109C7B5490}"/>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Approximation Schemes</a:t>
            </a:r>
          </a:p>
        </p:txBody>
      </p:sp>
      <p:sp>
        <p:nvSpPr>
          <p:cNvPr id="3" name="Content Placeholder 2">
            <a:extLst>
              <a:ext uri="{FF2B5EF4-FFF2-40B4-BE49-F238E27FC236}">
                <a16:creationId xmlns:a16="http://schemas.microsoft.com/office/drawing/2014/main" id="{EE5E1FA6-2D35-1FDA-C485-667D38A04ABF}"/>
              </a:ext>
            </a:extLst>
          </p:cNvPr>
          <p:cNvSpPr>
            <a:spLocks noGrp="1"/>
          </p:cNvSpPr>
          <p:nvPr>
            <p:ph idx="1"/>
          </p:nvPr>
        </p:nvSpPr>
        <p:spPr>
          <a:xfrm>
            <a:off x="838200" y="1026622"/>
            <a:ext cx="10400607" cy="5150341"/>
          </a:xfrm>
        </p:spPr>
        <p:txBody>
          <a:bodyPr>
            <a:normAutofit/>
          </a:bodyPr>
          <a:lstStyle/>
          <a:p>
            <a:r>
              <a:rPr lang="en-US" sz="2400" dirty="0">
                <a:latin typeface="Times New Roman" panose="02020603050405020304" pitchFamily="18" charset="0"/>
                <a:cs typeface="Times New Roman" panose="02020603050405020304" pitchFamily="18" charset="0"/>
              </a:rPr>
              <a:t>For an instrument whose maturity falls between levels L and L+1, and whose first call date falls between levels C and C+1:</a:t>
            </a:r>
          </a:p>
          <a:p>
            <a:pPr lvl="1"/>
            <a:r>
              <a:rPr lang="en-US" sz="2000" dirty="0" err="1">
                <a:latin typeface="Times New Roman" panose="02020603050405020304" pitchFamily="18" charset="0"/>
                <a:cs typeface="Times New Roman" panose="02020603050405020304" pitchFamily="18" charset="0"/>
              </a:rPr>
              <a:t>lower_maturity_lower_call</a:t>
            </a:r>
            <a:r>
              <a:rPr lang="en-US" sz="2000" dirty="0">
                <a:latin typeface="Times New Roman" panose="02020603050405020304" pitchFamily="18" charset="0"/>
                <a:cs typeface="Times New Roman" panose="02020603050405020304" pitchFamily="18" charset="0"/>
              </a:rPr>
              <a:t> — maturity at L, calls shifted down</a:t>
            </a:r>
          </a:p>
          <a:p>
            <a:pPr lvl="1"/>
            <a:r>
              <a:rPr lang="en-US" sz="2000" dirty="0" err="1">
                <a:latin typeface="Times New Roman" panose="02020603050405020304" pitchFamily="18" charset="0"/>
                <a:cs typeface="Times New Roman" panose="02020603050405020304" pitchFamily="18" charset="0"/>
              </a:rPr>
              <a:t>upper_maturity_upper_call</a:t>
            </a:r>
            <a:r>
              <a:rPr lang="en-US" sz="2000" dirty="0">
                <a:latin typeface="Times New Roman" panose="02020603050405020304" pitchFamily="18" charset="0"/>
                <a:cs typeface="Times New Roman" panose="02020603050405020304" pitchFamily="18" charset="0"/>
              </a:rPr>
              <a:t> — maturity at L+1, calls shifted up</a:t>
            </a:r>
          </a:p>
          <a:p>
            <a:pPr lvl="1"/>
            <a:r>
              <a:rPr lang="en-US" sz="2000" dirty="0" err="1">
                <a:latin typeface="Times New Roman" panose="02020603050405020304" pitchFamily="18" charset="0"/>
                <a:cs typeface="Times New Roman" panose="02020603050405020304" pitchFamily="18" charset="0"/>
              </a:rPr>
              <a:t>lower_maturity_upper_call</a:t>
            </a:r>
            <a:r>
              <a:rPr lang="en-US" sz="2000" dirty="0">
                <a:latin typeface="Times New Roman" panose="02020603050405020304" pitchFamily="18" charset="0"/>
                <a:cs typeface="Times New Roman" panose="02020603050405020304" pitchFamily="18" charset="0"/>
              </a:rPr>
              <a:t> — maturity at L, calls shifted up</a:t>
            </a:r>
          </a:p>
          <a:p>
            <a:pPr lvl="1"/>
            <a:r>
              <a:rPr lang="en-US" sz="2000" dirty="0" err="1">
                <a:latin typeface="Times New Roman" panose="02020603050405020304" pitchFamily="18" charset="0"/>
                <a:cs typeface="Times New Roman" panose="02020603050405020304" pitchFamily="18" charset="0"/>
              </a:rPr>
              <a:t>upper_maturity_lower_call</a:t>
            </a:r>
            <a:r>
              <a:rPr lang="en-US" sz="2000" dirty="0">
                <a:latin typeface="Times New Roman" panose="02020603050405020304" pitchFamily="18" charset="0"/>
                <a:cs typeface="Times New Roman" panose="02020603050405020304" pitchFamily="18" charset="0"/>
              </a:rPr>
              <a:t> — maturity at L+1, calls shifted down</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68179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BE94-D7CC-2217-ACEE-CB8E904C8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178E7-C740-330A-C2D8-5A7057262301}"/>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Interpolation Coefficients</a:t>
            </a:r>
          </a:p>
        </p:txBody>
      </p:sp>
      <p:sp>
        <p:nvSpPr>
          <p:cNvPr id="3" name="Content Placeholder 2">
            <a:extLst>
              <a:ext uri="{FF2B5EF4-FFF2-40B4-BE49-F238E27FC236}">
                <a16:creationId xmlns:a16="http://schemas.microsoft.com/office/drawing/2014/main" id="{BA247059-EEBD-6A54-2E6E-5F7DD78BAE4A}"/>
              </a:ext>
            </a:extLst>
          </p:cNvPr>
          <p:cNvSpPr>
            <a:spLocks noGrp="1"/>
          </p:cNvSpPr>
          <p:nvPr>
            <p:ph idx="1"/>
          </p:nvPr>
        </p:nvSpPr>
        <p:spPr>
          <a:xfrm>
            <a:off x="838200" y="1026622"/>
            <a:ext cx="10400607" cy="5150341"/>
          </a:xfrm>
        </p:spPr>
        <p:txBody>
          <a:bodyPr>
            <a:normAutofit/>
          </a:bodyPr>
          <a:lstStyle/>
          <a:p>
            <a:pPr lvl="0"/>
            <a:r>
              <a:rPr lang="en-US" sz="2400" b="1" dirty="0" err="1">
                <a:latin typeface="Times New Roman" panose="02020603050405020304" pitchFamily="18" charset="0"/>
                <a:cs typeface="Times New Roman" panose="02020603050405020304" pitchFamily="18" charset="0"/>
              </a:rPr>
              <a:t>maturity_interpolation_coefficient</a:t>
            </a:r>
            <a:r>
              <a:rPr lang="en-US" sz="2400" dirty="0">
                <a:latin typeface="Times New Roman" panose="02020603050405020304" pitchFamily="18" charset="0"/>
                <a:cs typeface="Times New Roman" panose="02020603050405020304" pitchFamily="18" charset="0"/>
              </a:rPr>
              <a:t> ∈ [0, 1]: Fraction of the way from the lower to the upper maturity level.</a:t>
            </a:r>
          </a:p>
          <a:p>
            <a:pPr lvl="0"/>
            <a:r>
              <a:rPr lang="en-US" sz="2400" b="1" dirty="0" err="1">
                <a:latin typeface="Times New Roman" panose="02020603050405020304" pitchFamily="18" charset="0"/>
                <a:cs typeface="Times New Roman" panose="02020603050405020304" pitchFamily="18" charset="0"/>
              </a:rPr>
              <a:t>call_interpolation_coefficient</a:t>
            </a:r>
            <a:r>
              <a:rPr lang="en-US" sz="2400" dirty="0">
                <a:latin typeface="Times New Roman" panose="02020603050405020304" pitchFamily="18" charset="0"/>
                <a:cs typeface="Times New Roman" panose="02020603050405020304" pitchFamily="18" charset="0"/>
              </a:rPr>
              <a:t> ∈ [0, 1]: Fraction of the way from the lower to the upper call level.</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3313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35348-924A-AE3E-6C06-334E02F23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B30F5-D9FC-1BE9-F3F5-D11BDA756A68}"/>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Call Schedule Alignment</a:t>
            </a:r>
          </a:p>
        </p:txBody>
      </p:sp>
      <p:sp>
        <p:nvSpPr>
          <p:cNvPr id="3" name="Content Placeholder 2">
            <a:extLst>
              <a:ext uri="{FF2B5EF4-FFF2-40B4-BE49-F238E27FC236}">
                <a16:creationId xmlns:a16="http://schemas.microsoft.com/office/drawing/2014/main" id="{FDDE6F99-4650-4B95-2384-496EDE8EFE9F}"/>
              </a:ext>
            </a:extLst>
          </p:cNvPr>
          <p:cNvSpPr>
            <a:spLocks noGrp="1"/>
          </p:cNvSpPr>
          <p:nvPr>
            <p:ph idx="1"/>
          </p:nvPr>
        </p:nvSpPr>
        <p:spPr>
          <a:xfrm>
            <a:off x="838200" y="1026622"/>
            <a:ext cx="10400607" cy="5150341"/>
          </a:xfrm>
        </p:spPr>
        <p:txBody>
          <a:bodyPr>
            <a:normAutofit/>
          </a:bodyPr>
          <a:lstStyle/>
          <a:p>
            <a:pPr lvl="0"/>
            <a:r>
              <a:rPr lang="en-US" sz="2400" dirty="0">
                <a:latin typeface="Times New Roman" panose="02020603050405020304" pitchFamily="18" charset="0"/>
                <a:cs typeface="Times New Roman" panose="02020603050405020304" pitchFamily="18" charset="0"/>
              </a:rPr>
              <a:t>Each call option in the bond's call schedule is mapped to the nearest lattice levels (floor and ceiling). The </a:t>
            </a:r>
            <a:r>
              <a:rPr lang="en-US" sz="2400" dirty="0" err="1">
                <a:latin typeface="Times New Roman" panose="02020603050405020304" pitchFamily="18" charset="0"/>
                <a:cs typeface="Times New Roman" panose="02020603050405020304" pitchFamily="18" charset="0"/>
              </a:rPr>
              <a:t>AlignedCallSchedule</a:t>
            </a:r>
            <a:r>
              <a:rPr lang="en-US" sz="2400" dirty="0">
                <a:latin typeface="Times New Roman" panose="02020603050405020304" pitchFamily="18" charset="0"/>
                <a:cs typeface="Times New Roman" panose="02020603050405020304" pitchFamily="18" charset="0"/>
              </a:rPr>
              <a:t> provides O(1) lookup by level via a pre-sized vector indexed by level number</a:t>
            </a:r>
          </a:p>
          <a:p>
            <a:r>
              <a:rPr lang="en-US" sz="2400" dirty="0">
                <a:latin typeface="Times New Roman" panose="02020603050405020304" pitchFamily="18" charset="0"/>
                <a:cs typeface="Times New Roman" panose="02020603050405020304" pitchFamily="18" charset="0"/>
              </a:rPr>
              <a:t>struct </a:t>
            </a:r>
            <a:r>
              <a:rPr lang="en-US" sz="2400" dirty="0" err="1">
                <a:latin typeface="Times New Roman" panose="02020603050405020304" pitchFamily="18" charset="0"/>
                <a:cs typeface="Times New Roman" panose="02020603050405020304" pitchFamily="18" charset="0"/>
              </a:rPr>
              <a:t>AlignedCallOption</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int </a:t>
            </a:r>
            <a:r>
              <a:rPr lang="en-US" sz="2400" dirty="0" err="1">
                <a:latin typeface="Times New Roman" panose="02020603050405020304" pitchFamily="18" charset="0"/>
                <a:cs typeface="Times New Roman" panose="02020603050405020304" pitchFamily="18" charset="0"/>
              </a:rPr>
              <a:t>exercise_level</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 Lattice level where the option is exercisable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double </a:t>
            </a:r>
            <a:r>
              <a:rPr lang="en-US" sz="2400" dirty="0" err="1">
                <a:latin typeface="Times New Roman" panose="02020603050405020304" pitchFamily="18" charset="0"/>
                <a:cs typeface="Times New Roman" panose="02020603050405020304" pitchFamily="18" charset="0"/>
              </a:rPr>
              <a:t>strike_price</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 Strike price of the call</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t>
            </a:r>
          </a:p>
          <a:p>
            <a:pPr marL="0" lv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56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0D868-3C81-61F0-2114-8A71569C1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2FF6B-FA61-799B-AD4A-9EC74634082A}"/>
              </a:ext>
            </a:extLst>
          </p:cNvPr>
          <p:cNvSpPr>
            <a:spLocks noGrp="1"/>
          </p:cNvSpPr>
          <p:nvPr>
            <p:ph type="title"/>
          </p:nvPr>
        </p:nvSpPr>
        <p:spPr>
          <a:xfrm>
            <a:off x="838200" y="365126"/>
            <a:ext cx="10400607" cy="540962"/>
          </a:xfrm>
        </p:spPr>
        <p:txBody>
          <a:bodyPr>
            <a:normAutofit/>
          </a:bodyPr>
          <a:lstStyle/>
          <a:p>
            <a:pPr algn="ctr"/>
            <a:r>
              <a:rPr lang="en-US" sz="2800" b="1" dirty="0"/>
              <a:t>Instrument Representation – Initialization Methods</a:t>
            </a:r>
          </a:p>
        </p:txBody>
      </p:sp>
      <p:graphicFrame>
        <p:nvGraphicFramePr>
          <p:cNvPr id="4" name="Content Placeholder 3">
            <a:extLst>
              <a:ext uri="{FF2B5EF4-FFF2-40B4-BE49-F238E27FC236}">
                <a16:creationId xmlns:a16="http://schemas.microsoft.com/office/drawing/2014/main" id="{CCCF3172-F370-234B-39F0-899518DB248E}"/>
              </a:ext>
            </a:extLst>
          </p:cNvPr>
          <p:cNvGraphicFramePr>
            <a:graphicFrameLocks noGrp="1"/>
          </p:cNvGraphicFramePr>
          <p:nvPr>
            <p:ph idx="1"/>
          </p:nvPr>
        </p:nvGraphicFramePr>
        <p:xfrm>
          <a:off x="838200" y="2897541"/>
          <a:ext cx="10401300" cy="1405682"/>
        </p:xfrm>
        <a:graphic>
          <a:graphicData uri="http://schemas.openxmlformats.org/drawingml/2006/table">
            <a:tbl>
              <a:tblPr firstRow="1" firstCol="1" bandRow="1">
                <a:tableStyleId>{5C22544A-7EE6-4342-B048-85BDC9FD1C3A}</a:tableStyleId>
              </a:tblPr>
              <a:tblGrid>
                <a:gridCol w="5200650">
                  <a:extLst>
                    <a:ext uri="{9D8B030D-6E8A-4147-A177-3AD203B41FA5}">
                      <a16:colId xmlns:a16="http://schemas.microsoft.com/office/drawing/2014/main" val="2617561169"/>
                    </a:ext>
                  </a:extLst>
                </a:gridCol>
                <a:gridCol w="5200650">
                  <a:extLst>
                    <a:ext uri="{9D8B030D-6E8A-4147-A177-3AD203B41FA5}">
                      <a16:colId xmlns:a16="http://schemas.microsoft.com/office/drawing/2014/main" val="2850178505"/>
                    </a:ext>
                  </a:extLst>
                </a:gridCol>
              </a:tblGrid>
              <a:tr h="252495">
                <a:tc>
                  <a:txBody>
                    <a:bodyPr/>
                    <a:lstStyle/>
                    <a:p>
                      <a:pPr marL="0" marR="0">
                        <a:spcAft>
                          <a:spcPts val="840"/>
                        </a:spcAft>
                        <a:buNone/>
                      </a:pPr>
                      <a:r>
                        <a:rPr lang="en-US" sz="1000">
                          <a:effectLst/>
                        </a:rPr>
                        <a:t>Method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a:effectLst/>
                        </a:rPr>
                        <a:t>Use Case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139282262"/>
                  </a:ext>
                </a:extLst>
              </a:tr>
              <a:tr h="252495">
                <a:tc>
                  <a:txBody>
                    <a:bodyPr/>
                    <a:lstStyle/>
                    <a:p>
                      <a:pPr marL="0" marR="0">
                        <a:spcAft>
                          <a:spcPts val="840"/>
                        </a:spcAft>
                        <a:buNone/>
                      </a:pPr>
                      <a:r>
                        <a:rPr lang="en-US" sz="1000">
                          <a:effectLst/>
                        </a:rPr>
                        <a:t>init_from_munibondinfo(bond_info, trade_date)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a:effectLst/>
                        </a:rPr>
                        <a:t>Full municipal bond with real market data</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3632602342"/>
                  </a:ext>
                </a:extLst>
              </a:tr>
              <a:tr h="252495">
                <a:tc>
                  <a:txBody>
                    <a:bodyPr/>
                    <a:lstStyle/>
                    <a:p>
                      <a:pPr marL="0" marR="0">
                        <a:spcAft>
                          <a:spcPts val="840"/>
                        </a:spcAft>
                        <a:buNone/>
                      </a:pPr>
                      <a:r>
                        <a:rPr lang="en-US" sz="1000">
                          <a:effectLst/>
                        </a:rPr>
                        <a:t>init_from_reference_data(...)</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a:effectLst/>
                        </a:rPr>
                        <a:t>Generic instrument from disaggregated reference data</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1757670137"/>
                  </a:ext>
                </a:extLst>
              </a:tr>
              <a:tr h="252495">
                <a:tc>
                  <a:txBody>
                    <a:bodyPr/>
                    <a:lstStyle/>
                    <a:p>
                      <a:pPr marL="0" marR="0">
                        <a:spcAft>
                          <a:spcPts val="840"/>
                        </a:spcAft>
                        <a:buNone/>
                      </a:pPr>
                      <a:r>
                        <a:rPr lang="en-US" sz="1000">
                          <a:effectLst/>
                        </a:rPr>
                        <a:t>init_noncallable(years_to_maturity, maturity_value, coupon)</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a:effectLst/>
                        </a:rPr>
                        <a:t>Simple non-callable instrument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3298007824"/>
                  </a:ext>
                </a:extLst>
              </a:tr>
              <a:tr h="395702">
                <a:tc>
                  <a:txBody>
                    <a:bodyPr/>
                    <a:lstStyle/>
                    <a:p>
                      <a:pPr marL="0" marR="0">
                        <a:spcAft>
                          <a:spcPts val="840"/>
                        </a:spcAft>
                        <a:buNone/>
                      </a:pPr>
                      <a:r>
                        <a:rPr lang="en-US" sz="1000">
                          <a:effectLst/>
                        </a:rPr>
                        <a:t>init_callable_continuous_par(years_to_maturity, maturity_value, coupon, years_to_call)</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tc>
                  <a:txBody>
                    <a:bodyPr/>
                    <a:lstStyle/>
                    <a:p>
                      <a:pPr marL="0" marR="0">
                        <a:spcAft>
                          <a:spcPts val="840"/>
                        </a:spcAft>
                        <a:buNone/>
                      </a:pPr>
                      <a:r>
                        <a:rPr lang="en-US" sz="1000" dirty="0">
                          <a:effectLst/>
                        </a:rPr>
                        <a:t>Par-callable instrument</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94215" marR="94215" marT="47107" marB="47107" anchor="ctr"/>
                </a:tc>
                <a:extLst>
                  <a:ext uri="{0D108BD9-81ED-4DB2-BD59-A6C34878D82A}">
                    <a16:rowId xmlns:a16="http://schemas.microsoft.com/office/drawing/2014/main" val="3795767827"/>
                  </a:ext>
                </a:extLst>
              </a:tr>
            </a:tbl>
          </a:graphicData>
        </a:graphic>
      </p:graphicFrame>
    </p:spTree>
    <p:extLst>
      <p:ext uri="{BB962C8B-B14F-4D97-AF65-F5344CB8AC3E}">
        <p14:creationId xmlns:p14="http://schemas.microsoft.com/office/powerpoint/2010/main" val="41407192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AD16A-722C-8CBF-CF51-74753F2C0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872EA-D330-42D3-970E-64F201B69B40}"/>
              </a:ext>
            </a:extLst>
          </p:cNvPr>
          <p:cNvSpPr>
            <a:spLocks noGrp="1"/>
          </p:cNvSpPr>
          <p:nvPr>
            <p:ph type="title"/>
          </p:nvPr>
        </p:nvSpPr>
        <p:spPr>
          <a:xfrm>
            <a:off x="838200" y="365126"/>
            <a:ext cx="10400607" cy="540962"/>
          </a:xfrm>
        </p:spPr>
        <p:txBody>
          <a:bodyPr>
            <a:normAutofit/>
          </a:bodyPr>
          <a:lstStyle/>
          <a:p>
            <a:pPr algn="ctr"/>
            <a:r>
              <a:rPr lang="en-US" sz="2800" b="1" dirty="0"/>
              <a:t>Pricing Algorithm – Backward Induction (Core Engine)</a:t>
            </a:r>
          </a:p>
        </p:txBody>
      </p:sp>
      <p:sp>
        <p:nvSpPr>
          <p:cNvPr id="3" name="Content Placeholder 2">
            <a:extLst>
              <a:ext uri="{FF2B5EF4-FFF2-40B4-BE49-F238E27FC236}">
                <a16:creationId xmlns:a16="http://schemas.microsoft.com/office/drawing/2014/main" id="{A3A92120-94B8-16CA-B588-97A0F1E2BE0A}"/>
              </a:ext>
            </a:extLst>
          </p:cNvPr>
          <p:cNvSpPr>
            <a:spLocks noGrp="1"/>
          </p:cNvSpPr>
          <p:nvPr>
            <p:ph idx="1"/>
          </p:nvPr>
        </p:nvSpPr>
        <p:spPr>
          <a:xfrm>
            <a:off x="838200" y="1026622"/>
            <a:ext cx="10400607" cy="5150341"/>
          </a:xfrm>
        </p:spPr>
        <p:txBody>
          <a:bodyPr>
            <a:normAutofit fontScale="77500" lnSpcReduction="20000"/>
          </a:bodyPr>
          <a:lstStyle/>
          <a:p>
            <a:r>
              <a:rPr lang="en-US" sz="2600" dirty="0" err="1">
                <a:latin typeface="Times New Roman" panose="02020603050405020304" pitchFamily="18" charset="0"/>
                <a:cs typeface="Times New Roman" panose="02020603050405020304" pitchFamily="18" charset="0"/>
              </a:rPr>
              <a:t>price_aligned_instrument</a:t>
            </a:r>
            <a:r>
              <a:rPr lang="en-US" sz="2600" dirty="0">
                <a:latin typeface="Times New Roman" panose="02020603050405020304" pitchFamily="18" charset="0"/>
                <a:cs typeface="Times New Roman" panose="02020603050405020304" pitchFamily="18" charset="0"/>
              </a:rPr>
              <a:t>(instrument) → price</a:t>
            </a:r>
          </a:p>
          <a:p>
            <a:r>
              <a:rPr lang="en-US" sz="2600" dirty="0">
                <a:latin typeface="Times New Roman" panose="02020603050405020304" pitchFamily="18" charset="0"/>
                <a:cs typeface="Times New Roman" panose="02020603050405020304" pitchFamily="18" charset="0"/>
              </a:rPr>
              <a:t>This is the performance-critical inner loop. It prices a single aligned instrument via backward induction:</a:t>
            </a:r>
          </a:p>
          <a:p>
            <a:pPr lvl="1"/>
            <a:r>
              <a:rPr lang="en-US" sz="2200" b="1" dirty="0">
                <a:latin typeface="Times New Roman" panose="02020603050405020304" pitchFamily="18" charset="0"/>
                <a:cs typeface="Times New Roman" panose="02020603050405020304" pitchFamily="18" charset="0"/>
              </a:rPr>
              <a:t>Initialize leaf nodes</a:t>
            </a:r>
            <a:r>
              <a:rPr lang="en-US" sz="2200" dirty="0">
                <a:latin typeface="Times New Roman" panose="02020603050405020304" pitchFamily="18" charset="0"/>
                <a:cs typeface="Times New Roman" panose="02020603050405020304" pitchFamily="18" charset="0"/>
              </a:rPr>
              <a:t> (level = </a:t>
            </a:r>
            <a:r>
              <a:rPr lang="en-US" sz="2200" dirty="0" err="1">
                <a:latin typeface="Times New Roman" panose="02020603050405020304" pitchFamily="18" charset="0"/>
                <a:cs typeface="Times New Roman" panose="02020603050405020304" pitchFamily="18" charset="0"/>
              </a:rPr>
              <a:t>maturity_level</a:t>
            </a:r>
            <a:r>
              <a:rPr lang="en-US" sz="2200" dirty="0">
                <a:latin typeface="Times New Roman" panose="02020603050405020304" pitchFamily="18" charset="0"/>
                <a:cs typeface="Times New Roman" panose="02020603050405020304" pitchFamily="18" charset="0"/>
              </a:rPr>
              <a:t> - 1):</a:t>
            </a:r>
          </a:p>
          <a:p>
            <a:pPr lvl="2"/>
            <a:r>
              <a:rPr lang="en-US" sz="1800" dirty="0">
                <a:latin typeface="Times New Roman" panose="02020603050405020304" pitchFamily="18" charset="0"/>
                <a:cs typeface="Times New Roman" panose="02020603050405020304" pitchFamily="18" charset="0"/>
              </a:rPr>
              <a:t>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maturity_value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coupon_payment</a:t>
            </a:r>
            <a:r>
              <a:rPr lang="en-US" sz="1800" dirty="0">
                <a:latin typeface="Times New Roman" panose="02020603050405020304" pitchFamily="18" charset="0"/>
                <a:cs typeface="Times New Roman" panose="02020603050405020304" pitchFamily="18" charset="0"/>
              </a:rPr>
              <a:t>) / (1 + </a:t>
            </a:r>
            <a:r>
              <a:rPr lang="en-US" sz="1800" dirty="0" err="1">
                <a:latin typeface="Times New Roman" panose="02020603050405020304" pitchFamily="18" charset="0"/>
                <a:cs typeface="Times New Roman" panose="02020603050405020304" pitchFamily="18" charset="0"/>
              </a:rPr>
              <a:t>short_rate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lvl</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a:t>
            </a:r>
          </a:p>
          <a:p>
            <a:pPr lvl="2"/>
            <a:r>
              <a:rPr lang="en-US" sz="1800" dirty="0">
                <a:latin typeface="Times New Roman" panose="02020603050405020304" pitchFamily="18" charset="0"/>
                <a:cs typeface="Times New Roman" panose="02020603050405020304" pitchFamily="18" charset="0"/>
              </a:rPr>
              <a:t>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 min(price[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call_strike</a:t>
            </a:r>
            <a:r>
              <a:rPr lang="en-US" sz="1800" dirty="0">
                <a:latin typeface="Times New Roman" panose="02020603050405020304" pitchFamily="18" charset="0"/>
                <a:cs typeface="Times New Roman" panose="02020603050405020304" pitchFamily="18" charset="0"/>
              </a:rPr>
              <a:t>)  // if callable at this level</a:t>
            </a:r>
          </a:p>
          <a:p>
            <a:pPr lvl="1"/>
            <a:r>
              <a:rPr lang="en-US" sz="2200" b="1" dirty="0">
                <a:latin typeface="Times New Roman" panose="02020603050405020304" pitchFamily="18" charset="0"/>
                <a:cs typeface="Times New Roman" panose="02020603050405020304" pitchFamily="18" charset="0"/>
              </a:rPr>
              <a:t>Roll back</a:t>
            </a:r>
            <a:r>
              <a:rPr lang="en-US" sz="2200" dirty="0">
                <a:latin typeface="Times New Roman" panose="02020603050405020304" pitchFamily="18" charset="0"/>
                <a:cs typeface="Times New Roman" panose="02020603050405020304" pitchFamily="18" charset="0"/>
              </a:rPr>
              <a:t> from </a:t>
            </a:r>
            <a:r>
              <a:rPr lang="en-US" sz="2200" dirty="0" err="1">
                <a:latin typeface="Times New Roman" panose="02020603050405020304" pitchFamily="18" charset="0"/>
                <a:cs typeface="Times New Roman" panose="02020603050405020304" pitchFamily="18" charset="0"/>
              </a:rPr>
              <a:t>maturity_level</a:t>
            </a:r>
            <a:r>
              <a:rPr lang="en-US" sz="2200" dirty="0">
                <a:latin typeface="Times New Roman" panose="02020603050405020304" pitchFamily="18" charset="0"/>
                <a:cs typeface="Times New Roman" panose="02020603050405020304" pitchFamily="18" charset="0"/>
              </a:rPr>
              <a:t> - 2 down to level 0:</a:t>
            </a:r>
          </a:p>
          <a:p>
            <a:pPr lvl="2"/>
            <a:r>
              <a:rPr lang="en-US" sz="1800" dirty="0">
                <a:latin typeface="Times New Roman" panose="02020603050405020304" pitchFamily="18" charset="0"/>
                <a:cs typeface="Times New Roman" panose="02020603050405020304" pitchFamily="18" charset="0"/>
              </a:rPr>
              <a:t>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 0.5 * ((</a:t>
            </a:r>
            <a:r>
              <a:rPr lang="en-US" sz="1800" dirty="0" err="1">
                <a:latin typeface="Times New Roman" panose="02020603050405020304" pitchFamily="18" charset="0"/>
                <a:cs typeface="Times New Roman" panose="02020603050405020304" pitchFamily="18" charset="0"/>
              </a:rPr>
              <a:t>price_up</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coupon_payment</a:t>
            </a:r>
            <a:r>
              <a:rPr lang="en-US" sz="1800" dirty="0">
                <a:latin typeface="Times New Roman" panose="02020603050405020304" pitchFamily="18" charset="0"/>
                <a:cs typeface="Times New Roman" panose="02020603050405020304" pitchFamily="18" charset="0"/>
              </a:rPr>
              <a:t>) / (1 + rate) + (</a:t>
            </a:r>
            <a:r>
              <a:rPr lang="en-US" sz="1800" dirty="0" err="1">
                <a:latin typeface="Times New Roman" panose="02020603050405020304" pitchFamily="18" charset="0"/>
                <a:cs typeface="Times New Roman" panose="02020603050405020304" pitchFamily="18" charset="0"/>
              </a:rPr>
              <a:t>price_down</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coupon_payment</a:t>
            </a:r>
            <a:r>
              <a:rPr lang="en-US" sz="1800" dirty="0">
                <a:latin typeface="Times New Roman" panose="02020603050405020304" pitchFamily="18" charset="0"/>
                <a:cs typeface="Times New Roman" panose="02020603050405020304" pitchFamily="18" charset="0"/>
              </a:rPr>
              <a:t>) / (1 + rate))</a:t>
            </a:r>
          </a:p>
          <a:p>
            <a:pPr lvl="2"/>
            <a:r>
              <a:rPr lang="en-US" sz="1800" dirty="0">
                <a:latin typeface="Times New Roman" panose="02020603050405020304" pitchFamily="18" charset="0"/>
                <a:cs typeface="Times New Roman" panose="02020603050405020304" pitchFamily="18" charset="0"/>
              </a:rPr>
              <a:t>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 min(price[</a:t>
            </a:r>
            <a:r>
              <a:rPr lang="en-US" sz="1800" dirty="0" err="1">
                <a:latin typeface="Times New Roman" panose="02020603050405020304" pitchFamily="18" charset="0"/>
                <a:cs typeface="Times New Roman" panose="02020603050405020304" pitchFamily="18" charset="0"/>
              </a:rPr>
              <a:t>idx</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call_strike</a:t>
            </a:r>
            <a:r>
              <a:rPr lang="en-US" sz="1800" dirty="0">
                <a:latin typeface="Times New Roman" panose="02020603050405020304" pitchFamily="18" charset="0"/>
                <a:cs typeface="Times New Roman" panose="02020603050405020304" pitchFamily="18" charset="0"/>
              </a:rPr>
              <a:t>)  // if callable at this level</a:t>
            </a:r>
          </a:p>
          <a:p>
            <a:pPr marL="914400" lvl="2" indent="0">
              <a:buNone/>
            </a:pPr>
            <a:r>
              <a:rPr lang="en-US" sz="1800" dirty="0">
                <a:latin typeface="Times New Roman" panose="02020603050405020304" pitchFamily="18" charset="0"/>
                <a:cs typeface="Times New Roman" panose="02020603050405020304" pitchFamily="18" charset="0"/>
              </a:rPr>
              <a:t>where </a:t>
            </a:r>
            <a:r>
              <a:rPr lang="en-US" sz="1800" dirty="0" err="1">
                <a:latin typeface="Times New Roman" panose="02020603050405020304" pitchFamily="18" charset="0"/>
                <a:cs typeface="Times New Roman" panose="02020603050405020304" pitchFamily="18" charset="0"/>
              </a:rPr>
              <a:t>price_up</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price_down</a:t>
            </a:r>
            <a:r>
              <a:rPr lang="en-US" sz="1800" dirty="0">
                <a:latin typeface="Times New Roman" panose="02020603050405020304" pitchFamily="18" charset="0"/>
                <a:cs typeface="Times New Roman" panose="02020603050405020304" pitchFamily="18" charset="0"/>
              </a:rPr>
              <a:t> are the prices at the two successor nodes.</a:t>
            </a:r>
          </a:p>
          <a:p>
            <a:pPr lvl="1"/>
            <a:r>
              <a:rPr lang="en-US" sz="2200" b="1" dirty="0">
                <a:latin typeface="Times New Roman" panose="02020603050405020304" pitchFamily="18" charset="0"/>
                <a:cs typeface="Times New Roman" panose="02020603050405020304" pitchFamily="18" charset="0"/>
              </a:rPr>
              <a:t>Result</a:t>
            </a:r>
            <a:r>
              <a:rPr lang="en-US" sz="2200" dirty="0">
                <a:latin typeface="Times New Roman" panose="02020603050405020304" pitchFamily="18" charset="0"/>
                <a:cs typeface="Times New Roman" panose="02020603050405020304" pitchFamily="18" charset="0"/>
              </a:rPr>
              <a:t>: price[0] at level 0 is the model price.</a:t>
            </a:r>
          </a:p>
          <a:p>
            <a:r>
              <a:rPr lang="en-US" sz="2900" dirty="0">
                <a:latin typeface="Times New Roman" panose="02020603050405020304" pitchFamily="18" charset="0"/>
                <a:cs typeface="Times New Roman" panose="02020603050405020304" pitchFamily="18" charset="0"/>
              </a:rPr>
              <a:t>Key details:</a:t>
            </a:r>
          </a:p>
          <a:p>
            <a:pPr lvl="1"/>
            <a:r>
              <a:rPr lang="en-US" sz="2500" b="1" dirty="0">
                <a:latin typeface="Times New Roman" panose="02020603050405020304" pitchFamily="18" charset="0"/>
                <a:cs typeface="Times New Roman" panose="02020603050405020304" pitchFamily="18" charset="0"/>
              </a:rPr>
              <a:t>Coupon payment</a:t>
            </a:r>
            <a:r>
              <a:rPr lang="en-US" sz="2500" dirty="0">
                <a:latin typeface="Times New Roman" panose="02020603050405020304" pitchFamily="18" charset="0"/>
                <a:cs typeface="Times New Roman" panose="02020603050405020304" pitchFamily="18" charset="0"/>
              </a:rPr>
              <a:t> = coupon * </a:t>
            </a:r>
            <a:r>
              <a:rPr lang="en-US" sz="2500" dirty="0" err="1">
                <a:latin typeface="Times New Roman" panose="02020603050405020304" pitchFamily="18" charset="0"/>
                <a:cs typeface="Times New Roman" panose="02020603050405020304" pitchFamily="18" charset="0"/>
              </a:rPr>
              <a:t>maturity_value</a:t>
            </a:r>
            <a:r>
              <a:rPr lang="en-US" sz="2500" dirty="0">
                <a:latin typeface="Times New Roman" panose="02020603050405020304" pitchFamily="18" charset="0"/>
                <a:cs typeface="Times New Roman" panose="02020603050405020304" pitchFamily="18" charset="0"/>
              </a:rPr>
              <a:t> (applied at every level as an approximation of semi-annual payments accruing proportionally).</a:t>
            </a:r>
          </a:p>
          <a:p>
            <a:pPr lvl="1"/>
            <a:r>
              <a:rPr lang="en-US" sz="2500" b="1" dirty="0">
                <a:latin typeface="Times New Roman" panose="02020603050405020304" pitchFamily="18" charset="0"/>
                <a:cs typeface="Times New Roman" panose="02020603050405020304" pitchFamily="18" charset="0"/>
              </a:rPr>
              <a:t>Call exercise</a:t>
            </a:r>
            <a:r>
              <a:rPr lang="en-US" sz="2500" dirty="0">
                <a:latin typeface="Times New Roman" panose="02020603050405020304" pitchFamily="18" charset="0"/>
                <a:cs typeface="Times New Roman" panose="02020603050405020304" pitchFamily="18" charset="0"/>
              </a:rPr>
              <a:t>: At any level where a call option exists, the price is capped at the call strike (the issuer exercises if it's advantageous).</a:t>
            </a:r>
          </a:p>
          <a:p>
            <a:pPr lvl="1"/>
            <a:r>
              <a:rPr lang="en-US" sz="2500" b="1" dirty="0">
                <a:latin typeface="Times New Roman" panose="02020603050405020304" pitchFamily="18" charset="0"/>
                <a:cs typeface="Times New Roman" panose="02020603050405020304" pitchFamily="18" charset="0"/>
              </a:rPr>
              <a:t>Memory</a:t>
            </a:r>
            <a:r>
              <a:rPr lang="en-US" sz="2500" dirty="0">
                <a:latin typeface="Times New Roman" panose="02020603050405020304" pitchFamily="18" charset="0"/>
                <a:cs typeface="Times New Roman" panose="02020603050405020304" pitchFamily="18" charset="0"/>
              </a:rPr>
              <a:t>: Uses a single stack-allocated array of size MAX_MATURITY_LEVEL = 64 (in-place overwrite, no allocation).</a:t>
            </a:r>
          </a:p>
          <a:p>
            <a:pPr lvl="1"/>
            <a:r>
              <a:rPr lang="en-US" sz="2500" b="1" dirty="0">
                <a:latin typeface="Times New Roman" panose="02020603050405020304" pitchFamily="18" charset="0"/>
                <a:cs typeface="Times New Roman" panose="02020603050405020304" pitchFamily="18" charset="0"/>
              </a:rPr>
              <a:t>Performance</a:t>
            </a:r>
            <a:r>
              <a:rPr lang="en-US" sz="2500" dirty="0">
                <a:latin typeface="Times New Roman" panose="02020603050405020304" pitchFamily="18" charset="0"/>
                <a:cs typeface="Times New Roman" panose="02020603050405020304" pitchFamily="18" charset="0"/>
              </a:rPr>
              <a:t>: Iterates via raw pointer arithmetic on the flat </a:t>
            </a:r>
            <a:r>
              <a:rPr lang="en-US" sz="2500" dirty="0" err="1">
                <a:latin typeface="Times New Roman" panose="02020603050405020304" pitchFamily="18" charset="0"/>
                <a:cs typeface="Times New Roman" panose="02020603050405020304" pitchFamily="18" charset="0"/>
              </a:rPr>
              <a:t>node_values</a:t>
            </a:r>
            <a:r>
              <a:rPr lang="en-US" sz="2500" dirty="0">
                <a:latin typeface="Times New Roman" panose="02020603050405020304" pitchFamily="18" charset="0"/>
                <a:cs typeface="Times New Roman" panose="02020603050405020304" pitchFamily="18" charset="0"/>
              </a:rPr>
              <a:t>_ array for cache efficiency</a:t>
            </a:r>
          </a:p>
          <a:p>
            <a:pPr marL="0" lv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8209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5DA1-9607-AB3E-974E-6C34F33F6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237C3-42F0-B01B-36DB-2B2F883F0714}"/>
              </a:ext>
            </a:extLst>
          </p:cNvPr>
          <p:cNvSpPr>
            <a:spLocks noGrp="1"/>
          </p:cNvSpPr>
          <p:nvPr>
            <p:ph type="title"/>
          </p:nvPr>
        </p:nvSpPr>
        <p:spPr>
          <a:xfrm>
            <a:off x="838200" y="365126"/>
            <a:ext cx="10400607" cy="540962"/>
          </a:xfrm>
        </p:spPr>
        <p:txBody>
          <a:bodyPr>
            <a:normAutofit/>
          </a:bodyPr>
          <a:lstStyle/>
          <a:p>
            <a:pPr algn="ctr"/>
            <a:r>
              <a:rPr lang="en-US" sz="2800" b="1" dirty="0"/>
              <a:t>Pricing Algorithm – Interpolated Pricing</a:t>
            </a:r>
          </a:p>
        </p:txBody>
      </p:sp>
      <p:sp>
        <p:nvSpPr>
          <p:cNvPr id="3" name="Content Placeholder 2">
            <a:extLst>
              <a:ext uri="{FF2B5EF4-FFF2-40B4-BE49-F238E27FC236}">
                <a16:creationId xmlns:a16="http://schemas.microsoft.com/office/drawing/2014/main" id="{1AFFE141-5235-4278-6E1F-A9AF6C49F524}"/>
              </a:ext>
            </a:extLst>
          </p:cNvPr>
          <p:cNvSpPr>
            <a:spLocks noGrp="1"/>
          </p:cNvSpPr>
          <p:nvPr>
            <p:ph idx="1"/>
          </p:nvPr>
        </p:nvSpPr>
        <p:spPr>
          <a:xfrm>
            <a:off x="838200" y="1026622"/>
            <a:ext cx="10400607" cy="5150341"/>
          </a:xfrm>
        </p:spPr>
        <p:txBody>
          <a:bodyPr>
            <a:normAutofit/>
          </a:bodyPr>
          <a:lstStyle/>
          <a:p>
            <a:r>
              <a:rPr lang="en-US" sz="2400" dirty="0" err="1">
                <a:latin typeface="Times New Roman" panose="02020603050405020304" pitchFamily="18" charset="0"/>
                <a:cs typeface="Times New Roman" panose="02020603050405020304" pitchFamily="18" charset="0"/>
              </a:rPr>
              <a:t>price_instrument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instr_properties</a:t>
            </a:r>
            <a:r>
              <a:rPr lang="en-US" sz="2400" dirty="0">
                <a:latin typeface="Times New Roman" panose="02020603050405020304" pitchFamily="18" charset="0"/>
                <a:cs typeface="Times New Roman" panose="02020603050405020304" pitchFamily="18" charset="0"/>
              </a:rPr>
              <a:t>) → price</a:t>
            </a:r>
          </a:p>
          <a:p>
            <a:r>
              <a:rPr lang="en-US" sz="2400" dirty="0">
                <a:latin typeface="Times New Roman" panose="02020603050405020304" pitchFamily="18" charset="0"/>
                <a:cs typeface="Times New Roman" panose="02020603050405020304" pitchFamily="18" charset="0"/>
              </a:rPr>
              <a:t>Handles non-aligned instruments:</a:t>
            </a:r>
          </a:p>
          <a:p>
            <a:pPr lvl="1"/>
            <a:r>
              <a:rPr lang="en-US" sz="2000" b="1" dirty="0">
                <a:latin typeface="Times New Roman" panose="02020603050405020304" pitchFamily="18" charset="0"/>
                <a:cs typeface="Times New Roman" panose="02020603050405020304" pitchFamily="18" charset="0"/>
              </a:rPr>
              <a:t>Maturity aligned, call aligned</a:t>
            </a:r>
            <a:r>
              <a:rPr lang="en-US" sz="2000" dirty="0">
                <a:latin typeface="Times New Roman" panose="02020603050405020304" pitchFamily="18" charset="0"/>
                <a:cs typeface="Times New Roman" panose="02020603050405020304" pitchFamily="18" charset="0"/>
              </a:rPr>
              <a:t>: Price the single </a:t>
            </a:r>
            <a:r>
              <a:rPr lang="en-US" sz="2000" dirty="0" err="1">
                <a:latin typeface="Times New Roman" panose="02020603050405020304" pitchFamily="18" charset="0"/>
                <a:cs typeface="Times New Roman" panose="02020603050405020304" pitchFamily="18" charset="0"/>
              </a:rPr>
              <a:t>lower_maturity_lower_call</a:t>
            </a:r>
            <a:r>
              <a:rPr lang="en-US" sz="2000" dirty="0">
                <a:latin typeface="Times New Roman" panose="02020603050405020304" pitchFamily="18" charset="0"/>
                <a:cs typeface="Times New Roman" panose="02020603050405020304" pitchFamily="18" charset="0"/>
              </a:rPr>
              <a:t> approximation directly.</a:t>
            </a:r>
          </a:p>
          <a:p>
            <a:pPr lvl="1"/>
            <a:r>
              <a:rPr lang="en-US" sz="2000" b="1" dirty="0">
                <a:latin typeface="Times New Roman" panose="02020603050405020304" pitchFamily="18" charset="0"/>
                <a:cs typeface="Times New Roman" panose="02020603050405020304" pitchFamily="18" charset="0"/>
              </a:rPr>
              <a:t>Maturity aligned, call not aligned</a:t>
            </a:r>
            <a:r>
              <a:rPr lang="en-US" sz="2000" dirty="0">
                <a:latin typeface="Times New Roman" panose="02020603050405020304" pitchFamily="18" charset="0"/>
                <a:cs typeface="Times New Roman" panose="02020603050405020304" pitchFamily="18" charset="0"/>
              </a:rPr>
              <a:t>: Linear interpolation between lower-call and upper-call prices using </a:t>
            </a:r>
            <a:r>
              <a:rPr lang="en-US" sz="2000" dirty="0" err="1">
                <a:latin typeface="Times New Roman" panose="02020603050405020304" pitchFamily="18" charset="0"/>
                <a:cs typeface="Times New Roman" panose="02020603050405020304" pitchFamily="18" charset="0"/>
              </a:rPr>
              <a:t>call_interpolation_coefficient</a:t>
            </a:r>
            <a:r>
              <a:rPr lang="en-US" sz="2000" dirty="0">
                <a:latin typeface="Times New Roman" panose="02020603050405020304" pitchFamily="18" charset="0"/>
                <a:cs typeface="Times New Roman" panose="02020603050405020304" pitchFamily="18" charset="0"/>
              </a:rPr>
              <a:t>.</a:t>
            </a:r>
          </a:p>
          <a:p>
            <a:pPr lvl="1"/>
            <a:r>
              <a:rPr lang="en-US" sz="2000" b="1" dirty="0">
                <a:latin typeface="Times New Roman" panose="02020603050405020304" pitchFamily="18" charset="0"/>
                <a:cs typeface="Times New Roman" panose="02020603050405020304" pitchFamily="18" charset="0"/>
              </a:rPr>
              <a:t>Maturity not aligned</a:t>
            </a:r>
            <a:r>
              <a:rPr lang="en-US" sz="2000" dirty="0">
                <a:latin typeface="Times New Roman" panose="02020603050405020304" pitchFamily="18" charset="0"/>
                <a:cs typeface="Times New Roman" panose="02020603050405020304" pitchFamily="18" charset="0"/>
              </a:rPr>
              <a:t>: Bilinear interpolation over all four approximations using both coefficients: </a:t>
            </a:r>
            <a:endParaRPr lang="en-US" sz="2400" dirty="0">
              <a:latin typeface="Times New Roman" panose="02020603050405020304" pitchFamily="18" charset="0"/>
              <a:cs typeface="Times New Roman" panose="02020603050405020304" pitchFamily="18" charset="0"/>
            </a:endParaRPr>
          </a:p>
          <a:p>
            <a:pPr lvl="2"/>
            <a:r>
              <a:rPr lang="en-US" sz="1600" dirty="0">
                <a:latin typeface="Times New Roman" panose="02020603050405020304" pitchFamily="18" charset="0"/>
                <a:cs typeface="Times New Roman" panose="02020603050405020304" pitchFamily="18" charset="0"/>
              </a:rPr>
              <a:t>price = </a:t>
            </a:r>
            <a:r>
              <a:rPr lang="en-US" sz="1600" dirty="0" err="1">
                <a:latin typeface="Times New Roman" panose="02020603050405020304" pitchFamily="18" charset="0"/>
                <a:cs typeface="Times New Roman" panose="02020603050405020304" pitchFamily="18" charset="0"/>
              </a:rPr>
              <a:t>bilinear_interpolate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maturity_coeff</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call_coeff</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price_LL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price_LU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price_UL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price_UU</a:t>
            </a:r>
            <a:r>
              <a:rPr lang="en-US" sz="1600" dirty="0">
                <a:latin typeface="Times New Roman" panose="02020603050405020304" pitchFamily="18" charset="0"/>
                <a:cs typeface="Times New Roman" panose="02020603050405020304" pitchFamily="18" charset="0"/>
              </a:rPr>
              <a:t>)</a:t>
            </a:r>
          </a:p>
          <a:p>
            <a:pPr marL="0" indent="0">
              <a:buNone/>
            </a:pP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87810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983B-31F3-396B-DCCE-4B3983662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2D104-67A2-6064-D895-E92C0155D424}"/>
              </a:ext>
            </a:extLst>
          </p:cNvPr>
          <p:cNvSpPr>
            <a:spLocks noGrp="1"/>
          </p:cNvSpPr>
          <p:nvPr>
            <p:ph type="title"/>
          </p:nvPr>
        </p:nvSpPr>
        <p:spPr>
          <a:xfrm>
            <a:off x="838200" y="365126"/>
            <a:ext cx="10400607" cy="540962"/>
          </a:xfrm>
        </p:spPr>
        <p:txBody>
          <a:bodyPr>
            <a:normAutofit/>
          </a:bodyPr>
          <a:lstStyle/>
          <a:p>
            <a:pPr algn="ctr"/>
            <a:r>
              <a:rPr lang="en-US" sz="2800" b="1" dirty="0"/>
              <a:t>Analytics – Option-Adjusted Spread (OAS)</a:t>
            </a:r>
          </a:p>
        </p:txBody>
      </p:sp>
      <p:sp>
        <p:nvSpPr>
          <p:cNvPr id="3" name="Content Placeholder 2">
            <a:extLst>
              <a:ext uri="{FF2B5EF4-FFF2-40B4-BE49-F238E27FC236}">
                <a16:creationId xmlns:a16="http://schemas.microsoft.com/office/drawing/2014/main" id="{3DEA10B5-F37C-1219-76CE-171C63498A09}"/>
              </a:ext>
            </a:extLst>
          </p:cNvPr>
          <p:cNvSpPr>
            <a:spLocks noGrp="1"/>
          </p:cNvSpPr>
          <p:nvPr>
            <p:ph idx="1"/>
          </p:nvPr>
        </p:nvSpPr>
        <p:spPr>
          <a:xfrm>
            <a:off x="838200" y="1026622"/>
            <a:ext cx="10400607" cy="5150341"/>
          </a:xfrm>
        </p:spPr>
        <p:txBody>
          <a:bodyPr>
            <a:normAutofit/>
          </a:bodyPr>
          <a:lstStyle/>
          <a:p>
            <a:r>
              <a:rPr lang="en-US" sz="2400" dirty="0" err="1">
                <a:latin typeface="Times New Roman" panose="02020603050405020304" pitchFamily="18" charset="0"/>
                <a:cs typeface="Times New Roman" panose="02020603050405020304" pitchFamily="18" charset="0"/>
              </a:rPr>
              <a:t>compute_oas</a:t>
            </a:r>
            <a:r>
              <a:rPr lang="en-US" sz="2400" dirty="0">
                <a:latin typeface="Times New Roman" panose="02020603050405020304" pitchFamily="18" charset="0"/>
                <a:cs typeface="Times New Roman" panose="02020603050405020304" pitchFamily="18" charset="0"/>
              </a:rPr>
              <a:t>(instrument, </a:t>
            </a:r>
            <a:r>
              <a:rPr lang="en-US" sz="2400" dirty="0" err="1">
                <a:latin typeface="Times New Roman" panose="02020603050405020304" pitchFamily="18" charset="0"/>
                <a:cs typeface="Times New Roman" panose="02020603050405020304" pitchFamily="18" charset="0"/>
              </a:rPr>
              <a:t>trade_price</a:t>
            </a:r>
            <a:r>
              <a:rPr lang="en-US" sz="2400" dirty="0">
                <a:latin typeface="Times New Roman" panose="02020603050405020304" pitchFamily="18" charset="0"/>
                <a:cs typeface="Times New Roman" panose="02020603050405020304" pitchFamily="18" charset="0"/>
              </a:rPr>
              <a:t>) → spread (decimal)</a:t>
            </a:r>
          </a:p>
          <a:p>
            <a:r>
              <a:rPr lang="en-US" sz="2400" b="1" dirty="0">
                <a:latin typeface="Times New Roman" panose="02020603050405020304" pitchFamily="18" charset="0"/>
                <a:cs typeface="Times New Roman" panose="02020603050405020304" pitchFamily="18" charset="0"/>
              </a:rPr>
              <a:t>Algorithm</a:t>
            </a:r>
            <a:r>
              <a:rPr lang="en-US" sz="2400" dirty="0">
                <a:latin typeface="Times New Roman" panose="02020603050405020304" pitchFamily="18" charset="0"/>
                <a:cs typeface="Times New Roman" panose="02020603050405020304" pitchFamily="18" charset="0"/>
              </a:rPr>
              <a:t>: Find the constant spread s such that, when added to </a:t>
            </a:r>
            <a:r>
              <a:rPr lang="en-US" sz="2400" b="1" dirty="0">
                <a:latin typeface="Times New Roman" panose="02020603050405020304" pitchFamily="18" charset="0"/>
                <a:cs typeface="Times New Roman" panose="02020603050405020304" pitchFamily="18" charset="0"/>
              </a:rPr>
              <a:t>every median short rate</a:t>
            </a:r>
            <a:r>
              <a:rPr lang="en-US" sz="2400" dirty="0">
                <a:latin typeface="Times New Roman" panose="02020603050405020304" pitchFamily="18" charset="0"/>
                <a:cs typeface="Times New Roman" panose="02020603050405020304" pitchFamily="18" charset="0"/>
              </a:rPr>
              <a:t> in the lattice, the resulting lattice prices the instrument at </a:t>
            </a:r>
            <a:r>
              <a:rPr lang="en-US" sz="2400" dirty="0" err="1">
                <a:latin typeface="Times New Roman" panose="02020603050405020304" pitchFamily="18" charset="0"/>
                <a:cs typeface="Times New Roman" panose="02020603050405020304" pitchFamily="18" charset="0"/>
              </a:rPr>
              <a:t>trade_price</a:t>
            </a:r>
            <a:r>
              <a:rPr lang="en-US" sz="24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Implemented as univariate root-finding on: </a:t>
            </a:r>
            <a:r>
              <a:rPr lang="en-US" sz="2000" dirty="0" err="1">
                <a:latin typeface="Times New Roman" panose="02020603050405020304" pitchFamily="18" charset="0"/>
                <a:cs typeface="Times New Roman" panose="02020603050405020304" pitchFamily="18" charset="0"/>
              </a:rPr>
              <a:t>price_on_shifted_lattice</a:t>
            </a:r>
            <a:r>
              <a:rPr lang="en-US" sz="2000" dirty="0">
                <a:latin typeface="Times New Roman" panose="02020603050405020304" pitchFamily="18" charset="0"/>
                <a:cs typeface="Times New Roman" panose="02020603050405020304" pitchFamily="18" charset="0"/>
              </a:rPr>
              <a:t>(s) - </a:t>
            </a:r>
            <a:r>
              <a:rPr lang="en-US" sz="2000" dirty="0" err="1">
                <a:latin typeface="Times New Roman" panose="02020603050405020304" pitchFamily="18" charset="0"/>
                <a:cs typeface="Times New Roman" panose="02020603050405020304" pitchFamily="18" charset="0"/>
              </a:rPr>
              <a:t>trade_price</a:t>
            </a:r>
            <a:r>
              <a:rPr lang="en-US" sz="2000" dirty="0">
                <a:latin typeface="Times New Roman" panose="02020603050405020304" pitchFamily="18" charset="0"/>
                <a:cs typeface="Times New Roman" panose="02020603050405020304" pitchFamily="18" charset="0"/>
              </a:rPr>
              <a:t> = 0</a:t>
            </a:r>
          </a:p>
          <a:p>
            <a:pPr lvl="1"/>
            <a:r>
              <a:rPr lang="en-US" sz="2000" dirty="0">
                <a:latin typeface="Times New Roman" panose="02020603050405020304" pitchFamily="18" charset="0"/>
                <a:cs typeface="Times New Roman" panose="02020603050405020304" pitchFamily="18" charset="0"/>
              </a:rPr>
              <a:t>Search interval: [-1.0, +1.0] (±10,000 basis points)</a:t>
            </a:r>
          </a:p>
          <a:p>
            <a:pPr lvl="1"/>
            <a:r>
              <a:rPr lang="en-US" sz="2000" dirty="0">
                <a:latin typeface="Times New Roman" panose="02020603050405020304" pitchFamily="18" charset="0"/>
                <a:cs typeface="Times New Roman" panose="02020603050405020304" pitchFamily="18" charset="0"/>
              </a:rPr>
              <a:t>Tolerance: 0.000001 (&lt; 0.01 bps precision)</a:t>
            </a:r>
          </a:p>
          <a:p>
            <a:pPr lvl="1"/>
            <a:r>
              <a:rPr lang="en-US" sz="2000" dirty="0">
                <a:latin typeface="Times New Roman" panose="02020603050405020304" pitchFamily="18" charset="0"/>
                <a:cs typeface="Times New Roman" panose="02020603050405020304" pitchFamily="18" charset="0"/>
              </a:rPr>
              <a:t>The spread is applied via </a:t>
            </a:r>
            <a:r>
              <a:rPr lang="en-US" sz="2000" dirty="0" err="1">
                <a:latin typeface="Times New Roman" panose="02020603050405020304" pitchFamily="18" charset="0"/>
                <a:cs typeface="Times New Roman" panose="02020603050405020304" pitchFamily="18" charset="0"/>
              </a:rPr>
              <a:t>add_median_rate_offset</a:t>
            </a:r>
            <a:r>
              <a:rPr lang="en-US" sz="2000" dirty="0">
                <a:latin typeface="Times New Roman" panose="02020603050405020304" pitchFamily="18" charset="0"/>
                <a:cs typeface="Times New Roman" panose="02020603050405020304" pitchFamily="18" charset="0"/>
              </a:rPr>
              <a:t>(s), which recomputes all nodes at each level from the shifted median</a:t>
            </a:r>
          </a:p>
        </p:txBody>
      </p:sp>
    </p:spTree>
    <p:extLst>
      <p:ext uri="{BB962C8B-B14F-4D97-AF65-F5344CB8AC3E}">
        <p14:creationId xmlns:p14="http://schemas.microsoft.com/office/powerpoint/2010/main" val="42444388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542A-D0DF-A044-9496-CD0728517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C4E6F-4DC0-38C5-6EB7-CBC2C1FD8D7C}"/>
              </a:ext>
            </a:extLst>
          </p:cNvPr>
          <p:cNvSpPr>
            <a:spLocks noGrp="1"/>
          </p:cNvSpPr>
          <p:nvPr>
            <p:ph type="title"/>
          </p:nvPr>
        </p:nvSpPr>
        <p:spPr>
          <a:xfrm>
            <a:off x="838200" y="365126"/>
            <a:ext cx="10400607" cy="540962"/>
          </a:xfrm>
        </p:spPr>
        <p:txBody>
          <a:bodyPr>
            <a:normAutofit/>
          </a:bodyPr>
          <a:lstStyle/>
          <a:p>
            <a:pPr algn="ctr"/>
            <a:r>
              <a:rPr lang="en-US" sz="2800" b="1" dirty="0"/>
              <a:t>Analytics – Effective Duration</a:t>
            </a:r>
          </a:p>
        </p:txBody>
      </p:sp>
      <p:sp>
        <p:nvSpPr>
          <p:cNvPr id="3" name="Content Placeholder 2">
            <a:extLst>
              <a:ext uri="{FF2B5EF4-FFF2-40B4-BE49-F238E27FC236}">
                <a16:creationId xmlns:a16="http://schemas.microsoft.com/office/drawing/2014/main" id="{D0D8A12C-B5F4-1DF5-3A2A-80AB2E9E1594}"/>
              </a:ext>
            </a:extLst>
          </p:cNvPr>
          <p:cNvSpPr>
            <a:spLocks noGrp="1"/>
          </p:cNvSpPr>
          <p:nvPr>
            <p:ph idx="1"/>
          </p:nvPr>
        </p:nvSpPr>
        <p:spPr>
          <a:xfrm>
            <a:off x="838200" y="1026622"/>
            <a:ext cx="10400607" cy="5150341"/>
          </a:xfrm>
        </p:spPr>
        <p:txBody>
          <a:bodyPr>
            <a:normAutofit/>
          </a:bodyPr>
          <a:lstStyle/>
          <a:p>
            <a:r>
              <a:rPr lang="en-US" sz="2400" dirty="0" err="1">
                <a:latin typeface="Times New Roman" panose="02020603050405020304" pitchFamily="18" charset="0"/>
                <a:cs typeface="Times New Roman" panose="02020603050405020304" pitchFamily="18" charset="0"/>
              </a:rPr>
              <a:t>compute_effective_duration</a:t>
            </a:r>
            <a:r>
              <a:rPr lang="en-US" sz="2400" dirty="0">
                <a:latin typeface="Times New Roman" panose="02020603050405020304" pitchFamily="18" charset="0"/>
                <a:cs typeface="Times New Roman" panose="02020603050405020304" pitchFamily="18" charset="0"/>
              </a:rPr>
              <a:t>(instrument) → duration</a:t>
            </a:r>
          </a:p>
          <a:p>
            <a:r>
              <a:rPr lang="en-US" sz="2400" b="1" dirty="0">
                <a:latin typeface="Times New Roman" panose="02020603050405020304" pitchFamily="18" charset="0"/>
                <a:cs typeface="Times New Roman" panose="02020603050405020304" pitchFamily="18" charset="0"/>
              </a:rPr>
              <a:t>Algorithm</a:t>
            </a:r>
            <a:r>
              <a:rPr lang="en-US" sz="2400" dirty="0">
                <a:latin typeface="Times New Roman" panose="02020603050405020304" pitchFamily="18" charset="0"/>
                <a:cs typeface="Times New Roman" panose="02020603050405020304" pitchFamily="18" charset="0"/>
              </a:rPr>
              <a:t> (parallel shift method):</a:t>
            </a:r>
          </a:p>
          <a:p>
            <a:pPr lvl="1"/>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 = 0.0001 (1 basis point)</a:t>
            </a:r>
          </a:p>
          <a:p>
            <a:pPr lvl="1"/>
            <a:r>
              <a:rPr lang="en-US" sz="2000" dirty="0">
                <a:latin typeface="Times New Roman" panose="02020603050405020304" pitchFamily="18" charset="0"/>
                <a:cs typeface="Times New Roman" panose="02020603050405020304" pitchFamily="18" charset="0"/>
              </a:rPr>
              <a:t>P₀ = price(instrument)</a:t>
            </a:r>
          </a:p>
          <a:p>
            <a:pPr lvl="1"/>
            <a:r>
              <a:rPr lang="en-US" sz="2000" dirty="0">
                <a:latin typeface="Times New Roman" panose="02020603050405020304" pitchFamily="18" charset="0"/>
                <a:cs typeface="Times New Roman" panose="02020603050405020304" pitchFamily="18" charset="0"/>
              </a:rPr>
              <a:t>P₊ = </a:t>
            </a:r>
            <a:r>
              <a:rPr lang="en-US" sz="2000" dirty="0" err="1">
                <a:latin typeface="Times New Roman" panose="02020603050405020304" pitchFamily="18" charset="0"/>
                <a:cs typeface="Times New Roman" panose="02020603050405020304" pitchFamily="18" charset="0"/>
              </a:rPr>
              <a:t>price_on_lattice_shifted_up_by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P₋ = </a:t>
            </a:r>
            <a:r>
              <a:rPr lang="en-US" sz="2000" dirty="0" err="1">
                <a:latin typeface="Times New Roman" panose="02020603050405020304" pitchFamily="18" charset="0"/>
                <a:cs typeface="Times New Roman" panose="02020603050405020304" pitchFamily="18" charset="0"/>
              </a:rPr>
              <a:t>price_on_lattice_shifted_down_by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duration = (P₋ - P₊) / (2 * P₀ * </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70654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084A4-A740-D0D1-1745-41A73DDEF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B7D19-5255-A670-F1C8-D10E23736B84}"/>
              </a:ext>
            </a:extLst>
          </p:cNvPr>
          <p:cNvSpPr>
            <a:spLocks noGrp="1"/>
          </p:cNvSpPr>
          <p:nvPr>
            <p:ph type="title"/>
          </p:nvPr>
        </p:nvSpPr>
        <p:spPr>
          <a:xfrm>
            <a:off x="838200" y="365126"/>
            <a:ext cx="10400607" cy="540962"/>
          </a:xfrm>
        </p:spPr>
        <p:txBody>
          <a:bodyPr>
            <a:normAutofit/>
          </a:bodyPr>
          <a:lstStyle/>
          <a:p>
            <a:pPr algn="ctr"/>
            <a:r>
              <a:rPr lang="en-US" sz="2800" b="1" dirty="0"/>
              <a:t>Analytics – Effective Convexity</a:t>
            </a:r>
          </a:p>
        </p:txBody>
      </p:sp>
      <p:sp>
        <p:nvSpPr>
          <p:cNvPr id="3" name="Content Placeholder 2">
            <a:extLst>
              <a:ext uri="{FF2B5EF4-FFF2-40B4-BE49-F238E27FC236}">
                <a16:creationId xmlns:a16="http://schemas.microsoft.com/office/drawing/2014/main" id="{697AEF6E-3799-E4EE-5C72-6E203D8DD653}"/>
              </a:ext>
            </a:extLst>
          </p:cNvPr>
          <p:cNvSpPr>
            <a:spLocks noGrp="1"/>
          </p:cNvSpPr>
          <p:nvPr>
            <p:ph idx="1"/>
          </p:nvPr>
        </p:nvSpPr>
        <p:spPr>
          <a:xfrm>
            <a:off x="838200" y="1026622"/>
            <a:ext cx="10400607" cy="5150341"/>
          </a:xfrm>
        </p:spPr>
        <p:txBody>
          <a:bodyPr>
            <a:normAutofit/>
          </a:bodyPr>
          <a:lstStyle/>
          <a:p>
            <a:r>
              <a:rPr lang="en-US" sz="2400" dirty="0" err="1">
                <a:latin typeface="Times New Roman" panose="02020603050405020304" pitchFamily="18" charset="0"/>
                <a:cs typeface="Times New Roman" panose="02020603050405020304" pitchFamily="18" charset="0"/>
              </a:rPr>
              <a:t>compute_effective_convexity</a:t>
            </a:r>
            <a:r>
              <a:rPr lang="en-US" sz="2400" dirty="0">
                <a:latin typeface="Times New Roman" panose="02020603050405020304" pitchFamily="18" charset="0"/>
                <a:cs typeface="Times New Roman" panose="02020603050405020304" pitchFamily="18" charset="0"/>
              </a:rPr>
              <a:t>(instrument) → convexity</a:t>
            </a:r>
          </a:p>
          <a:p>
            <a:r>
              <a:rPr lang="en-US" sz="2400" b="1" dirty="0">
                <a:latin typeface="Times New Roman" panose="02020603050405020304" pitchFamily="18" charset="0"/>
                <a:cs typeface="Times New Roman" panose="02020603050405020304" pitchFamily="18" charset="0"/>
              </a:rPr>
              <a:t>Algorithm</a:t>
            </a:r>
            <a:r>
              <a:rPr lang="en-US" sz="2400" dirty="0">
                <a:latin typeface="Times New Roman" panose="02020603050405020304" pitchFamily="18" charset="0"/>
                <a:cs typeface="Times New Roman" panose="02020603050405020304" pitchFamily="18" charset="0"/>
              </a:rPr>
              <a:t>:</a:t>
            </a:r>
          </a:p>
          <a:p>
            <a:pPr lvl="1"/>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 = 0.0100 (100 basis points)</a:t>
            </a:r>
          </a:p>
          <a:p>
            <a:pPr lvl="1"/>
            <a:r>
              <a:rPr lang="en-US" sz="2000" dirty="0">
                <a:latin typeface="Times New Roman" panose="02020603050405020304" pitchFamily="18" charset="0"/>
                <a:cs typeface="Times New Roman" panose="02020603050405020304" pitchFamily="18" charset="0"/>
              </a:rPr>
              <a:t>P₀ = price(instrument)</a:t>
            </a:r>
          </a:p>
          <a:p>
            <a:pPr lvl="1"/>
            <a:r>
              <a:rPr lang="en-US" sz="2000" dirty="0">
                <a:latin typeface="Times New Roman" panose="02020603050405020304" pitchFamily="18" charset="0"/>
                <a:cs typeface="Times New Roman" panose="02020603050405020304" pitchFamily="18" charset="0"/>
              </a:rPr>
              <a:t>P₊ = </a:t>
            </a:r>
            <a:r>
              <a:rPr lang="en-US" sz="2000" dirty="0" err="1">
                <a:latin typeface="Times New Roman" panose="02020603050405020304" pitchFamily="18" charset="0"/>
                <a:cs typeface="Times New Roman" panose="02020603050405020304" pitchFamily="18" charset="0"/>
              </a:rPr>
              <a:t>price_on_lattice_shifted_up_by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P₋ = </a:t>
            </a:r>
            <a:r>
              <a:rPr lang="en-US" sz="2000" dirty="0" err="1">
                <a:latin typeface="Times New Roman" panose="02020603050405020304" pitchFamily="18" charset="0"/>
                <a:cs typeface="Times New Roman" panose="02020603050405020304" pitchFamily="18" charset="0"/>
              </a:rPr>
              <a:t>price_on_lattice_shifted_down_by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Δy</a:t>
            </a:r>
            <a:r>
              <a:rPr lang="en-US" sz="20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convexity = (P₋ - 2*P₀ + P₊) / (P₀ * Δy² * 100)</a:t>
            </a:r>
          </a:p>
        </p:txBody>
      </p:sp>
    </p:spTree>
    <p:extLst>
      <p:ext uri="{BB962C8B-B14F-4D97-AF65-F5344CB8AC3E}">
        <p14:creationId xmlns:p14="http://schemas.microsoft.com/office/powerpoint/2010/main" val="30986890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69F9C-DB29-DB21-B777-D7AB1CC48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5045C-872D-6DA8-E7DE-CC8C8DE562B7}"/>
              </a:ext>
            </a:extLst>
          </p:cNvPr>
          <p:cNvSpPr>
            <a:spLocks noGrp="1"/>
          </p:cNvSpPr>
          <p:nvPr>
            <p:ph type="title"/>
          </p:nvPr>
        </p:nvSpPr>
        <p:spPr>
          <a:xfrm>
            <a:off x="838200" y="365126"/>
            <a:ext cx="10400607" cy="540962"/>
          </a:xfrm>
        </p:spPr>
        <p:txBody>
          <a:bodyPr>
            <a:normAutofit/>
          </a:bodyPr>
          <a:lstStyle/>
          <a:p>
            <a:pPr algn="ctr"/>
            <a:r>
              <a:rPr lang="en-US" sz="2800" b="1" dirty="0"/>
              <a:t>Lattice Mutation</a:t>
            </a:r>
          </a:p>
        </p:txBody>
      </p:sp>
      <p:sp>
        <p:nvSpPr>
          <p:cNvPr id="3" name="Content Placeholder 2">
            <a:extLst>
              <a:ext uri="{FF2B5EF4-FFF2-40B4-BE49-F238E27FC236}">
                <a16:creationId xmlns:a16="http://schemas.microsoft.com/office/drawing/2014/main" id="{9AE808A5-009E-1F58-6555-F878F7896FAA}"/>
              </a:ext>
            </a:extLst>
          </p:cNvPr>
          <p:cNvSpPr>
            <a:spLocks noGrp="1"/>
          </p:cNvSpPr>
          <p:nvPr>
            <p:ph idx="1"/>
          </p:nvPr>
        </p:nvSpPr>
        <p:spPr>
          <a:xfrm>
            <a:off x="838200" y="1026622"/>
            <a:ext cx="10400607" cy="5150341"/>
          </a:xfrm>
        </p:spPr>
        <p:txBody>
          <a:bodyPr>
            <a:normAutofit/>
          </a:bodyPr>
          <a:lstStyle/>
          <a:p>
            <a:r>
              <a:rPr lang="en-US" sz="2400" b="1" dirty="0" err="1">
                <a:latin typeface="Times New Roman" panose="02020603050405020304" pitchFamily="18" charset="0"/>
                <a:cs typeface="Times New Roman" panose="02020603050405020304" pitchFamily="18" charset="0"/>
              </a:rPr>
              <a:t>add_median_rate_offset</a:t>
            </a:r>
            <a:r>
              <a:rPr lang="en-US" sz="2400" b="1" dirty="0">
                <a:latin typeface="Times New Roman" panose="02020603050405020304" pitchFamily="18" charset="0"/>
                <a:cs typeface="Times New Roman" panose="02020603050405020304" pitchFamily="18" charset="0"/>
              </a:rPr>
              <a:t>(offset)</a:t>
            </a:r>
          </a:p>
          <a:p>
            <a:r>
              <a:rPr lang="en-US" sz="2400" dirty="0">
                <a:latin typeface="Times New Roman" panose="02020603050405020304" pitchFamily="18" charset="0"/>
                <a:cs typeface="Times New Roman" panose="02020603050405020304" pitchFamily="18" charset="0"/>
              </a:rPr>
              <a:t>Shifts the entire term structure by a fixed amount:</a:t>
            </a:r>
          </a:p>
          <a:p>
            <a:pPr lvl="1"/>
            <a:r>
              <a:rPr lang="en-US" sz="2000" dirty="0">
                <a:latin typeface="Times New Roman" panose="02020603050405020304" pitchFamily="18" charset="0"/>
                <a:cs typeface="Times New Roman" panose="02020603050405020304" pitchFamily="18" charset="0"/>
              </a:rPr>
              <a:t>For each level L:</a:t>
            </a:r>
          </a:p>
          <a:p>
            <a:pPr lvl="2"/>
            <a:r>
              <a:rPr lang="en-US" sz="1600" dirty="0" err="1">
                <a:latin typeface="Times New Roman" panose="02020603050405020304" pitchFamily="18" charset="0"/>
                <a:cs typeface="Times New Roman" panose="02020603050405020304" pitchFamily="18" charset="0"/>
              </a:rPr>
              <a:t>new_median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current_median_node_value</a:t>
            </a:r>
            <a:r>
              <a:rPr lang="en-US" sz="1600" dirty="0">
                <a:latin typeface="Times New Roman" panose="02020603050405020304" pitchFamily="18" charset="0"/>
                <a:cs typeface="Times New Roman" panose="02020603050405020304" pitchFamily="18" charset="0"/>
              </a:rPr>
              <a:t>(L) + offset</a:t>
            </a:r>
          </a:p>
          <a:p>
            <a:pPr lvl="2"/>
            <a:r>
              <a:rPr lang="en-US" sz="1600" dirty="0">
                <a:latin typeface="Times New Roman" panose="02020603050405020304" pitchFamily="18" charset="0"/>
                <a:cs typeface="Times New Roman" panose="02020603050405020304" pitchFamily="18" charset="0"/>
              </a:rPr>
              <a:t>Recompute all nodes at level L from </a:t>
            </a:r>
            <a:r>
              <a:rPr lang="en-US" sz="1600" dirty="0" err="1">
                <a:latin typeface="Times New Roman" panose="02020603050405020304" pitchFamily="18" charset="0"/>
                <a:cs typeface="Times New Roman" panose="02020603050405020304" pitchFamily="18" charset="0"/>
              </a:rPr>
              <a:t>new_median</a:t>
            </a:r>
            <a:r>
              <a:rPr lang="en-US" sz="1600" dirty="0">
                <a:latin typeface="Times New Roman" panose="02020603050405020304" pitchFamily="18" charset="0"/>
                <a:cs typeface="Times New Roman" panose="02020603050405020304" pitchFamily="18" charset="0"/>
              </a:rPr>
              <a:t> using log-normal spacing</a:t>
            </a:r>
          </a:p>
          <a:p>
            <a:r>
              <a:rPr lang="en-US" sz="2400" dirty="0">
                <a:latin typeface="Times New Roman" panose="02020603050405020304" pitchFamily="18" charset="0"/>
                <a:cs typeface="Times New Roman" panose="02020603050405020304" pitchFamily="18" charset="0"/>
              </a:rPr>
              <a:t>This is used internally for OAS computation, duration/convexity calculations, and can be used externally to apply scenario shifts</a:t>
            </a:r>
          </a:p>
        </p:txBody>
      </p:sp>
    </p:spTree>
    <p:extLst>
      <p:ext uri="{BB962C8B-B14F-4D97-AF65-F5344CB8AC3E}">
        <p14:creationId xmlns:p14="http://schemas.microsoft.com/office/powerpoint/2010/main" val="164757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50E05-F01C-F46A-DE65-6D016E800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544E4-B6FD-C287-E1B7-0B9EEA041B7B}"/>
              </a:ext>
            </a:extLst>
          </p:cNvPr>
          <p:cNvSpPr>
            <a:spLocks noGrp="1"/>
          </p:cNvSpPr>
          <p:nvPr>
            <p:ph type="title"/>
          </p:nvPr>
        </p:nvSpPr>
        <p:spPr>
          <a:xfrm>
            <a:off x="838200" y="365126"/>
            <a:ext cx="10400607" cy="540962"/>
          </a:xfrm>
        </p:spPr>
        <p:txBody>
          <a:bodyPr>
            <a:normAutofit/>
          </a:bodyPr>
          <a:lstStyle/>
          <a:p>
            <a:pPr algn="ctr"/>
            <a:r>
              <a:rPr lang="en-US" sz="2800" b="1" dirty="0"/>
              <a:t>Implementation Notes – Numerical Methods Required</a:t>
            </a:r>
          </a:p>
        </p:txBody>
      </p:sp>
      <p:sp>
        <p:nvSpPr>
          <p:cNvPr id="3" name="Content Placeholder 2">
            <a:extLst>
              <a:ext uri="{FF2B5EF4-FFF2-40B4-BE49-F238E27FC236}">
                <a16:creationId xmlns:a16="http://schemas.microsoft.com/office/drawing/2014/main" id="{F5E0035E-DC93-BEE5-B0DC-9FE9B7A4564A}"/>
              </a:ext>
            </a:extLst>
          </p:cNvPr>
          <p:cNvSpPr>
            <a:spLocks noGrp="1"/>
          </p:cNvSpPr>
          <p:nvPr>
            <p:ph idx="1"/>
          </p:nvPr>
        </p:nvSpPr>
        <p:spPr>
          <a:xfrm>
            <a:off x="838200" y="1026622"/>
            <a:ext cx="10400607" cy="5150341"/>
          </a:xfrm>
        </p:spPr>
        <p:txBody>
          <a:bodyPr>
            <a:normAutofit/>
          </a:bodyPr>
          <a:lstStyle/>
          <a:p>
            <a:pPr lvl="0"/>
            <a:r>
              <a:rPr lang="en-US" sz="2400" b="1" dirty="0">
                <a:latin typeface="Times New Roman" panose="02020603050405020304" pitchFamily="18" charset="0"/>
                <a:cs typeface="Times New Roman" panose="02020603050405020304" pitchFamily="18" charset="0"/>
              </a:rPr>
              <a:t>Univariate root-finding</a:t>
            </a:r>
            <a:r>
              <a:rPr lang="en-US" sz="2400" dirty="0">
                <a:latin typeface="Times New Roman" panose="02020603050405020304" pitchFamily="18" charset="0"/>
                <a:cs typeface="Times New Roman" panose="02020603050405020304" pitchFamily="18" charset="0"/>
              </a:rPr>
              <a:t> (e.g., Brent's method) — used in bootstrap and OAS.</a:t>
            </a:r>
          </a:p>
          <a:p>
            <a:pPr lvl="0"/>
            <a:r>
              <a:rPr lang="en-US" sz="2400" b="1" dirty="0">
                <a:latin typeface="Times New Roman" panose="02020603050405020304" pitchFamily="18" charset="0"/>
                <a:cs typeface="Times New Roman" panose="02020603050405020304" pitchFamily="18" charset="0"/>
              </a:rPr>
              <a:t>Nelder-Mead simplex optimization</a:t>
            </a:r>
            <a:r>
              <a:rPr lang="en-US" sz="2400" dirty="0">
                <a:latin typeface="Times New Roman" panose="02020603050405020304" pitchFamily="18" charset="0"/>
                <a:cs typeface="Times New Roman" panose="02020603050405020304" pitchFamily="18" charset="0"/>
              </a:rPr>
              <a:t> — used in stage 2 calibration.</a:t>
            </a:r>
          </a:p>
          <a:p>
            <a:r>
              <a:rPr lang="en-US" sz="2400" b="1" dirty="0">
                <a:latin typeface="Times New Roman" panose="02020603050405020304" pitchFamily="18" charset="0"/>
                <a:cs typeface="Times New Roman" panose="02020603050405020304" pitchFamily="18" charset="0"/>
              </a:rPr>
              <a:t>Linear and bilinear interpolation</a:t>
            </a:r>
            <a:r>
              <a:rPr lang="en-US" sz="2400" dirty="0">
                <a:latin typeface="Times New Roman" panose="02020603050405020304" pitchFamily="18" charset="0"/>
                <a:cs typeface="Times New Roman" panose="02020603050405020304" pitchFamily="18" charset="0"/>
              </a:rPr>
              <a:t> — used in pricing non-aligned instruments</a:t>
            </a:r>
          </a:p>
        </p:txBody>
      </p:sp>
    </p:spTree>
    <p:extLst>
      <p:ext uri="{BB962C8B-B14F-4D97-AF65-F5344CB8AC3E}">
        <p14:creationId xmlns:p14="http://schemas.microsoft.com/office/powerpoint/2010/main" val="38745013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A9D1B-78F2-B818-9479-2A096B5D7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9AF5F-B120-2346-7707-D41A01E0EA72}"/>
              </a:ext>
            </a:extLst>
          </p:cNvPr>
          <p:cNvSpPr>
            <a:spLocks noGrp="1"/>
          </p:cNvSpPr>
          <p:nvPr>
            <p:ph type="title"/>
          </p:nvPr>
        </p:nvSpPr>
        <p:spPr>
          <a:xfrm>
            <a:off x="838200" y="365126"/>
            <a:ext cx="10400607" cy="540962"/>
          </a:xfrm>
        </p:spPr>
        <p:txBody>
          <a:bodyPr>
            <a:normAutofit/>
          </a:bodyPr>
          <a:lstStyle/>
          <a:p>
            <a:pPr algn="ctr"/>
            <a:r>
              <a:rPr lang="en-US" sz="2800" b="1" dirty="0"/>
              <a:t>Implementation Notes – Performance Considerations</a:t>
            </a:r>
          </a:p>
        </p:txBody>
      </p:sp>
      <p:sp>
        <p:nvSpPr>
          <p:cNvPr id="3" name="Content Placeholder 2">
            <a:extLst>
              <a:ext uri="{FF2B5EF4-FFF2-40B4-BE49-F238E27FC236}">
                <a16:creationId xmlns:a16="http://schemas.microsoft.com/office/drawing/2014/main" id="{156A85B5-7961-380B-35AE-D2474BD83210}"/>
              </a:ext>
            </a:extLst>
          </p:cNvPr>
          <p:cNvSpPr>
            <a:spLocks noGrp="1"/>
          </p:cNvSpPr>
          <p:nvPr>
            <p:ph idx="1"/>
          </p:nvPr>
        </p:nvSpPr>
        <p:spPr>
          <a:xfrm>
            <a:off x="838200" y="1026622"/>
            <a:ext cx="10400607" cy="5150341"/>
          </a:xfrm>
        </p:spPr>
        <p:txBody>
          <a:bodyPr>
            <a:normAutofit/>
          </a:bodyPr>
          <a:lstStyle/>
          <a:p>
            <a:pPr lvl="0"/>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price_aligned_instrument</a:t>
            </a:r>
            <a:r>
              <a:rPr lang="en-US" sz="2400" dirty="0">
                <a:latin typeface="Times New Roman" panose="02020603050405020304" pitchFamily="18" charset="0"/>
                <a:cs typeface="Times New Roman" panose="02020603050405020304" pitchFamily="18" charset="0"/>
              </a:rPr>
              <a:t> inner loop is the hot path. It uses:</a:t>
            </a:r>
          </a:p>
          <a:p>
            <a:pPr lvl="1"/>
            <a:r>
              <a:rPr lang="en-US" dirty="0">
                <a:latin typeface="Times New Roman" panose="02020603050405020304" pitchFamily="18" charset="0"/>
                <a:cs typeface="Times New Roman" panose="02020603050405020304" pitchFamily="18" charset="0"/>
              </a:rPr>
              <a:t>A stack-allocated array (no heap allocation per price call).</a:t>
            </a:r>
          </a:p>
          <a:p>
            <a:pPr lvl="1"/>
            <a:r>
              <a:rPr lang="en-US" dirty="0">
                <a:latin typeface="Times New Roman" panose="02020603050405020304" pitchFamily="18" charset="0"/>
                <a:cs typeface="Times New Roman" panose="02020603050405020304" pitchFamily="18" charset="0"/>
              </a:rPr>
              <a:t>Raw pointer arithmetic on the flat node array.</a:t>
            </a:r>
          </a:p>
          <a:p>
            <a:pPr lvl="1"/>
            <a:r>
              <a:rPr lang="en-US" dirty="0">
                <a:latin typeface="Times New Roman" panose="02020603050405020304" pitchFamily="18" charset="0"/>
                <a:cs typeface="Times New Roman" panose="02020603050405020304" pitchFamily="18" charset="0"/>
              </a:rPr>
              <a:t>No branching in the inner loop (call check is a simple min).</a:t>
            </a:r>
          </a:p>
          <a:p>
            <a:pPr lvl="0"/>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adjacent_node_scale_factor</a:t>
            </a:r>
            <a:r>
              <a:rPr lang="en-US" sz="2400" dirty="0">
                <a:latin typeface="Times New Roman" panose="02020603050405020304" pitchFamily="18" charset="0"/>
                <a:cs typeface="Times New Roman" panose="02020603050405020304" pitchFamily="18" charset="0"/>
              </a:rPr>
              <a:t>_ is precomputed to avoid repeated exp() calls.</a:t>
            </a:r>
          </a:p>
          <a:p>
            <a:r>
              <a:rPr lang="en-US" sz="2400" dirty="0">
                <a:latin typeface="Times New Roman" panose="02020603050405020304" pitchFamily="18" charset="0"/>
                <a:cs typeface="Times New Roman" panose="02020603050405020304" pitchFamily="18" charset="0"/>
              </a:rPr>
              <a:t>Node values are stored contiguously for cache locality</a:t>
            </a:r>
          </a:p>
        </p:txBody>
      </p:sp>
    </p:spTree>
    <p:extLst>
      <p:ext uri="{BB962C8B-B14F-4D97-AF65-F5344CB8AC3E}">
        <p14:creationId xmlns:p14="http://schemas.microsoft.com/office/powerpoint/2010/main" val="28023352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7627-007F-41E8-53F0-68B0F41E2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18036-3B60-5831-B2EE-4E67202298AA}"/>
              </a:ext>
            </a:extLst>
          </p:cNvPr>
          <p:cNvSpPr>
            <a:spLocks noGrp="1"/>
          </p:cNvSpPr>
          <p:nvPr>
            <p:ph type="title"/>
          </p:nvPr>
        </p:nvSpPr>
        <p:spPr>
          <a:xfrm>
            <a:off x="838200" y="365126"/>
            <a:ext cx="10400607" cy="540962"/>
          </a:xfrm>
        </p:spPr>
        <p:txBody>
          <a:bodyPr>
            <a:normAutofit/>
          </a:bodyPr>
          <a:lstStyle/>
          <a:p>
            <a:pPr algn="ctr"/>
            <a:r>
              <a:rPr lang="en-US" sz="2800" b="1" dirty="0"/>
              <a:t>Implementation Notes – Assumptions and Limitations</a:t>
            </a:r>
          </a:p>
        </p:txBody>
      </p:sp>
      <p:sp>
        <p:nvSpPr>
          <p:cNvPr id="3" name="Content Placeholder 2">
            <a:extLst>
              <a:ext uri="{FF2B5EF4-FFF2-40B4-BE49-F238E27FC236}">
                <a16:creationId xmlns:a16="http://schemas.microsoft.com/office/drawing/2014/main" id="{C0B0D48B-FA39-BF67-A63B-C20BBA05565C}"/>
              </a:ext>
            </a:extLst>
          </p:cNvPr>
          <p:cNvSpPr>
            <a:spLocks noGrp="1"/>
          </p:cNvSpPr>
          <p:nvPr>
            <p:ph idx="1"/>
          </p:nvPr>
        </p:nvSpPr>
        <p:spPr>
          <a:xfrm>
            <a:off x="838200" y="1026622"/>
            <a:ext cx="10400607" cy="5150341"/>
          </a:xfrm>
        </p:spPr>
        <p:txBody>
          <a:bodyPr>
            <a:normAutofit/>
          </a:bodyPr>
          <a:lstStyle/>
          <a:p>
            <a:pPr lvl="0"/>
            <a:r>
              <a:rPr lang="en-US" sz="2400" b="1" dirty="0">
                <a:latin typeface="Times New Roman" panose="02020603050405020304" pitchFamily="18" charset="0"/>
                <a:cs typeface="Times New Roman" panose="02020603050405020304" pitchFamily="18" charset="0"/>
              </a:rPr>
              <a:t>Log-normal short rate model</a:t>
            </a:r>
            <a:r>
              <a:rPr lang="en-US" sz="2400" dirty="0">
                <a:latin typeface="Times New Roman" panose="02020603050405020304" pitchFamily="18" charset="0"/>
                <a:cs typeface="Times New Roman" panose="02020603050405020304" pitchFamily="18" charset="0"/>
              </a:rPr>
              <a:t>: Negative rates are not natively supported. Rates are floored at 1e-7.</a:t>
            </a:r>
          </a:p>
          <a:p>
            <a:pPr lvl="0"/>
            <a:r>
              <a:rPr lang="en-US" sz="2400" b="1" dirty="0">
                <a:latin typeface="Times New Roman" panose="02020603050405020304" pitchFamily="18" charset="0"/>
                <a:cs typeface="Times New Roman" panose="02020603050405020304" pitchFamily="18" charset="0"/>
              </a:rPr>
              <a:t>Constant volatility</a:t>
            </a:r>
            <a:r>
              <a:rPr lang="en-US" sz="2400" dirty="0">
                <a:latin typeface="Times New Roman" panose="02020603050405020304" pitchFamily="18" charset="0"/>
                <a:cs typeface="Times New Roman" panose="02020603050405020304" pitchFamily="18" charset="0"/>
              </a:rPr>
              <a:t>: The same volatility applies to all levels (no term structure of vol).</a:t>
            </a:r>
          </a:p>
          <a:p>
            <a:pPr lvl="0"/>
            <a:r>
              <a:rPr lang="en-US" sz="2400" b="1" dirty="0">
                <a:latin typeface="Times New Roman" panose="02020603050405020304" pitchFamily="18" charset="0"/>
                <a:cs typeface="Times New Roman" panose="02020603050405020304" pitchFamily="18" charset="0"/>
              </a:rPr>
              <a:t>Annual time steps</a:t>
            </a:r>
            <a:r>
              <a:rPr lang="en-US" sz="2400" dirty="0">
                <a:latin typeface="Times New Roman" panose="02020603050405020304" pitchFamily="18" charset="0"/>
                <a:cs typeface="Times New Roman" panose="02020603050405020304" pitchFamily="18" charset="0"/>
              </a:rPr>
              <a:t>: NODE_SPACING_YEARS = 1.0. Instruments between levels are handled via interpolation rather than sub-annual time steps.</a:t>
            </a:r>
          </a:p>
          <a:p>
            <a:pPr lvl="0"/>
            <a:r>
              <a:rPr lang="en-US" sz="2400" b="1" dirty="0">
                <a:latin typeface="Times New Roman" panose="02020603050405020304" pitchFamily="18" charset="0"/>
                <a:cs typeface="Times New Roman" panose="02020603050405020304" pitchFamily="18" charset="0"/>
              </a:rPr>
              <a:t>Simplified coupon model</a:t>
            </a:r>
            <a:r>
              <a:rPr lang="en-US" sz="2400" dirty="0">
                <a:latin typeface="Times New Roman" panose="02020603050405020304" pitchFamily="18" charset="0"/>
                <a:cs typeface="Times New Roman" panose="02020603050405020304" pitchFamily="18" charset="0"/>
              </a:rPr>
              <a:t>: Coupons are treated as a constant coupon * </a:t>
            </a:r>
            <a:r>
              <a:rPr lang="en-US" sz="2400" dirty="0" err="1">
                <a:latin typeface="Times New Roman" panose="02020603050405020304" pitchFamily="18" charset="0"/>
                <a:cs typeface="Times New Roman" panose="02020603050405020304" pitchFamily="18" charset="0"/>
              </a:rPr>
              <a:t>maturity_value</a:t>
            </a:r>
            <a:r>
              <a:rPr lang="en-US" sz="2400" dirty="0">
                <a:latin typeface="Times New Roman" panose="02020603050405020304" pitchFamily="18" charset="0"/>
                <a:cs typeface="Times New Roman" panose="02020603050405020304" pitchFamily="18" charset="0"/>
              </a:rPr>
              <a:t> applied at each level (not exact semi-annual cash flow modeling).</a:t>
            </a:r>
          </a:p>
          <a:p>
            <a:pPr lvl="0"/>
            <a:r>
              <a:rPr lang="en-US" sz="2400" b="1" dirty="0">
                <a:latin typeface="Times New Roman" panose="02020603050405020304" pitchFamily="18" charset="0"/>
                <a:cs typeface="Times New Roman" panose="02020603050405020304" pitchFamily="18" charset="0"/>
              </a:rPr>
              <a:t>American-style calls</a:t>
            </a:r>
            <a:r>
              <a:rPr lang="en-US" sz="2400" dirty="0">
                <a:latin typeface="Times New Roman" panose="02020603050405020304" pitchFamily="18" charset="0"/>
                <a:cs typeface="Times New Roman" panose="02020603050405020304" pitchFamily="18" charset="0"/>
              </a:rPr>
              <a:t>: The call exercise decision is made independently at each level (greedy optimal exercise from the issuer's perspective).</a:t>
            </a:r>
          </a:p>
        </p:txBody>
      </p:sp>
    </p:spTree>
    <p:extLst>
      <p:ext uri="{BB962C8B-B14F-4D97-AF65-F5344CB8AC3E}">
        <p14:creationId xmlns:p14="http://schemas.microsoft.com/office/powerpoint/2010/main" val="21430344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90EE4-DA79-1FBD-69BB-D4867FA3C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79F94-BFD4-99FD-0497-DC793E59BE05}"/>
              </a:ext>
            </a:extLst>
          </p:cNvPr>
          <p:cNvSpPr>
            <a:spLocks noGrp="1"/>
          </p:cNvSpPr>
          <p:nvPr>
            <p:ph type="ctrTitle"/>
          </p:nvPr>
        </p:nvSpPr>
        <p:spPr/>
        <p:txBody>
          <a:bodyPr/>
          <a:lstStyle/>
          <a:p>
            <a:r>
              <a:rPr lang="en-US" b="1" dirty="0"/>
              <a:t>Section 3 - AAA Municipal Curve</a:t>
            </a:r>
          </a:p>
        </p:txBody>
      </p:sp>
    </p:spTree>
    <p:extLst>
      <p:ext uri="{BB962C8B-B14F-4D97-AF65-F5344CB8AC3E}">
        <p14:creationId xmlns:p14="http://schemas.microsoft.com/office/powerpoint/2010/main" val="37814099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E86FD-9C48-D5CA-36DB-489BDAAC8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FA8A5-7D2B-EFD0-B497-D845C9656117}"/>
              </a:ext>
            </a:extLst>
          </p:cNvPr>
          <p:cNvSpPr>
            <a:spLocks noGrp="1"/>
          </p:cNvSpPr>
          <p:nvPr>
            <p:ph type="title"/>
          </p:nvPr>
        </p:nvSpPr>
        <p:spPr>
          <a:xfrm>
            <a:off x="838200" y="365125"/>
            <a:ext cx="10515600" cy="823595"/>
          </a:xfrm>
        </p:spPr>
        <p:txBody>
          <a:bodyPr/>
          <a:lstStyle/>
          <a:p>
            <a:pPr algn="ctr"/>
            <a:r>
              <a:rPr lang="en-US" b="1" dirty="0"/>
              <a:t>Overview</a:t>
            </a:r>
          </a:p>
        </p:txBody>
      </p:sp>
      <p:sp>
        <p:nvSpPr>
          <p:cNvPr id="3" name="Content Placeholder 2">
            <a:extLst>
              <a:ext uri="{FF2B5EF4-FFF2-40B4-BE49-F238E27FC236}">
                <a16:creationId xmlns:a16="http://schemas.microsoft.com/office/drawing/2014/main" id="{5090FF88-7CBE-039C-E302-83C6061A2F48}"/>
              </a:ext>
            </a:extLst>
          </p:cNvPr>
          <p:cNvSpPr>
            <a:spLocks noGrp="1"/>
          </p:cNvSpPr>
          <p:nvPr>
            <p:ph idx="1"/>
          </p:nvPr>
        </p:nvSpPr>
        <p:spPr>
          <a:xfrm>
            <a:off x="838200" y="1348105"/>
            <a:ext cx="10515600" cy="5144770"/>
          </a:xfrm>
        </p:spPr>
        <p:txBody>
          <a:bodyPr>
            <a:normAutofit/>
          </a:bodyPr>
          <a:lstStyle/>
          <a:p>
            <a:r>
              <a:rPr lang="en-US" dirty="0"/>
              <a:t>Curves are constructed using instruments for each year for 30 years, and a smoothing extrapolation technique is applied in the absence of quality pricing in the longer duration tenors (TradeWeb (2024)).</a:t>
            </a:r>
          </a:p>
          <a:p>
            <a:pPr marL="0" indent="0">
              <a:buNone/>
            </a:pPr>
            <a:endParaRPr lang="en-US" dirty="0"/>
          </a:p>
        </p:txBody>
      </p:sp>
    </p:spTree>
    <p:extLst>
      <p:ext uri="{BB962C8B-B14F-4D97-AF65-F5344CB8AC3E}">
        <p14:creationId xmlns:p14="http://schemas.microsoft.com/office/powerpoint/2010/main" val="38547990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272A1-C045-B8BB-3424-192F32442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6A8EB-1082-DE0A-0745-D4BA5A1D70D1}"/>
              </a:ext>
            </a:extLst>
          </p:cNvPr>
          <p:cNvSpPr>
            <a:spLocks noGrp="1"/>
          </p:cNvSpPr>
          <p:nvPr>
            <p:ph type="title"/>
          </p:nvPr>
        </p:nvSpPr>
        <p:spPr>
          <a:xfrm>
            <a:off x="838200" y="365125"/>
            <a:ext cx="10515600" cy="823595"/>
          </a:xfrm>
        </p:spPr>
        <p:txBody>
          <a:bodyPr/>
          <a:lstStyle/>
          <a:p>
            <a:pPr algn="ctr"/>
            <a:r>
              <a:rPr lang="en-US" b="1" dirty="0"/>
              <a:t>Constituent Selection</a:t>
            </a:r>
          </a:p>
        </p:txBody>
      </p:sp>
      <p:sp>
        <p:nvSpPr>
          <p:cNvPr id="3" name="Content Placeholder 2">
            <a:extLst>
              <a:ext uri="{FF2B5EF4-FFF2-40B4-BE49-F238E27FC236}">
                <a16:creationId xmlns:a16="http://schemas.microsoft.com/office/drawing/2014/main" id="{BF8077B9-ED46-4371-4C49-D29875EEC71F}"/>
              </a:ext>
            </a:extLst>
          </p:cNvPr>
          <p:cNvSpPr>
            <a:spLocks noGrp="1"/>
          </p:cNvSpPr>
          <p:nvPr>
            <p:ph idx="1"/>
          </p:nvPr>
        </p:nvSpPr>
        <p:spPr>
          <a:xfrm>
            <a:off x="838200" y="1348105"/>
            <a:ext cx="10515600" cy="5144770"/>
          </a:xfrm>
        </p:spPr>
        <p:txBody>
          <a:bodyPr>
            <a:normAutofit/>
          </a:bodyPr>
          <a:lstStyle/>
          <a:p>
            <a:r>
              <a:rPr lang="en-US" u="sng" dirty="0"/>
              <a:t>Corpus of AAA Muni Bonds</a:t>
            </a:r>
            <a:r>
              <a:rPr lang="en-US" dirty="0"/>
              <a:t>: The TradeWeb AAA Municipal Curve is constructed by selecting AAA-rated General Obligation GO and certain revenue bonds that meet robust criteria metrics in order to qualify as a constituent.</a:t>
            </a:r>
          </a:p>
          <a:p>
            <a:pPr lvl="0"/>
            <a:r>
              <a:rPr lang="en-US" u="sng" dirty="0"/>
              <a:t>Additional Qualifications to be Met</a:t>
            </a:r>
            <a:r>
              <a:rPr lang="en-US" dirty="0"/>
              <a:t>:</a:t>
            </a:r>
          </a:p>
          <a:p>
            <a:pPr lvl="1">
              <a:buFont typeface="Wingdings" panose="05000000000000000000" pitchFamily="2" charset="2"/>
              <a:buChar char="§"/>
            </a:pPr>
            <a:r>
              <a:rPr lang="en-US" dirty="0"/>
              <a:t>Has a 5% coupon and a minimum call protection of at least 4 years.</a:t>
            </a:r>
          </a:p>
          <a:p>
            <a:pPr lvl="1">
              <a:buFont typeface="Wingdings" panose="05000000000000000000" pitchFamily="2" charset="2"/>
              <a:buChar char="§"/>
            </a:pPr>
            <a:r>
              <a:rPr lang="en-US" dirty="0"/>
              <a:t>Rated as AAA-grade by both by S&amp;P and Moody’s rating agencies.</a:t>
            </a:r>
          </a:p>
          <a:p>
            <a:pPr lvl="1">
              <a:buFont typeface="Wingdings" panose="05000000000000000000" pitchFamily="2" charset="2"/>
              <a:buChar char="§"/>
            </a:pPr>
            <a:r>
              <a:rPr lang="en-US" dirty="0"/>
              <a:t>Issued as either a GO-bond or as a revenue bond with the use of proceeds for Education, General Purpose, and Public Improvement and Utilities – including electricity and power, water, sewer – projects.</a:t>
            </a:r>
          </a:p>
          <a:p>
            <a:pPr lvl="1">
              <a:buFont typeface="Wingdings" panose="05000000000000000000" pitchFamily="2" charset="2"/>
              <a:buChar char="§"/>
            </a:pPr>
            <a:r>
              <a:rPr lang="en-US" dirty="0"/>
              <a:t>The issue has at least one customer buy with a quantity size greater than on equal to 50,000 notional size in the last 3 months.</a:t>
            </a:r>
          </a:p>
          <a:p>
            <a:pPr marL="0" indent="0">
              <a:buNone/>
            </a:pPr>
            <a:endParaRPr lang="en-US" dirty="0"/>
          </a:p>
        </p:txBody>
      </p:sp>
    </p:spTree>
    <p:extLst>
      <p:ext uri="{BB962C8B-B14F-4D97-AF65-F5344CB8AC3E}">
        <p14:creationId xmlns:p14="http://schemas.microsoft.com/office/powerpoint/2010/main" val="89814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24006-6DAE-E1AA-E220-328680852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2C6A5-F785-623D-C588-509A83EA0F50}"/>
              </a:ext>
            </a:extLst>
          </p:cNvPr>
          <p:cNvSpPr>
            <a:spLocks noGrp="1"/>
          </p:cNvSpPr>
          <p:nvPr>
            <p:ph type="ctrTitle"/>
          </p:nvPr>
        </p:nvSpPr>
        <p:spPr/>
        <p:txBody>
          <a:bodyPr/>
          <a:lstStyle/>
          <a:p>
            <a:r>
              <a:rPr lang="en-US" b="1" dirty="0"/>
              <a:t>Section 4 – Evaluating Callable Municipal Bonds</a:t>
            </a:r>
          </a:p>
        </p:txBody>
      </p:sp>
    </p:spTree>
    <p:extLst>
      <p:ext uri="{BB962C8B-B14F-4D97-AF65-F5344CB8AC3E}">
        <p14:creationId xmlns:p14="http://schemas.microsoft.com/office/powerpoint/2010/main" val="19469192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DAE06-0617-2DDA-C75F-A5F5CAF1A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0047AE-2EF5-2B49-19E1-789080539665}"/>
              </a:ext>
            </a:extLst>
          </p:cNvPr>
          <p:cNvSpPr>
            <a:spLocks noGrp="1"/>
          </p:cNvSpPr>
          <p:nvPr>
            <p:ph type="title"/>
          </p:nvPr>
        </p:nvSpPr>
        <p:spPr>
          <a:xfrm>
            <a:off x="838200" y="365125"/>
            <a:ext cx="10515600" cy="823595"/>
          </a:xfrm>
        </p:spPr>
        <p:txBody>
          <a:bodyPr/>
          <a:lstStyle/>
          <a:p>
            <a:pPr algn="ctr"/>
            <a:r>
              <a:rPr lang="en-US" b="1" dirty="0"/>
              <a:t>Overview</a:t>
            </a:r>
          </a:p>
        </p:txBody>
      </p:sp>
      <p:sp>
        <p:nvSpPr>
          <p:cNvPr id="3" name="Content Placeholder 2">
            <a:extLst>
              <a:ext uri="{FF2B5EF4-FFF2-40B4-BE49-F238E27FC236}">
                <a16:creationId xmlns:a16="http://schemas.microsoft.com/office/drawing/2014/main" id="{4A95BFFF-4D40-71D8-AF4D-1C46FC7D5417}"/>
              </a:ext>
            </a:extLst>
          </p:cNvPr>
          <p:cNvSpPr>
            <a:spLocks noGrp="1"/>
          </p:cNvSpPr>
          <p:nvPr>
            <p:ph idx="1"/>
          </p:nvPr>
        </p:nvSpPr>
        <p:spPr>
          <a:xfrm>
            <a:off x="838200" y="1348105"/>
            <a:ext cx="10515600" cy="5144770"/>
          </a:xfrm>
        </p:spPr>
        <p:txBody>
          <a:bodyPr>
            <a:normAutofit/>
          </a:bodyPr>
          <a:lstStyle/>
          <a:p>
            <a:r>
              <a:rPr lang="en-US" u="sng" dirty="0"/>
              <a:t>Callability in Fixed-rate Munis</a:t>
            </a:r>
            <a:r>
              <a:rPr lang="en-US" dirty="0"/>
              <a:t>: Fixed-rate municipal bonds are often sold with an optional redemption feature giving the issuers the right to call the bonds prior to maturity</a:t>
            </a:r>
          </a:p>
          <a:p>
            <a:pPr lvl="0"/>
            <a:r>
              <a:rPr lang="en-US" u="sng" dirty="0"/>
              <a:t>Problems with No arbitrage Models</a:t>
            </a:r>
            <a:r>
              <a:rPr lang="en-US" dirty="0"/>
              <a:t>: This section outlines the theoretical and the practical problems with no-arbitrage models employed for the purpose of analyzing embedded options in municipal bonds.</a:t>
            </a:r>
          </a:p>
          <a:p>
            <a:r>
              <a:rPr lang="en-US" u="sng" dirty="0"/>
              <a:t>Expected Present Value Savings Approach</a:t>
            </a:r>
            <a:r>
              <a:rPr lang="en-US" dirty="0"/>
              <a:t>: It also highlights recent research in yield curve modeling and shows an example of a real-world approach to analyzing municipal bond options which introduces the concept of Expected Present Value – EPV – savings.</a:t>
            </a:r>
          </a:p>
        </p:txBody>
      </p:sp>
    </p:spTree>
    <p:extLst>
      <p:ext uri="{BB962C8B-B14F-4D97-AF65-F5344CB8AC3E}">
        <p14:creationId xmlns:p14="http://schemas.microsoft.com/office/powerpoint/2010/main" val="1376297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4B1A0-DE5B-1EB5-976A-6401A747A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CDBC4-CB80-347D-723A-FB87802D4E35}"/>
              </a:ext>
            </a:extLst>
          </p:cNvPr>
          <p:cNvSpPr>
            <a:spLocks noGrp="1"/>
          </p:cNvSpPr>
          <p:nvPr>
            <p:ph type="title"/>
          </p:nvPr>
        </p:nvSpPr>
        <p:spPr>
          <a:xfrm>
            <a:off x="838200" y="365125"/>
            <a:ext cx="10515600" cy="823595"/>
          </a:xfrm>
        </p:spPr>
        <p:txBody>
          <a:bodyPr/>
          <a:lstStyle/>
          <a:p>
            <a:pPr algn="ctr"/>
            <a:r>
              <a:rPr lang="en-US" b="1" dirty="0"/>
              <a:t>Introduction</a:t>
            </a:r>
          </a:p>
        </p:txBody>
      </p:sp>
      <p:sp>
        <p:nvSpPr>
          <p:cNvPr id="3" name="Content Placeholder 2">
            <a:extLst>
              <a:ext uri="{FF2B5EF4-FFF2-40B4-BE49-F238E27FC236}">
                <a16:creationId xmlns:a16="http://schemas.microsoft.com/office/drawing/2014/main" id="{2BA67867-CFA0-BFB1-9C0A-F5BF78496A58}"/>
              </a:ext>
            </a:extLst>
          </p:cNvPr>
          <p:cNvSpPr>
            <a:spLocks noGrp="1"/>
          </p:cNvSpPr>
          <p:nvPr>
            <p:ph idx="1"/>
          </p:nvPr>
        </p:nvSpPr>
        <p:spPr>
          <a:xfrm>
            <a:off x="838200" y="1348105"/>
            <a:ext cx="10515600" cy="5144770"/>
          </a:xfrm>
        </p:spPr>
        <p:txBody>
          <a:bodyPr>
            <a:normAutofit fontScale="85000" lnSpcReduction="20000"/>
          </a:bodyPr>
          <a:lstStyle/>
          <a:p>
            <a:pPr lvl="0"/>
            <a:r>
              <a:rPr lang="en-US" u="sng" dirty="0"/>
              <a:t>Outstanding Callable Munis Market Value</a:t>
            </a:r>
            <a:r>
              <a:rPr lang="en-US" dirty="0"/>
              <a:t>: Of the $3.7 trillion in municipal and tax-exempt bonds outstanding (</a:t>
            </a:r>
            <a:r>
              <a:rPr lang="en-US" i="1" dirty="0"/>
              <a:t>Report of the Municipal Securities Market</a:t>
            </a:r>
            <a:r>
              <a:rPr lang="en-US" dirty="0"/>
              <a:t>, U. S. Securities and Exchange Commission), approximately $1.54 trillion (Bloomberg, August 2013), or 4.16%, are long-term, fixed-rate, unrefunded, and subject to redemption prior to maturity at the option of the issuer.</a:t>
            </a:r>
          </a:p>
          <a:p>
            <a:pPr lvl="0"/>
            <a:r>
              <a:rPr lang="en-US" u="sng" dirty="0"/>
              <a:t>Funding the Optional Redemption Feature</a:t>
            </a:r>
            <a:r>
              <a:rPr lang="en-US" dirty="0"/>
              <a:t>: These optional redemption features are call options purchased by the issuer at the inception of a bond transaction. Issuers usually fund an optional redemption through a re-financing issue called a re-funding.</a:t>
            </a:r>
          </a:p>
          <a:p>
            <a:pPr lvl="0"/>
            <a:r>
              <a:rPr lang="en-US" u="sng" dirty="0"/>
              <a:t>The Two Types of Refunding</a:t>
            </a:r>
            <a:r>
              <a:rPr lang="en-US" dirty="0"/>
              <a:t>: Per the current tax code, i.e., Section 148 of the Internal Revenue Code that covers the rules governing tax-exempt bond issuance include re-financings, there are two types of re-fundings – current and advance.</a:t>
            </a:r>
          </a:p>
          <a:p>
            <a:r>
              <a:rPr lang="en-US" u="sng" dirty="0"/>
              <a:t>The Advance Refunding Type</a:t>
            </a:r>
            <a:r>
              <a:rPr lang="en-US" dirty="0"/>
              <a:t>: The latter occurs more than 90 days in advance of the call date and involves using the proceeds from the refunding issue to purchase a portfolio of eligible securities – State and Local Government Securities SLGS, US Treasuries, or Agency securities – designed to match the cash flows of the refunded bonds to their respective first optional redemption dates.</a:t>
            </a:r>
          </a:p>
        </p:txBody>
      </p:sp>
    </p:spTree>
    <p:extLst>
      <p:ext uri="{BB962C8B-B14F-4D97-AF65-F5344CB8AC3E}">
        <p14:creationId xmlns:p14="http://schemas.microsoft.com/office/powerpoint/2010/main" val="13343989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3F1D6-3D8E-F87B-AC3E-E5C438384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4CBF3-79F8-5447-DB2E-950D314A00DC}"/>
              </a:ext>
            </a:extLst>
          </p:cNvPr>
          <p:cNvSpPr>
            <a:spLocks noGrp="1"/>
          </p:cNvSpPr>
          <p:nvPr>
            <p:ph type="title"/>
          </p:nvPr>
        </p:nvSpPr>
        <p:spPr>
          <a:xfrm>
            <a:off x="838200" y="365125"/>
            <a:ext cx="10515600" cy="823595"/>
          </a:xfrm>
        </p:spPr>
        <p:txBody>
          <a:bodyPr/>
          <a:lstStyle/>
          <a:p>
            <a:pPr algn="ctr"/>
            <a:r>
              <a:rPr lang="en-US" b="1" dirty="0"/>
              <a:t>Introduction (continued)</a:t>
            </a:r>
          </a:p>
        </p:txBody>
      </p:sp>
      <p:sp>
        <p:nvSpPr>
          <p:cNvPr id="3" name="Content Placeholder 2">
            <a:extLst>
              <a:ext uri="{FF2B5EF4-FFF2-40B4-BE49-F238E27FC236}">
                <a16:creationId xmlns:a16="http://schemas.microsoft.com/office/drawing/2014/main" id="{DFD5A04D-E53F-5F6A-7974-5B5D5D720454}"/>
              </a:ext>
            </a:extLst>
          </p:cNvPr>
          <p:cNvSpPr>
            <a:spLocks noGrp="1"/>
          </p:cNvSpPr>
          <p:nvPr>
            <p:ph idx="1"/>
          </p:nvPr>
        </p:nvSpPr>
        <p:spPr>
          <a:xfrm>
            <a:off x="838200" y="1348105"/>
            <a:ext cx="10515600" cy="5144770"/>
          </a:xfrm>
        </p:spPr>
        <p:txBody>
          <a:bodyPr>
            <a:normAutofit fontScale="92500"/>
          </a:bodyPr>
          <a:lstStyle/>
          <a:p>
            <a:pPr lvl="0"/>
            <a:r>
              <a:rPr lang="en-US" u="sng" dirty="0"/>
              <a:t>The Advance Refunding Option ARO</a:t>
            </a:r>
            <a:r>
              <a:rPr lang="en-US" dirty="0"/>
              <a:t>: The Advance Refunding Option – ARO – is intimately tied to the call option. In the absence of a call option, ARO has no economic value.</a:t>
            </a:r>
          </a:p>
          <a:p>
            <a:r>
              <a:rPr lang="en-US" u="sng" dirty="0"/>
              <a:t>Lock-in of the Refund</a:t>
            </a:r>
            <a:r>
              <a:rPr lang="en-US" dirty="0"/>
              <a:t>: An advance refunding locks in the call exercise – an issue that is advance refunded will be called at the first date – at the previously set call price. The value of the ARO should therefore be measured incrementally above that of the call option.</a:t>
            </a:r>
          </a:p>
          <a:p>
            <a:pPr lvl="0"/>
            <a:r>
              <a:rPr lang="en-US" u="sng" dirty="0"/>
              <a:t>Discounting Based on the Exercise Date</a:t>
            </a:r>
            <a:r>
              <a:rPr lang="en-US" dirty="0"/>
              <a:t>: Finding this value entails finding the optimal exercise rule – by solving an optimal stopping problem – and computing the expected discounted payoff of the option under this rule.</a:t>
            </a:r>
          </a:p>
          <a:p>
            <a:pPr lvl="0"/>
            <a:r>
              <a:rPr lang="en-US" u="sng" dirty="0"/>
              <a:t>Solution to Optimal Stopping Problem</a:t>
            </a:r>
            <a:r>
              <a:rPr lang="en-US" dirty="0"/>
              <a:t>: The challenges are:</a:t>
            </a:r>
          </a:p>
          <a:p>
            <a:pPr lvl="1"/>
            <a:r>
              <a:rPr lang="en-US" dirty="0"/>
              <a:t>How to solve the optimal stopping problems in practice, and</a:t>
            </a:r>
          </a:p>
          <a:p>
            <a:pPr lvl="1"/>
            <a:r>
              <a:rPr lang="en-US" dirty="0"/>
              <a:t>How to select when to Refund bonds</a:t>
            </a:r>
          </a:p>
        </p:txBody>
      </p:sp>
    </p:spTree>
    <p:extLst>
      <p:ext uri="{BB962C8B-B14F-4D97-AF65-F5344CB8AC3E}">
        <p14:creationId xmlns:p14="http://schemas.microsoft.com/office/powerpoint/2010/main" val="16441612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82F88-A30A-9A21-3425-99353F96D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1E931-A4F6-5A40-9398-E19110118940}"/>
              </a:ext>
            </a:extLst>
          </p:cNvPr>
          <p:cNvSpPr>
            <a:spLocks noGrp="1"/>
          </p:cNvSpPr>
          <p:nvPr>
            <p:ph type="title"/>
          </p:nvPr>
        </p:nvSpPr>
        <p:spPr>
          <a:xfrm>
            <a:off x="838200" y="365125"/>
            <a:ext cx="10515600" cy="823595"/>
          </a:xfrm>
        </p:spPr>
        <p:txBody>
          <a:bodyPr/>
          <a:lstStyle/>
          <a:p>
            <a:pPr algn="ctr"/>
            <a:r>
              <a:rPr lang="en-US" b="1" dirty="0"/>
              <a:t>Introduction (continued)</a:t>
            </a:r>
          </a:p>
        </p:txBody>
      </p:sp>
      <p:sp>
        <p:nvSpPr>
          <p:cNvPr id="3" name="Content Placeholder 2">
            <a:extLst>
              <a:ext uri="{FF2B5EF4-FFF2-40B4-BE49-F238E27FC236}">
                <a16:creationId xmlns:a16="http://schemas.microsoft.com/office/drawing/2014/main" id="{2B550C5E-5760-F38B-0402-43FE0457548D}"/>
              </a:ext>
            </a:extLst>
          </p:cNvPr>
          <p:cNvSpPr>
            <a:spLocks noGrp="1"/>
          </p:cNvSpPr>
          <p:nvPr>
            <p:ph idx="1"/>
          </p:nvPr>
        </p:nvSpPr>
        <p:spPr>
          <a:xfrm>
            <a:off x="838200" y="1348105"/>
            <a:ext cx="10515600" cy="5144770"/>
          </a:xfrm>
        </p:spPr>
        <p:txBody>
          <a:bodyPr>
            <a:normAutofit/>
          </a:bodyPr>
          <a:lstStyle/>
          <a:p>
            <a:pPr lvl="0"/>
            <a:r>
              <a:rPr lang="en-US" u="sng" dirty="0"/>
              <a:t>Heuristics Used to Determine Refunding</a:t>
            </a:r>
            <a:r>
              <a:rPr lang="en-US" dirty="0"/>
              <a:t>: Many issuers use long-standing heuristics to determine whether or not to refund a bond such as present value interest cost savings – PV savings – as a percentage of the par amount of the refunded bonds.</a:t>
            </a:r>
          </a:p>
          <a:p>
            <a:r>
              <a:rPr lang="en-US" u="sng" dirty="0"/>
              <a:t>Breach of the Par Threshold</a:t>
            </a:r>
            <a:r>
              <a:rPr lang="en-US" dirty="0"/>
              <a:t>: Once this percentage exceeds a specified threshold, usually between 2% and 6%, the bonds are deemed to be candidates to be included in a refunding bond issue.</a:t>
            </a:r>
          </a:p>
        </p:txBody>
      </p:sp>
    </p:spTree>
    <p:extLst>
      <p:ext uri="{BB962C8B-B14F-4D97-AF65-F5344CB8AC3E}">
        <p14:creationId xmlns:p14="http://schemas.microsoft.com/office/powerpoint/2010/main" val="20335944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57E18-EB3A-F342-B9BD-0B1F1E2E7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91EF2-5A02-C53D-A636-E7AA70BE75A9}"/>
              </a:ext>
            </a:extLst>
          </p:cNvPr>
          <p:cNvSpPr>
            <a:spLocks noGrp="1"/>
          </p:cNvSpPr>
          <p:nvPr>
            <p:ph type="title"/>
          </p:nvPr>
        </p:nvSpPr>
        <p:spPr>
          <a:xfrm>
            <a:off x="838200" y="365125"/>
            <a:ext cx="10515600" cy="823595"/>
          </a:xfrm>
        </p:spPr>
        <p:txBody>
          <a:bodyPr>
            <a:normAutofit fontScale="90000"/>
          </a:bodyPr>
          <a:lstStyle/>
          <a:p>
            <a:pPr algn="ctr"/>
            <a:r>
              <a:rPr lang="en-US" b="1" dirty="0"/>
              <a:t>Types of Term-structure Models and their Roles - Deterministic</a:t>
            </a:r>
          </a:p>
        </p:txBody>
      </p:sp>
      <p:sp>
        <p:nvSpPr>
          <p:cNvPr id="3" name="Content Placeholder 2">
            <a:extLst>
              <a:ext uri="{FF2B5EF4-FFF2-40B4-BE49-F238E27FC236}">
                <a16:creationId xmlns:a16="http://schemas.microsoft.com/office/drawing/2014/main" id="{5972B82D-1378-9360-92BE-813E1173AF58}"/>
              </a:ext>
            </a:extLst>
          </p:cNvPr>
          <p:cNvSpPr>
            <a:spLocks noGrp="1"/>
          </p:cNvSpPr>
          <p:nvPr>
            <p:ph idx="1"/>
          </p:nvPr>
        </p:nvSpPr>
        <p:spPr>
          <a:xfrm>
            <a:off x="838200" y="1348105"/>
            <a:ext cx="10515600" cy="5144770"/>
          </a:xfrm>
        </p:spPr>
        <p:txBody>
          <a:bodyPr>
            <a:normAutofit/>
          </a:bodyPr>
          <a:lstStyle/>
          <a:p>
            <a:pPr lvl="0"/>
            <a:r>
              <a:rPr lang="en-US" dirty="0"/>
              <a:t>Deterministic models are a special case of a more complete term structure model, i.e., they simply display zero volatility. As an example, in order to create a forecast of principal and interest for variable rate demand obligations – VRDOs – a public finance analyst must employ an interest rate model, usually of the deterministic variety. The rate selected is often constant and is frequently a simple historic average of short-term yields over some period.</a:t>
            </a:r>
          </a:p>
        </p:txBody>
      </p:sp>
    </p:spTree>
    <p:extLst>
      <p:ext uri="{BB962C8B-B14F-4D97-AF65-F5344CB8AC3E}">
        <p14:creationId xmlns:p14="http://schemas.microsoft.com/office/powerpoint/2010/main" val="16445462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3484-E4AF-7946-210D-5C4D35E5E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130FD-9492-D3E7-9A19-94D942BD92BF}"/>
              </a:ext>
            </a:extLst>
          </p:cNvPr>
          <p:cNvSpPr>
            <a:spLocks noGrp="1"/>
          </p:cNvSpPr>
          <p:nvPr>
            <p:ph type="title"/>
          </p:nvPr>
        </p:nvSpPr>
        <p:spPr>
          <a:xfrm>
            <a:off x="838200" y="365125"/>
            <a:ext cx="10515600" cy="823595"/>
          </a:xfrm>
        </p:spPr>
        <p:txBody>
          <a:bodyPr>
            <a:normAutofit fontScale="90000"/>
          </a:bodyPr>
          <a:lstStyle/>
          <a:p>
            <a:pPr algn="ctr"/>
            <a:r>
              <a:rPr lang="en-US" b="1" dirty="0"/>
              <a:t>Pricing Models – Problems Specific to the Municipal Market</a:t>
            </a:r>
          </a:p>
        </p:txBody>
      </p:sp>
      <p:sp>
        <p:nvSpPr>
          <p:cNvPr id="3" name="Content Placeholder 2">
            <a:extLst>
              <a:ext uri="{FF2B5EF4-FFF2-40B4-BE49-F238E27FC236}">
                <a16:creationId xmlns:a16="http://schemas.microsoft.com/office/drawing/2014/main" id="{EB40A03A-36FD-574A-82DF-F4F07D4C398B}"/>
              </a:ext>
            </a:extLst>
          </p:cNvPr>
          <p:cNvSpPr>
            <a:spLocks noGrp="1"/>
          </p:cNvSpPr>
          <p:nvPr>
            <p:ph idx="1"/>
          </p:nvPr>
        </p:nvSpPr>
        <p:spPr>
          <a:xfrm>
            <a:off x="838200" y="1348105"/>
            <a:ext cx="10515600" cy="5144770"/>
          </a:xfrm>
        </p:spPr>
        <p:txBody>
          <a:bodyPr>
            <a:normAutofit fontScale="92500" lnSpcReduction="10000"/>
          </a:bodyPr>
          <a:lstStyle/>
          <a:p>
            <a:pPr lvl="0"/>
            <a:r>
              <a:rPr lang="en-US" i="1" u="sng" dirty="0"/>
              <a:t>High-to-low</a:t>
            </a:r>
            <a:r>
              <a:rPr lang="en-US" u="sng" dirty="0"/>
              <a:t> Interest Refunding</a:t>
            </a:r>
            <a:r>
              <a:rPr lang="en-US" dirty="0"/>
              <a:t>: Though an issuer may exercise optimal redemption for a variety of reasons including retiring bonds with restrictive covenants, replacing insured bonds, or simply applying excess revenues to shrink the balance sheet, the most common objective is to achieve interest cost saving through financing with lower interest rates. This is called a </a:t>
            </a:r>
            <a:r>
              <a:rPr lang="en-US" i="1" dirty="0"/>
              <a:t>high-to-low</a:t>
            </a:r>
            <a:r>
              <a:rPr lang="en-US" dirty="0"/>
              <a:t> refunding. This last motive is the one on focus here.</a:t>
            </a:r>
          </a:p>
          <a:p>
            <a:pPr lvl="0"/>
            <a:r>
              <a:rPr lang="en-US" u="sng" dirty="0"/>
              <a:t>Impracticality of Conventional Hedge Strategies</a:t>
            </a:r>
            <a:r>
              <a:rPr lang="en-US" dirty="0"/>
              <a:t>: Traditional no-arbitrage bond option models rely on the existence of a non-callable underlying equivalent bond which can be traded in a continuous fashion with unfettered ability to be bought or sold. In the municipal bond market this situation simply does not exist.</a:t>
            </a:r>
          </a:p>
          <a:p>
            <a:r>
              <a:rPr lang="en-US" u="sng" dirty="0"/>
              <a:t>Ability of Issuers to Arbitrage</a:t>
            </a:r>
            <a:r>
              <a:rPr lang="en-US" dirty="0"/>
              <a:t>: Municipal issuers are unable to arbitrage the mispricing of market discount bonds. IRC §148 specifically prohibits arbitrage across municipal bonds and other types of bonds, for example, treasury and corporate bonds – by tax-exempt institutions.</a:t>
            </a:r>
          </a:p>
        </p:txBody>
      </p:sp>
    </p:spTree>
    <p:extLst>
      <p:ext uri="{BB962C8B-B14F-4D97-AF65-F5344CB8AC3E}">
        <p14:creationId xmlns:p14="http://schemas.microsoft.com/office/powerpoint/2010/main" val="20454255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91FF0-AC60-A177-C3BE-D58A64440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B8C201-C8FF-952A-500F-1B891137C971}"/>
              </a:ext>
            </a:extLst>
          </p:cNvPr>
          <p:cNvSpPr>
            <a:spLocks noGrp="1"/>
          </p:cNvSpPr>
          <p:nvPr>
            <p:ph type="title"/>
          </p:nvPr>
        </p:nvSpPr>
        <p:spPr>
          <a:xfrm>
            <a:off x="838200" y="365125"/>
            <a:ext cx="10515600" cy="823595"/>
          </a:xfrm>
        </p:spPr>
        <p:txBody>
          <a:bodyPr>
            <a:normAutofit fontScale="90000"/>
          </a:bodyPr>
          <a:lstStyle/>
          <a:p>
            <a:pPr algn="ctr"/>
            <a:r>
              <a:rPr lang="en-US" b="1" dirty="0"/>
              <a:t>Pricing Models – Problems Specific to the Municipal Market (continued)</a:t>
            </a:r>
          </a:p>
        </p:txBody>
      </p:sp>
      <p:sp>
        <p:nvSpPr>
          <p:cNvPr id="3" name="Content Placeholder 2">
            <a:extLst>
              <a:ext uri="{FF2B5EF4-FFF2-40B4-BE49-F238E27FC236}">
                <a16:creationId xmlns:a16="http://schemas.microsoft.com/office/drawing/2014/main" id="{41A01E93-F6F4-4064-5B5D-1F19D60E892A}"/>
              </a:ext>
            </a:extLst>
          </p:cNvPr>
          <p:cNvSpPr>
            <a:spLocks noGrp="1"/>
          </p:cNvSpPr>
          <p:nvPr>
            <p:ph idx="1"/>
          </p:nvPr>
        </p:nvSpPr>
        <p:spPr>
          <a:xfrm>
            <a:off x="838200" y="1348105"/>
            <a:ext cx="10515600" cy="5144770"/>
          </a:xfrm>
        </p:spPr>
        <p:txBody>
          <a:bodyPr>
            <a:normAutofit/>
          </a:bodyPr>
          <a:lstStyle/>
          <a:p>
            <a:pPr lvl="0"/>
            <a:r>
              <a:rPr lang="en-US" u="sng" dirty="0"/>
              <a:t>Shorting Municipal Bonds #1</a:t>
            </a:r>
            <a:r>
              <a:rPr lang="en-US" dirty="0"/>
              <a:t>: Unlike treasury bonds, shorting municipal bonds is very hard because only tax-exempt authorities and institutions can pay tax-exempt interest.</a:t>
            </a:r>
          </a:p>
          <a:p>
            <a:pPr lvl="0"/>
            <a:r>
              <a:rPr lang="en-US" u="sng" dirty="0"/>
              <a:t>Taxable Nature of the Dealer Repo</a:t>
            </a:r>
            <a:r>
              <a:rPr lang="en-US" dirty="0"/>
              <a:t>: An investor lending a municipal bond to a dealer would receive a taxable dividend because that dividend is paid by a dealer, not a tax-exempt institution.</a:t>
            </a:r>
          </a:p>
          <a:p>
            <a:pPr lvl="0"/>
            <a:r>
              <a:rPr lang="en-US" u="sng" dirty="0"/>
              <a:t>Lack of Fungibility</a:t>
            </a:r>
            <a:r>
              <a:rPr lang="en-US" dirty="0"/>
              <a:t>: Even if an active muni repo market existed, it may be hard to locate a suitable municipal bond as a hedge because of the sheer number of municipal securities.</a:t>
            </a:r>
          </a:p>
          <a:p>
            <a:r>
              <a:rPr lang="en-US" u="sng" dirty="0"/>
              <a:t>Shorting Municipal Bonds #2</a:t>
            </a:r>
            <a:r>
              <a:rPr lang="en-US" dirty="0"/>
              <a:t>: Shorting related interest rate securities, like treasuries and corporate bonds, opens up potentially large basis risk.</a:t>
            </a:r>
          </a:p>
        </p:txBody>
      </p:sp>
    </p:spTree>
    <p:extLst>
      <p:ext uri="{BB962C8B-B14F-4D97-AF65-F5344CB8AC3E}">
        <p14:creationId xmlns:p14="http://schemas.microsoft.com/office/powerpoint/2010/main" val="4750843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2602-D325-158B-96C9-346D3323F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39B86-B51C-652A-336E-F047A99B5668}"/>
              </a:ext>
            </a:extLst>
          </p:cNvPr>
          <p:cNvSpPr>
            <a:spLocks noGrp="1"/>
          </p:cNvSpPr>
          <p:nvPr>
            <p:ph type="title"/>
          </p:nvPr>
        </p:nvSpPr>
        <p:spPr>
          <a:xfrm>
            <a:off x="838200" y="365125"/>
            <a:ext cx="10515600" cy="823595"/>
          </a:xfrm>
        </p:spPr>
        <p:txBody>
          <a:bodyPr>
            <a:normAutofit fontScale="90000"/>
          </a:bodyPr>
          <a:lstStyle/>
          <a:p>
            <a:pPr algn="ctr"/>
            <a:r>
              <a:rPr lang="en-US" b="1" dirty="0"/>
              <a:t>Quantitative Municipal Hedge Strategy Formulation</a:t>
            </a:r>
          </a:p>
        </p:txBody>
      </p:sp>
      <p:sp>
        <p:nvSpPr>
          <p:cNvPr id="3" name="Content Placeholder 2">
            <a:extLst>
              <a:ext uri="{FF2B5EF4-FFF2-40B4-BE49-F238E27FC236}">
                <a16:creationId xmlns:a16="http://schemas.microsoft.com/office/drawing/2014/main" id="{4C96D55B-2818-6C06-0536-22916D94C92F}"/>
              </a:ext>
            </a:extLst>
          </p:cNvPr>
          <p:cNvSpPr>
            <a:spLocks noGrp="1"/>
          </p:cNvSpPr>
          <p:nvPr>
            <p:ph idx="1"/>
          </p:nvPr>
        </p:nvSpPr>
        <p:spPr>
          <a:xfrm>
            <a:off x="838200" y="1348105"/>
            <a:ext cx="10515600" cy="5144770"/>
          </a:xfrm>
        </p:spPr>
        <p:txBody>
          <a:bodyPr>
            <a:normAutofit lnSpcReduction="10000"/>
          </a:bodyPr>
          <a:lstStyle/>
          <a:p>
            <a:pPr lvl="0"/>
            <a:r>
              <a:rPr lang="en-US" u="sng" dirty="0"/>
              <a:t>Market Input #1</a:t>
            </a:r>
            <a:r>
              <a:rPr lang="en-US" dirty="0"/>
              <a:t>: Option-free tax-exempt yields for the issuer.</a:t>
            </a:r>
          </a:p>
          <a:p>
            <a:pPr lvl="0"/>
            <a:r>
              <a:rPr lang="en-US" u="sng" dirty="0"/>
              <a:t>Market Input #2</a:t>
            </a:r>
            <a:r>
              <a:rPr lang="en-US" dirty="0"/>
              <a:t>: Implied volatilities for the yields in market input #1</a:t>
            </a:r>
          </a:p>
          <a:p>
            <a:pPr lvl="0"/>
            <a:r>
              <a:rPr lang="en-US" u="sng" dirty="0"/>
              <a:t>Market Input #3</a:t>
            </a:r>
            <a:r>
              <a:rPr lang="en-US" dirty="0"/>
              <a:t>: Market yield curve for escrow securities – SGLS or other</a:t>
            </a:r>
          </a:p>
          <a:p>
            <a:pPr lvl="0"/>
            <a:r>
              <a:rPr lang="en-US" u="sng" dirty="0"/>
              <a:t>Market Input #4</a:t>
            </a:r>
            <a:r>
              <a:rPr lang="en-US" dirty="0"/>
              <a:t>: Implied volatilities for escrow yields in market input #3</a:t>
            </a:r>
          </a:p>
          <a:p>
            <a:pPr lvl="0"/>
            <a:r>
              <a:rPr lang="en-US" u="sng" dirty="0"/>
              <a:t>Market Input #5</a:t>
            </a:r>
            <a:r>
              <a:rPr lang="en-US" dirty="0"/>
              <a:t>: Option free taxable yields for the issuer – for callable, non-advance refundable bonds</a:t>
            </a:r>
          </a:p>
          <a:p>
            <a:pPr lvl="0"/>
            <a:r>
              <a:rPr lang="en-US" u="sng" dirty="0"/>
              <a:t>Market Input #6</a:t>
            </a:r>
            <a:r>
              <a:rPr lang="en-US" dirty="0"/>
              <a:t>: Implied volatilities for the taxable yield curve in market input #5</a:t>
            </a:r>
          </a:p>
          <a:p>
            <a:pPr lvl="0"/>
            <a:r>
              <a:rPr lang="en-US" u="sng" dirty="0"/>
              <a:t>Market Input #7</a:t>
            </a:r>
            <a:r>
              <a:rPr lang="en-US" dirty="0"/>
              <a:t>: Implied correlations between option-free tax-exempt yields and the escrow yields</a:t>
            </a:r>
          </a:p>
        </p:txBody>
      </p:sp>
    </p:spTree>
    <p:extLst>
      <p:ext uri="{BB962C8B-B14F-4D97-AF65-F5344CB8AC3E}">
        <p14:creationId xmlns:p14="http://schemas.microsoft.com/office/powerpoint/2010/main" val="27560018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581C-625D-05C1-7A80-83C204BB5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E1273-0748-4187-0AA6-556EFB702C49}"/>
              </a:ext>
            </a:extLst>
          </p:cNvPr>
          <p:cNvSpPr>
            <a:spLocks noGrp="1"/>
          </p:cNvSpPr>
          <p:nvPr>
            <p:ph type="title"/>
          </p:nvPr>
        </p:nvSpPr>
        <p:spPr>
          <a:xfrm>
            <a:off x="838200" y="365125"/>
            <a:ext cx="10515600" cy="823595"/>
          </a:xfrm>
        </p:spPr>
        <p:txBody>
          <a:bodyPr>
            <a:normAutofit fontScale="90000"/>
          </a:bodyPr>
          <a:lstStyle/>
          <a:p>
            <a:pPr algn="ctr"/>
            <a:r>
              <a:rPr lang="en-US" b="1" dirty="0"/>
              <a:t>Quantitative Municipal Hedge Strategy Formulation (continued)</a:t>
            </a:r>
          </a:p>
        </p:txBody>
      </p:sp>
      <p:sp>
        <p:nvSpPr>
          <p:cNvPr id="3" name="Content Placeholder 2">
            <a:extLst>
              <a:ext uri="{FF2B5EF4-FFF2-40B4-BE49-F238E27FC236}">
                <a16:creationId xmlns:a16="http://schemas.microsoft.com/office/drawing/2014/main" id="{25DF7E05-BD58-298E-F112-4614F5DAE427}"/>
              </a:ext>
            </a:extLst>
          </p:cNvPr>
          <p:cNvSpPr>
            <a:spLocks noGrp="1"/>
          </p:cNvSpPr>
          <p:nvPr>
            <p:ph idx="1"/>
          </p:nvPr>
        </p:nvSpPr>
        <p:spPr>
          <a:xfrm>
            <a:off x="838200" y="1348105"/>
            <a:ext cx="10515600" cy="5144770"/>
          </a:xfrm>
        </p:spPr>
        <p:txBody>
          <a:bodyPr>
            <a:normAutofit fontScale="92500" lnSpcReduction="20000"/>
          </a:bodyPr>
          <a:lstStyle/>
          <a:p>
            <a:pPr lvl="0"/>
            <a:r>
              <a:rPr lang="en-US" u="sng" dirty="0"/>
              <a:t>Market Input #8</a:t>
            </a:r>
            <a:r>
              <a:rPr lang="en-US" dirty="0"/>
              <a:t>: Implied correlations between option-free taxable yields and escrow yields</a:t>
            </a:r>
          </a:p>
          <a:p>
            <a:pPr lvl="0"/>
            <a:r>
              <a:rPr lang="en-US" u="sng" dirty="0"/>
              <a:t>Market Input #9</a:t>
            </a:r>
            <a:r>
              <a:rPr lang="en-US" dirty="0"/>
              <a:t>: Implied correlations between tax-exempt and taxable issuer yields.</a:t>
            </a:r>
          </a:p>
          <a:p>
            <a:pPr lvl="0"/>
            <a:r>
              <a:rPr lang="en-US" u="sng" dirty="0"/>
              <a:t>Implying Volatilities for Escrow Yields</a:t>
            </a:r>
            <a:r>
              <a:rPr lang="en-US" dirty="0"/>
              <a:t>: Few of these items are observed directly as traded instruments. SLGS are published at the end of each trading day on the treasury’s website. Given that the SLGS are designed to be a basis point lower than US treasury yields, one might imply market input #4 from the prices of traded treasury options, though at present no study exists comparing the two markets or the validity of that assumption.</a:t>
            </a:r>
          </a:p>
          <a:p>
            <a:r>
              <a:rPr lang="en-US" u="sng" dirty="0"/>
              <a:t>Estimating Taxable and Tax-free Yields #1</a:t>
            </a:r>
            <a:r>
              <a:rPr lang="en-US" dirty="0"/>
              <a:t>: One might try to estimate market inputs #1 and #5 using secondary market data and a methodology like the one described in Nelson and Siegel (1987), though this data is choppy at best and frequently entirely unobservable, specially for market input #5</a:t>
            </a:r>
          </a:p>
        </p:txBody>
      </p:sp>
    </p:spTree>
    <p:extLst>
      <p:ext uri="{BB962C8B-B14F-4D97-AF65-F5344CB8AC3E}">
        <p14:creationId xmlns:p14="http://schemas.microsoft.com/office/powerpoint/2010/main" val="18347753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6439-5217-0262-9827-725D6AC2C1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AB9B7-60EC-6635-4974-7894177C88BA}"/>
              </a:ext>
            </a:extLst>
          </p:cNvPr>
          <p:cNvSpPr>
            <a:spLocks noGrp="1"/>
          </p:cNvSpPr>
          <p:nvPr>
            <p:ph type="title"/>
          </p:nvPr>
        </p:nvSpPr>
        <p:spPr>
          <a:xfrm>
            <a:off x="838200" y="365125"/>
            <a:ext cx="10515600" cy="823595"/>
          </a:xfrm>
        </p:spPr>
        <p:txBody>
          <a:bodyPr>
            <a:normAutofit fontScale="90000"/>
          </a:bodyPr>
          <a:lstStyle/>
          <a:p>
            <a:pPr algn="ctr"/>
            <a:r>
              <a:rPr lang="en-US" b="1" dirty="0"/>
              <a:t>Quantitative Municipal Hedge Strategy Formulation (continued)</a:t>
            </a:r>
          </a:p>
        </p:txBody>
      </p:sp>
      <p:sp>
        <p:nvSpPr>
          <p:cNvPr id="3" name="Content Placeholder 2">
            <a:extLst>
              <a:ext uri="{FF2B5EF4-FFF2-40B4-BE49-F238E27FC236}">
                <a16:creationId xmlns:a16="http://schemas.microsoft.com/office/drawing/2014/main" id="{25BFC090-871C-6C5D-69A2-D4B9AEB1CE5D}"/>
              </a:ext>
            </a:extLst>
          </p:cNvPr>
          <p:cNvSpPr>
            <a:spLocks noGrp="1"/>
          </p:cNvSpPr>
          <p:nvPr>
            <p:ph idx="1"/>
          </p:nvPr>
        </p:nvSpPr>
        <p:spPr>
          <a:xfrm>
            <a:off x="838200" y="1348105"/>
            <a:ext cx="10515600" cy="5144770"/>
          </a:xfrm>
        </p:spPr>
        <p:txBody>
          <a:bodyPr>
            <a:normAutofit/>
          </a:bodyPr>
          <a:lstStyle/>
          <a:p>
            <a:pPr lvl="0"/>
            <a:r>
              <a:rPr lang="en-US" u="sng" dirty="0"/>
              <a:t>Estimating Taxable and Tax-free Yields #2</a:t>
            </a:r>
            <a:r>
              <a:rPr lang="en-US" dirty="0"/>
              <a:t>: Volatilities in market inputs #2 and #6 depend upon an active market or accurate option pricing which, as discussed in this section, presents an interesting chicken-or-egg problem. How should one imply volatilities without market-tested, reliable, trading-based models?</a:t>
            </a:r>
          </a:p>
          <a:p>
            <a:pPr lvl="0"/>
            <a:r>
              <a:rPr lang="en-US" u="sng" dirty="0"/>
              <a:t>Correlations across the Three Prices</a:t>
            </a:r>
            <a:r>
              <a:rPr lang="en-US" dirty="0"/>
              <a:t>: Correlations for the market input #7-#9 simply do not exist in any market as an implied quantity.</a:t>
            </a:r>
          </a:p>
          <a:p>
            <a:r>
              <a:rPr lang="en-US" u="sng" dirty="0"/>
              <a:t>Inadequacy of a Single-factor Model</a:t>
            </a:r>
            <a:r>
              <a:rPr lang="en-US" dirty="0"/>
              <a:t>: Given the importance of both the replacement yield of the new bond, which usually matches closely to that of the refunded bond, and the yield on the escrow, which is to the call date, any single factor model is inadequate for this.</a:t>
            </a:r>
          </a:p>
        </p:txBody>
      </p:sp>
    </p:spTree>
    <p:extLst>
      <p:ext uri="{BB962C8B-B14F-4D97-AF65-F5344CB8AC3E}">
        <p14:creationId xmlns:p14="http://schemas.microsoft.com/office/powerpoint/2010/main" val="16795153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2A68C-7365-59C7-7772-F958C1699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3A8B2-6408-B6D2-306A-4E32E8AF6171}"/>
              </a:ext>
            </a:extLst>
          </p:cNvPr>
          <p:cNvSpPr>
            <a:spLocks noGrp="1"/>
          </p:cNvSpPr>
          <p:nvPr>
            <p:ph type="title"/>
          </p:nvPr>
        </p:nvSpPr>
        <p:spPr>
          <a:xfrm>
            <a:off x="838200" y="365125"/>
            <a:ext cx="10515600" cy="823595"/>
          </a:xfrm>
        </p:spPr>
        <p:txBody>
          <a:bodyPr>
            <a:normAutofit fontScale="90000"/>
          </a:bodyPr>
          <a:lstStyle/>
          <a:p>
            <a:pPr algn="ctr"/>
            <a:r>
              <a:rPr lang="en-US" b="1" dirty="0"/>
              <a:t>Characteristics of a Good Model for Analyzing Municipal Bond Call Features</a:t>
            </a:r>
          </a:p>
        </p:txBody>
      </p:sp>
      <p:sp>
        <p:nvSpPr>
          <p:cNvPr id="3" name="Content Placeholder 2">
            <a:extLst>
              <a:ext uri="{FF2B5EF4-FFF2-40B4-BE49-F238E27FC236}">
                <a16:creationId xmlns:a16="http://schemas.microsoft.com/office/drawing/2014/main" id="{502CAF50-2749-8F8E-7430-97992AF08FAF}"/>
              </a:ext>
            </a:extLst>
          </p:cNvPr>
          <p:cNvSpPr>
            <a:spLocks noGrp="1"/>
          </p:cNvSpPr>
          <p:nvPr>
            <p:ph idx="1"/>
          </p:nvPr>
        </p:nvSpPr>
        <p:spPr>
          <a:xfrm>
            <a:off x="838200" y="1348105"/>
            <a:ext cx="10515600" cy="5144770"/>
          </a:xfrm>
        </p:spPr>
        <p:txBody>
          <a:bodyPr>
            <a:normAutofit fontScale="92500" lnSpcReduction="10000"/>
          </a:bodyPr>
          <a:lstStyle/>
          <a:p>
            <a:pPr lvl="0"/>
            <a:r>
              <a:rPr lang="en-US" u="sng" dirty="0"/>
              <a:t>Positive Nominal Rates</a:t>
            </a:r>
            <a:endParaRPr lang="en-US" dirty="0"/>
          </a:p>
          <a:p>
            <a:pPr lvl="0"/>
            <a:r>
              <a:rPr lang="en-US" u="sng" dirty="0"/>
              <a:t>Full Term Structure Dynamics</a:t>
            </a:r>
            <a:r>
              <a:rPr lang="en-US" dirty="0"/>
              <a:t>: Including volatilities and correlations for at least three markets: tax-exempt, taxable, and escrow instruments.</a:t>
            </a:r>
          </a:p>
          <a:p>
            <a:pPr lvl="0"/>
            <a:r>
              <a:rPr lang="en-US" u="sng" dirty="0"/>
              <a:t>Control on Yield Curve Shapes</a:t>
            </a:r>
            <a:r>
              <a:rPr lang="en-US" dirty="0"/>
              <a:t>: While allowing for variation of slopes, bumps, and twists</a:t>
            </a:r>
          </a:p>
          <a:p>
            <a:pPr lvl="0"/>
            <a:r>
              <a:rPr lang="en-US" u="sng" dirty="0"/>
              <a:t>Recovering Historical Yield Curve Change Distributions</a:t>
            </a:r>
            <a:endParaRPr lang="en-US" dirty="0"/>
          </a:p>
          <a:p>
            <a:pPr lvl="0"/>
            <a:r>
              <a:rPr lang="en-US" u="sng" dirty="0"/>
              <a:t>Replication of Historical Yield Correlations</a:t>
            </a:r>
            <a:r>
              <a:rPr lang="en-US" dirty="0"/>
              <a:t>: Both within and across Markets</a:t>
            </a:r>
          </a:p>
          <a:p>
            <a:pPr lvl="0"/>
            <a:r>
              <a:rPr lang="en-US" u="sng" dirty="0"/>
              <a:t>Distribution Tails for the Yields</a:t>
            </a:r>
            <a:r>
              <a:rPr lang="en-US" dirty="0"/>
              <a:t>: Low high end and fat low end</a:t>
            </a:r>
          </a:p>
          <a:p>
            <a:pPr lvl="0"/>
            <a:r>
              <a:rPr lang="en-US" u="sng" dirty="0"/>
              <a:t>Accurate Analytic Approximations of Yield Distributions</a:t>
            </a:r>
            <a:endParaRPr lang="en-US" dirty="0"/>
          </a:p>
          <a:p>
            <a:r>
              <a:rPr lang="en-US" u="sng" dirty="0"/>
              <a:t>Evaluating Exercise and Refunding Criterion</a:t>
            </a:r>
            <a:r>
              <a:rPr lang="en-US" dirty="0"/>
              <a:t>: With a market model fitting the above criterion, one could analyze and evaluate different exercise criteria currently in practice as well as ultimately establish refunding criteria to determine value.</a:t>
            </a:r>
          </a:p>
        </p:txBody>
      </p:sp>
    </p:spTree>
    <p:extLst>
      <p:ext uri="{BB962C8B-B14F-4D97-AF65-F5344CB8AC3E}">
        <p14:creationId xmlns:p14="http://schemas.microsoft.com/office/powerpoint/2010/main" val="18236850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E3260-B7D8-4C74-02B2-266FB39D8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770E7-9ED8-AA98-ED20-7B071D60D13E}"/>
              </a:ext>
            </a:extLst>
          </p:cNvPr>
          <p:cNvSpPr>
            <a:spLocks noGrp="1"/>
          </p:cNvSpPr>
          <p:nvPr>
            <p:ph type="title"/>
          </p:nvPr>
        </p:nvSpPr>
        <p:spPr>
          <a:xfrm>
            <a:off x="838200" y="365125"/>
            <a:ext cx="10515600" cy="823595"/>
          </a:xfrm>
        </p:spPr>
        <p:txBody>
          <a:bodyPr>
            <a:normAutofit/>
          </a:bodyPr>
          <a:lstStyle/>
          <a:p>
            <a:pPr algn="ctr"/>
            <a:r>
              <a:rPr lang="en-US" b="1" dirty="0"/>
              <a:t>Expected Present Value – EPV – Savings</a:t>
            </a:r>
          </a:p>
        </p:txBody>
      </p:sp>
      <p:sp>
        <p:nvSpPr>
          <p:cNvPr id="3" name="Content Placeholder 2">
            <a:extLst>
              <a:ext uri="{FF2B5EF4-FFF2-40B4-BE49-F238E27FC236}">
                <a16:creationId xmlns:a16="http://schemas.microsoft.com/office/drawing/2014/main" id="{25548591-861E-933A-3370-38CBDAED19F0}"/>
              </a:ext>
            </a:extLst>
          </p:cNvPr>
          <p:cNvSpPr>
            <a:spLocks noGrp="1"/>
          </p:cNvSpPr>
          <p:nvPr>
            <p:ph idx="1"/>
          </p:nvPr>
        </p:nvSpPr>
        <p:spPr>
          <a:xfrm>
            <a:off x="838200" y="1348105"/>
            <a:ext cx="10515600" cy="5144770"/>
          </a:xfrm>
        </p:spPr>
        <p:txBody>
          <a:bodyPr>
            <a:normAutofit/>
          </a:bodyPr>
          <a:lstStyle/>
          <a:p>
            <a:pPr lvl="0"/>
            <a:r>
              <a:rPr lang="en-US" u="sng" dirty="0"/>
              <a:t>Simulating the Interdependent Yield Curves</a:t>
            </a:r>
            <a:r>
              <a:rPr lang="en-US" dirty="0"/>
              <a:t>: Simulations of 3 interdependent yield curve markets over 40 years using daily yield curve data</a:t>
            </a:r>
          </a:p>
          <a:p>
            <a:pPr lvl="0"/>
            <a:r>
              <a:rPr lang="en-US" u="sng" dirty="0"/>
              <a:t>Starting + Infinite Horizon Yield Curve</a:t>
            </a:r>
            <a:r>
              <a:rPr lang="en-US" dirty="0"/>
              <a:t>: Inputs include a starting yield curve as well as infinite horizon yields towards which yields will revert over the analytic horizon.</a:t>
            </a:r>
          </a:p>
          <a:p>
            <a:r>
              <a:rPr lang="en-US" u="sng" dirty="0"/>
              <a:t>Deriving the Infinite Horizon Yields</a:t>
            </a:r>
            <a:r>
              <a:rPr lang="en-US" dirty="0"/>
              <a:t>: The latter are usually derived from a forecast or long-term average for each tenor in the yield curve over a historical period deemed relevant</a:t>
            </a:r>
          </a:p>
        </p:txBody>
      </p:sp>
    </p:spTree>
    <p:extLst>
      <p:ext uri="{BB962C8B-B14F-4D97-AF65-F5344CB8AC3E}">
        <p14:creationId xmlns:p14="http://schemas.microsoft.com/office/powerpoint/2010/main" val="14983595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EEFF1-E112-5C64-0434-6B1F803891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5BBD5-086A-D365-3AD9-F80D7B70B6F2}"/>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pic>
        <p:nvPicPr>
          <p:cNvPr id="5" name="Content Placeholder 4">
            <a:extLst>
              <a:ext uri="{FF2B5EF4-FFF2-40B4-BE49-F238E27FC236}">
                <a16:creationId xmlns:a16="http://schemas.microsoft.com/office/drawing/2014/main" id="{1223322F-BA97-6659-4E0C-1405204F74C9}"/>
              </a:ext>
            </a:extLst>
          </p:cNvPr>
          <p:cNvPicPr>
            <a:picLocks noGrp="1" noChangeAspect="1"/>
          </p:cNvPicPr>
          <p:nvPr>
            <p:ph idx="1"/>
          </p:nvPr>
        </p:nvPicPr>
        <p:blipFill>
          <a:blip r:embed="rId2"/>
          <a:stretch>
            <a:fillRect/>
          </a:stretch>
        </p:blipFill>
        <p:spPr>
          <a:xfrm>
            <a:off x="2366962" y="1591469"/>
            <a:ext cx="7458075" cy="4657725"/>
          </a:xfrm>
          <a:prstGeom prst="rect">
            <a:avLst/>
          </a:prstGeom>
        </p:spPr>
      </p:pic>
    </p:spTree>
    <p:extLst>
      <p:ext uri="{BB962C8B-B14F-4D97-AF65-F5344CB8AC3E}">
        <p14:creationId xmlns:p14="http://schemas.microsoft.com/office/powerpoint/2010/main" val="24278121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5AF89-8730-07A6-D8AC-C1E48D367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33C74-F0C6-DF0B-07B9-674542A83C89}"/>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pic>
        <p:nvPicPr>
          <p:cNvPr id="5" name="Content Placeholder 4">
            <a:extLst>
              <a:ext uri="{FF2B5EF4-FFF2-40B4-BE49-F238E27FC236}">
                <a16:creationId xmlns:a16="http://schemas.microsoft.com/office/drawing/2014/main" id="{04BBC5EC-6222-A717-1ABC-BA34084F2671}"/>
              </a:ext>
            </a:extLst>
          </p:cNvPr>
          <p:cNvPicPr>
            <a:picLocks noGrp="1" noChangeAspect="1"/>
          </p:cNvPicPr>
          <p:nvPr>
            <p:ph idx="1"/>
          </p:nvPr>
        </p:nvPicPr>
        <p:blipFill>
          <a:blip r:embed="rId2"/>
          <a:stretch>
            <a:fillRect/>
          </a:stretch>
        </p:blipFill>
        <p:spPr>
          <a:xfrm>
            <a:off x="2657475" y="1672431"/>
            <a:ext cx="6877050" cy="4495800"/>
          </a:xfrm>
          <a:prstGeom prst="rect">
            <a:avLst/>
          </a:prstGeom>
        </p:spPr>
      </p:pic>
    </p:spTree>
    <p:extLst>
      <p:ext uri="{BB962C8B-B14F-4D97-AF65-F5344CB8AC3E}">
        <p14:creationId xmlns:p14="http://schemas.microsoft.com/office/powerpoint/2010/main" val="32578273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C81F-8BE4-46A1-8C92-9903CB9C2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6B5BA-5F70-5666-6FC7-5C68F68508C8}"/>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9FF1D2EB-11A5-0BDB-206D-1A45EAF788B7}"/>
              </a:ext>
            </a:extLst>
          </p:cNvPr>
          <p:cNvSpPr>
            <a:spLocks noGrp="1"/>
          </p:cNvSpPr>
          <p:nvPr>
            <p:ph idx="1"/>
          </p:nvPr>
        </p:nvSpPr>
        <p:spPr>
          <a:xfrm>
            <a:off x="838200" y="1348105"/>
            <a:ext cx="10515600" cy="5144770"/>
          </a:xfrm>
        </p:spPr>
        <p:txBody>
          <a:bodyPr>
            <a:normAutofit/>
          </a:bodyPr>
          <a:lstStyle/>
          <a:p>
            <a:pPr lvl="0"/>
            <a:r>
              <a:rPr lang="en-US" u="sng" dirty="0"/>
              <a:t>Components of a Full Simulation</a:t>
            </a:r>
            <a:r>
              <a:rPr lang="en-US" dirty="0"/>
              <a:t>: Each simulated environment contains a complete set of correlated, tax-exempt, taxable, and escrow yield curves</a:t>
            </a:r>
          </a:p>
          <a:p>
            <a:pPr marL="0" lvl="0" indent="0">
              <a:buNone/>
            </a:pPr>
            <a:endParaRPr lang="en-US" dirty="0"/>
          </a:p>
        </p:txBody>
      </p:sp>
      <p:pic>
        <p:nvPicPr>
          <p:cNvPr id="5" name="Picture 4">
            <a:extLst>
              <a:ext uri="{FF2B5EF4-FFF2-40B4-BE49-F238E27FC236}">
                <a16:creationId xmlns:a16="http://schemas.microsoft.com/office/drawing/2014/main" id="{DE413EAE-97F1-B9D7-4AB7-CB45823891C4}"/>
              </a:ext>
            </a:extLst>
          </p:cNvPr>
          <p:cNvPicPr>
            <a:picLocks noChangeAspect="1"/>
          </p:cNvPicPr>
          <p:nvPr/>
        </p:nvPicPr>
        <p:blipFill>
          <a:blip r:embed="rId2"/>
          <a:stretch>
            <a:fillRect/>
          </a:stretch>
        </p:blipFill>
        <p:spPr>
          <a:xfrm>
            <a:off x="1865947" y="2577465"/>
            <a:ext cx="7667625" cy="3702050"/>
          </a:xfrm>
          <a:prstGeom prst="rect">
            <a:avLst/>
          </a:prstGeom>
        </p:spPr>
      </p:pic>
    </p:spTree>
    <p:extLst>
      <p:ext uri="{BB962C8B-B14F-4D97-AF65-F5344CB8AC3E}">
        <p14:creationId xmlns:p14="http://schemas.microsoft.com/office/powerpoint/2010/main" val="4661658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4775A-3D8A-E937-A5F7-D8B5A549C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FC49-7460-C801-4BB7-01D94C11952E}"/>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457F7FEF-50F2-59F8-AC10-A08A6E41EB2A}"/>
              </a:ext>
            </a:extLst>
          </p:cNvPr>
          <p:cNvSpPr>
            <a:spLocks noGrp="1"/>
          </p:cNvSpPr>
          <p:nvPr>
            <p:ph idx="1"/>
          </p:nvPr>
        </p:nvSpPr>
        <p:spPr>
          <a:xfrm>
            <a:off x="838200" y="1348105"/>
            <a:ext cx="10515600" cy="5144770"/>
          </a:xfrm>
        </p:spPr>
        <p:txBody>
          <a:bodyPr>
            <a:normAutofit/>
          </a:bodyPr>
          <a:lstStyle/>
          <a:p>
            <a:pPr lvl="0"/>
            <a:r>
              <a:rPr lang="en-US" u="sng" dirty="0"/>
              <a:t>Quarterly Refunding of Candidate Bonds</a:t>
            </a:r>
            <a:r>
              <a:rPr lang="en-US" dirty="0"/>
              <a:t>: Though the simulations are performed daily to capture real yield curve dynamics, one calculates the value of refunding bonds on a quarterly basis using an assumption of one percent for costs of bond issuance.</a:t>
            </a:r>
          </a:p>
          <a:p>
            <a:pPr lvl="0"/>
            <a:r>
              <a:rPr lang="en-US" u="sng" dirty="0"/>
              <a:t>Negative Arbitrage</a:t>
            </a:r>
            <a:r>
              <a:rPr lang="en-US" dirty="0"/>
              <a:t>: Occurs when the yield on the escrow is lower than the refunding bond yield.</a:t>
            </a:r>
          </a:p>
          <a:p>
            <a:pPr lvl="0"/>
            <a:r>
              <a:rPr lang="en-US" u="sng" dirty="0"/>
              <a:t>Section §148 of Internal Revenue Code</a:t>
            </a:r>
            <a:r>
              <a:rPr lang="en-US" dirty="0"/>
              <a:t>: Precludes issuers from earning a higher yield on the escrow than the arbitrage yield on tax-exempt refunding bonds.</a:t>
            </a:r>
          </a:p>
          <a:p>
            <a:r>
              <a:rPr lang="en-US" u="sng" dirty="0"/>
              <a:t>Net Present Value Savings Calculation</a:t>
            </a:r>
            <a:r>
              <a:rPr lang="en-US" dirty="0"/>
              <a:t>: The NPV savings calculation reflects negative arbitrage where it exists and ensures that the escrow yield is no greater than the bond yield for tax-exempt re-fundings</a:t>
            </a:r>
          </a:p>
          <a:p>
            <a:pPr marL="0" lvl="0" indent="0">
              <a:buNone/>
            </a:pPr>
            <a:endParaRPr lang="en-US" dirty="0"/>
          </a:p>
        </p:txBody>
      </p:sp>
    </p:spTree>
    <p:extLst>
      <p:ext uri="{BB962C8B-B14F-4D97-AF65-F5344CB8AC3E}">
        <p14:creationId xmlns:p14="http://schemas.microsoft.com/office/powerpoint/2010/main" val="12077588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DD3C9-4620-2561-F9BE-08F726097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B4EEA-8CD5-9DD4-ECA0-144C8B2F1BEF}"/>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9953EF29-8F16-D7FC-C38D-05B6519BC207}"/>
              </a:ext>
            </a:extLst>
          </p:cNvPr>
          <p:cNvSpPr>
            <a:spLocks noGrp="1"/>
          </p:cNvSpPr>
          <p:nvPr>
            <p:ph idx="1"/>
          </p:nvPr>
        </p:nvSpPr>
        <p:spPr>
          <a:xfrm>
            <a:off x="838200" y="1348105"/>
            <a:ext cx="10515600" cy="5144770"/>
          </a:xfrm>
        </p:spPr>
        <p:txBody>
          <a:bodyPr>
            <a:normAutofit/>
          </a:bodyPr>
          <a:lstStyle/>
          <a:p>
            <a:pPr lvl="0"/>
            <a:r>
              <a:rPr lang="en-US" u="sng" dirty="0"/>
              <a:t>NPV Savings in Simulations</a:t>
            </a:r>
            <a:r>
              <a:rPr lang="en-US" dirty="0"/>
              <a:t>: The objective is to create a standard NPV savings value in each simulated environment akin to an option payoff.</a:t>
            </a:r>
          </a:p>
          <a:p>
            <a:r>
              <a:rPr lang="en-US" u="sng" dirty="0"/>
              <a:t>NPV Savings Distribution for a 5% Bond #1</a:t>
            </a:r>
            <a:r>
              <a:rPr lang="en-US" dirty="0"/>
              <a:t>: As an example, the graph below shows the distribution of NPV savings for a 5% bond maturing July 1, 2031 callable on July 1, 2016</a:t>
            </a:r>
          </a:p>
          <a:p>
            <a:pPr marL="0" indent="0">
              <a:buNone/>
            </a:pPr>
            <a:endParaRPr lang="en-US" dirty="0"/>
          </a:p>
          <a:p>
            <a:pPr marL="0" lvl="0" indent="0">
              <a:buNone/>
            </a:pPr>
            <a:endParaRPr lang="en-US" dirty="0"/>
          </a:p>
        </p:txBody>
      </p:sp>
      <p:pic>
        <p:nvPicPr>
          <p:cNvPr id="5" name="Picture 4">
            <a:extLst>
              <a:ext uri="{FF2B5EF4-FFF2-40B4-BE49-F238E27FC236}">
                <a16:creationId xmlns:a16="http://schemas.microsoft.com/office/drawing/2014/main" id="{C4E95CE7-6E4F-BB4A-56B1-23CB3918AE93}"/>
              </a:ext>
            </a:extLst>
          </p:cNvPr>
          <p:cNvPicPr>
            <a:picLocks noChangeAspect="1"/>
          </p:cNvPicPr>
          <p:nvPr/>
        </p:nvPicPr>
        <p:blipFill>
          <a:blip r:embed="rId2"/>
          <a:stretch>
            <a:fillRect/>
          </a:stretch>
        </p:blipFill>
        <p:spPr>
          <a:xfrm>
            <a:off x="2295525" y="3429000"/>
            <a:ext cx="7600950" cy="3223260"/>
          </a:xfrm>
          <a:prstGeom prst="rect">
            <a:avLst/>
          </a:prstGeom>
        </p:spPr>
      </p:pic>
    </p:spTree>
    <p:extLst>
      <p:ext uri="{BB962C8B-B14F-4D97-AF65-F5344CB8AC3E}">
        <p14:creationId xmlns:p14="http://schemas.microsoft.com/office/powerpoint/2010/main" val="28578847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288ED-A243-7BE1-CEC8-32234B3DF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7C45B-6F57-931B-4B4C-8F0DD18055D2}"/>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1B03F9DF-6AEA-98CE-30EC-899E3436D58B}"/>
              </a:ext>
            </a:extLst>
          </p:cNvPr>
          <p:cNvSpPr>
            <a:spLocks noGrp="1"/>
          </p:cNvSpPr>
          <p:nvPr>
            <p:ph idx="1"/>
          </p:nvPr>
        </p:nvSpPr>
        <p:spPr>
          <a:xfrm>
            <a:off x="838200" y="1348105"/>
            <a:ext cx="10515600" cy="5144770"/>
          </a:xfrm>
        </p:spPr>
        <p:txBody>
          <a:bodyPr>
            <a:normAutofit lnSpcReduction="10000"/>
          </a:bodyPr>
          <a:lstStyle/>
          <a:p>
            <a:pPr lvl="0"/>
            <a:r>
              <a:rPr lang="en-US" u="sng" dirty="0"/>
              <a:t>90-Day Advance Call</a:t>
            </a:r>
            <a:r>
              <a:rPr lang="en-US" dirty="0"/>
              <a:t>: The bond in then figure above is callable but not eligible for refunding on a tax-exempt basis until 90 days in advance of the call date.</a:t>
            </a:r>
          </a:p>
          <a:p>
            <a:pPr lvl="0"/>
            <a:r>
              <a:rPr lang="en-US" u="sng" dirty="0"/>
              <a:t>Taxable vs Tax-exempt Advance Refunding</a:t>
            </a:r>
            <a:r>
              <a:rPr lang="en-US" dirty="0"/>
              <a:t>: Note that prior to the call date the taxable advance refunding leads to lower NPV savings overall relative to when the tax-exempt refunding is possible starting 90-days prior to the call date.</a:t>
            </a:r>
          </a:p>
          <a:p>
            <a:pPr lvl="0"/>
            <a:r>
              <a:rPr lang="en-US" u="sng" dirty="0"/>
              <a:t>NPV Savings vs Rates</a:t>
            </a:r>
            <a:r>
              <a:rPr lang="en-US" dirty="0"/>
              <a:t>: One also sees the initial average reduction in NV savings as rates rise on average within the model.</a:t>
            </a:r>
          </a:p>
          <a:p>
            <a:r>
              <a:rPr lang="en-US" u="sng" dirty="0"/>
              <a:t>Refinancing Rate Impact with Time</a:t>
            </a:r>
            <a:r>
              <a:rPr lang="en-US" dirty="0"/>
              <a:t>: Lastly, the reference rate rolls down the simulated yield curve as the bond approaches maturity. This last fact explains why there is declining savings variability as one approaches maturity</a:t>
            </a:r>
          </a:p>
          <a:p>
            <a:pPr marL="0" indent="0">
              <a:buNone/>
            </a:pPr>
            <a:endParaRPr lang="en-US" dirty="0"/>
          </a:p>
          <a:p>
            <a:pPr marL="0" lvl="0" indent="0">
              <a:buNone/>
            </a:pPr>
            <a:endParaRPr lang="en-US" dirty="0"/>
          </a:p>
        </p:txBody>
      </p:sp>
    </p:spTree>
    <p:extLst>
      <p:ext uri="{BB962C8B-B14F-4D97-AF65-F5344CB8AC3E}">
        <p14:creationId xmlns:p14="http://schemas.microsoft.com/office/powerpoint/2010/main" val="41539394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76B7E-6C6E-50D0-02E4-602076A24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74C91-F0C2-7276-3750-1E6ED0641E61}"/>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409D27AA-B27A-08D8-8195-47156CA9CC96}"/>
              </a:ext>
            </a:extLst>
          </p:cNvPr>
          <p:cNvSpPr>
            <a:spLocks noGrp="1"/>
          </p:cNvSpPr>
          <p:nvPr>
            <p:ph idx="1"/>
          </p:nvPr>
        </p:nvSpPr>
        <p:spPr>
          <a:xfrm>
            <a:off x="838200" y="1348105"/>
            <a:ext cx="10515600" cy="5144770"/>
          </a:xfrm>
        </p:spPr>
        <p:txBody>
          <a:bodyPr>
            <a:normAutofit/>
          </a:bodyPr>
          <a:lstStyle/>
          <a:p>
            <a:pPr lvl="0"/>
            <a:r>
              <a:rPr lang="en-US" dirty="0"/>
              <a:t>Assuming that the borrower refunds the bonds at a 5% NPV savings threshold – common in practice – one can calculate the </a:t>
            </a:r>
            <a:r>
              <a:rPr lang="en-US" i="1" dirty="0"/>
              <a:t>expected</a:t>
            </a:r>
            <a:r>
              <a:rPr lang="en-US" dirty="0"/>
              <a:t> present value – EPV – by appropriately discounting and averaging across all simulated environments</a:t>
            </a:r>
          </a:p>
          <a:p>
            <a:pPr marL="0" lvl="0" indent="0">
              <a:buNone/>
            </a:pPr>
            <a:endParaRPr lang="en-US" dirty="0"/>
          </a:p>
          <a:p>
            <a:pPr marL="0" indent="0">
              <a:buNone/>
            </a:pPr>
            <a:endParaRPr lang="en-US" dirty="0"/>
          </a:p>
          <a:p>
            <a:pPr marL="0" lvl="0" indent="0">
              <a:buNone/>
            </a:pPr>
            <a:endParaRPr lang="en-US" dirty="0"/>
          </a:p>
        </p:txBody>
      </p:sp>
      <p:pic>
        <p:nvPicPr>
          <p:cNvPr id="5" name="Picture 4">
            <a:extLst>
              <a:ext uri="{FF2B5EF4-FFF2-40B4-BE49-F238E27FC236}">
                <a16:creationId xmlns:a16="http://schemas.microsoft.com/office/drawing/2014/main" id="{C0B586C2-E3B1-0550-8A20-56EBEB8CD393}"/>
              </a:ext>
            </a:extLst>
          </p:cNvPr>
          <p:cNvPicPr>
            <a:picLocks noChangeAspect="1"/>
          </p:cNvPicPr>
          <p:nvPr/>
        </p:nvPicPr>
        <p:blipFill>
          <a:blip r:embed="rId2"/>
          <a:stretch>
            <a:fillRect/>
          </a:stretch>
        </p:blipFill>
        <p:spPr>
          <a:xfrm>
            <a:off x="2366962" y="3129279"/>
            <a:ext cx="7458075" cy="3601085"/>
          </a:xfrm>
          <a:prstGeom prst="rect">
            <a:avLst/>
          </a:prstGeom>
        </p:spPr>
      </p:pic>
    </p:spTree>
    <p:extLst>
      <p:ext uri="{BB962C8B-B14F-4D97-AF65-F5344CB8AC3E}">
        <p14:creationId xmlns:p14="http://schemas.microsoft.com/office/powerpoint/2010/main" val="8388704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F2245-A728-8698-E618-CF246D8A61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E2BD4-68FD-72F1-76CF-05EF6BBCBB2A}"/>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069F924A-A846-C1A1-4E1A-E0EFC7EA7DD0}"/>
              </a:ext>
            </a:extLst>
          </p:cNvPr>
          <p:cNvSpPr>
            <a:spLocks noGrp="1"/>
          </p:cNvSpPr>
          <p:nvPr>
            <p:ph idx="1"/>
          </p:nvPr>
        </p:nvSpPr>
        <p:spPr>
          <a:xfrm>
            <a:off x="838200" y="1348105"/>
            <a:ext cx="10515600" cy="5144770"/>
          </a:xfrm>
        </p:spPr>
        <p:txBody>
          <a:bodyPr>
            <a:normAutofit fontScale="92500" lnSpcReduction="10000"/>
          </a:bodyPr>
          <a:lstStyle/>
          <a:p>
            <a:pPr lvl="0"/>
            <a:r>
              <a:rPr lang="en-US" u="sng" dirty="0"/>
              <a:t>EPV Savings for different Bonds</a:t>
            </a:r>
            <a:r>
              <a:rPr lang="en-US" dirty="0"/>
              <a:t>: The figure above shows the EPV savings for 3 different bond types: one that can be advance refunded only taxably; one allowing for tax-exempt refunding; one that may be refunded on a current basis, i.e., no more than 90 days in advance of the first call date.</a:t>
            </a:r>
          </a:p>
          <a:p>
            <a:pPr lvl="0"/>
            <a:r>
              <a:rPr lang="en-US" u="sng" dirty="0"/>
              <a:t>EPV Savings at Lower Coupon</a:t>
            </a:r>
            <a:r>
              <a:rPr lang="en-US" dirty="0"/>
              <a:t>: At lower coupon levels, EPV savings for all bond types is similar indicating that refunding is happening at similar times, in this case close to maturity.</a:t>
            </a:r>
          </a:p>
          <a:p>
            <a:pPr lvl="0"/>
            <a:r>
              <a:rPr lang="en-US" u="sng" dirty="0"/>
              <a:t>EPV Savings at Higher Coupon</a:t>
            </a:r>
            <a:r>
              <a:rPr lang="en-US" dirty="0"/>
              <a:t>: In the coupon range over 5.25%, exercise happens very quickly or even immediately. In this case, the taxable advance refunding fares poorly relative to either the tax-exempt advance refunding or waiting for the current refunding near the call date.</a:t>
            </a:r>
          </a:p>
          <a:p>
            <a:r>
              <a:rPr lang="en-US" u="sng" dirty="0"/>
              <a:t>EPV Savings at Intermediate Coupons</a:t>
            </a:r>
            <a:r>
              <a:rPr lang="en-US" dirty="0"/>
              <a:t>: In the middle region, however, with a coupon between 4.75% and 5.25%, the refunding criteria of 5% PV savings impacts EPV savings in unintuitive ways</a:t>
            </a:r>
          </a:p>
          <a:p>
            <a:pPr marL="0" lvl="0" indent="0">
              <a:buNone/>
            </a:pPr>
            <a:endParaRPr lang="en-US" dirty="0"/>
          </a:p>
          <a:p>
            <a:pPr marL="0" indent="0">
              <a:buNone/>
            </a:pPr>
            <a:endParaRPr lang="en-US" dirty="0"/>
          </a:p>
          <a:p>
            <a:pPr marL="0" lvl="0" indent="0">
              <a:buNone/>
            </a:pPr>
            <a:endParaRPr lang="en-US" dirty="0"/>
          </a:p>
        </p:txBody>
      </p:sp>
    </p:spTree>
    <p:extLst>
      <p:ext uri="{BB962C8B-B14F-4D97-AF65-F5344CB8AC3E}">
        <p14:creationId xmlns:p14="http://schemas.microsoft.com/office/powerpoint/2010/main" val="36855162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41DC2-35E8-160B-D782-1243FED96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02257-FFE6-1EF5-E211-695F32F77389}"/>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D5A996B2-91D8-0E4A-A280-09F4348595A0}"/>
              </a:ext>
            </a:extLst>
          </p:cNvPr>
          <p:cNvSpPr>
            <a:spLocks noGrp="1"/>
          </p:cNvSpPr>
          <p:nvPr>
            <p:ph idx="1"/>
          </p:nvPr>
        </p:nvSpPr>
        <p:spPr>
          <a:xfrm>
            <a:off x="838200" y="1348105"/>
            <a:ext cx="10515600" cy="5144770"/>
          </a:xfrm>
        </p:spPr>
        <p:txBody>
          <a:bodyPr>
            <a:normAutofit/>
          </a:bodyPr>
          <a:lstStyle/>
          <a:p>
            <a:pPr lvl="0"/>
            <a:r>
              <a:rPr lang="en-US" u="sng" dirty="0"/>
              <a:t>Behavior of EPV Savings</a:t>
            </a:r>
            <a:r>
              <a:rPr lang="en-US" dirty="0"/>
              <a:t>: Despite higher coupons, EPV savings actually falls in certain cases because the refunding decision in the lower coupons is delayed such that NPV savings at a later time is higher, perhaps due to less negative arbitrage in the escrow.</a:t>
            </a:r>
          </a:p>
          <a:p>
            <a:pPr lvl="0"/>
            <a:r>
              <a:rPr lang="en-US" u="sng" dirty="0"/>
              <a:t>Impact of Advance Refundings</a:t>
            </a:r>
            <a:r>
              <a:rPr lang="en-US" dirty="0"/>
              <a:t>: As such, there is little one resolve dispositively about these three bonds or their embedded options. For instance, it would be incorrect to take these results as proof that either re-fundings always destroy values, or alternatively that it is always more advantageous to wait until the call date to refund.</a:t>
            </a:r>
          </a:p>
          <a:p>
            <a:r>
              <a:rPr lang="en-US" u="sng" dirty="0"/>
              <a:t>Assessing the Optimal Exercise</a:t>
            </a:r>
            <a:r>
              <a:rPr lang="en-US" dirty="0"/>
              <a:t>: Without optimal exercise criterion, these assessments cannot be made accurately.</a:t>
            </a:r>
          </a:p>
          <a:p>
            <a:pPr marL="0" indent="0">
              <a:buNone/>
            </a:pPr>
            <a:endParaRPr lang="en-US" dirty="0"/>
          </a:p>
          <a:p>
            <a:pPr marL="0" lvl="0" indent="0">
              <a:buNone/>
            </a:pPr>
            <a:endParaRPr lang="en-US" dirty="0"/>
          </a:p>
        </p:txBody>
      </p:sp>
    </p:spTree>
    <p:extLst>
      <p:ext uri="{BB962C8B-B14F-4D97-AF65-F5344CB8AC3E}">
        <p14:creationId xmlns:p14="http://schemas.microsoft.com/office/powerpoint/2010/main" val="31041561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6004F-A77F-8DE2-5618-8BB874962B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49EDD-A24C-1C77-7247-84E914276AA8}"/>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87A4CF38-2B68-14F6-75FD-2490FF9E993C}"/>
              </a:ext>
            </a:extLst>
          </p:cNvPr>
          <p:cNvSpPr>
            <a:spLocks noGrp="1"/>
          </p:cNvSpPr>
          <p:nvPr>
            <p:ph idx="1"/>
          </p:nvPr>
        </p:nvSpPr>
        <p:spPr>
          <a:xfrm>
            <a:off x="838200" y="1348105"/>
            <a:ext cx="10515600" cy="5144770"/>
          </a:xfrm>
        </p:spPr>
        <p:txBody>
          <a:bodyPr>
            <a:normAutofit/>
          </a:bodyPr>
          <a:lstStyle/>
          <a:p>
            <a:pPr marL="0" lvl="0" indent="0">
              <a:buNone/>
            </a:pPr>
            <a:endParaRPr lang="en-US" dirty="0"/>
          </a:p>
          <a:p>
            <a:pPr marL="0" indent="0">
              <a:buNone/>
            </a:pPr>
            <a:endParaRPr lang="en-US" dirty="0"/>
          </a:p>
          <a:p>
            <a:pPr marL="0" lvl="0" indent="0">
              <a:buNone/>
            </a:pPr>
            <a:endParaRPr lang="en-US" dirty="0"/>
          </a:p>
        </p:txBody>
      </p:sp>
      <p:pic>
        <p:nvPicPr>
          <p:cNvPr id="5" name="Picture 4">
            <a:extLst>
              <a:ext uri="{FF2B5EF4-FFF2-40B4-BE49-F238E27FC236}">
                <a16:creationId xmlns:a16="http://schemas.microsoft.com/office/drawing/2014/main" id="{43CE5E70-2755-F072-E133-BA445014C4EC}"/>
              </a:ext>
            </a:extLst>
          </p:cNvPr>
          <p:cNvPicPr>
            <a:picLocks noChangeAspect="1"/>
          </p:cNvPicPr>
          <p:nvPr/>
        </p:nvPicPr>
        <p:blipFill>
          <a:blip r:embed="rId2"/>
          <a:stretch>
            <a:fillRect/>
          </a:stretch>
        </p:blipFill>
        <p:spPr>
          <a:xfrm>
            <a:off x="2357755" y="1188720"/>
            <a:ext cx="7334250" cy="5105400"/>
          </a:xfrm>
          <a:prstGeom prst="rect">
            <a:avLst/>
          </a:prstGeom>
        </p:spPr>
      </p:pic>
    </p:spTree>
    <p:extLst>
      <p:ext uri="{BB962C8B-B14F-4D97-AF65-F5344CB8AC3E}">
        <p14:creationId xmlns:p14="http://schemas.microsoft.com/office/powerpoint/2010/main" val="11659226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359A0-DC97-B0ED-789D-64E607ACC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40625-E916-5B17-A23E-1C35BBAF07AC}"/>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BC3DA5A4-6927-C525-EFAD-758FCE954FFF}"/>
              </a:ext>
            </a:extLst>
          </p:cNvPr>
          <p:cNvSpPr>
            <a:spLocks noGrp="1"/>
          </p:cNvSpPr>
          <p:nvPr>
            <p:ph idx="1"/>
          </p:nvPr>
        </p:nvSpPr>
        <p:spPr>
          <a:xfrm>
            <a:off x="838200" y="1348105"/>
            <a:ext cx="10515600" cy="5144770"/>
          </a:xfrm>
        </p:spPr>
        <p:txBody>
          <a:bodyPr>
            <a:normAutofit/>
          </a:bodyPr>
          <a:lstStyle/>
          <a:p>
            <a:pPr lvl="0"/>
            <a:r>
              <a:rPr lang="en-US" u="sng" dirty="0"/>
              <a:t>Optimal Exercise Chart #1</a:t>
            </a:r>
            <a:r>
              <a:rPr lang="en-US" dirty="0"/>
              <a:t>: The chart above provides a visualization of an optimal exercise boundary for a municipal bond option given a certain set of decision criteria.</a:t>
            </a:r>
          </a:p>
          <a:p>
            <a:pPr lvl="0"/>
            <a:r>
              <a:rPr lang="en-US" u="sng" dirty="0"/>
              <a:t>Optimal Exercise Chart #2</a:t>
            </a:r>
            <a:r>
              <a:rPr lang="en-US" dirty="0"/>
              <a:t>: The coloring of the chart shows the percentage of simulated markets where certain optimal refunding criteria have been satisfied.</a:t>
            </a:r>
          </a:p>
          <a:p>
            <a:r>
              <a:rPr lang="en-US" u="sng" dirty="0"/>
              <a:t>Optimal Exercise Chart #3</a:t>
            </a:r>
            <a:r>
              <a:rPr lang="en-US" dirty="0"/>
              <a:t>: Refinancings are bucketed such that if 100% of the refinancing rates in a rate bucket for a given time bucket correlate to satisfying the refunding criteria, then the rectangle is green. If in turn, the number of rates satisfying the refunding criteria is 0%, the rectangle is red. A color gradient corresponds to the intermediate values.</a:t>
            </a:r>
          </a:p>
          <a:p>
            <a:pPr marL="0" indent="0">
              <a:buNone/>
            </a:pPr>
            <a:endParaRPr lang="en-US" dirty="0"/>
          </a:p>
          <a:p>
            <a:pPr marL="0" lvl="0" indent="0">
              <a:buNone/>
            </a:pPr>
            <a:endParaRPr lang="en-US" dirty="0"/>
          </a:p>
        </p:txBody>
      </p:sp>
    </p:spTree>
    <p:extLst>
      <p:ext uri="{BB962C8B-B14F-4D97-AF65-F5344CB8AC3E}">
        <p14:creationId xmlns:p14="http://schemas.microsoft.com/office/powerpoint/2010/main" val="33762650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C5195-8FCF-4AD3-DA8D-77935CD59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22901-7A42-EC39-BEB7-68BFB0EE218B}"/>
              </a:ext>
            </a:extLst>
          </p:cNvPr>
          <p:cNvSpPr>
            <a:spLocks noGrp="1"/>
          </p:cNvSpPr>
          <p:nvPr>
            <p:ph type="title"/>
          </p:nvPr>
        </p:nvSpPr>
        <p:spPr>
          <a:xfrm>
            <a:off x="838200" y="365125"/>
            <a:ext cx="10515600" cy="823595"/>
          </a:xfrm>
        </p:spPr>
        <p:txBody>
          <a:bodyPr>
            <a:normAutofit fontScale="90000"/>
          </a:bodyPr>
          <a:lstStyle/>
          <a:p>
            <a:pPr algn="ctr"/>
            <a:r>
              <a:rPr lang="en-US" b="1" dirty="0"/>
              <a:t>Expected Present Value – EPV – Savings (continued)</a:t>
            </a:r>
          </a:p>
        </p:txBody>
      </p:sp>
      <p:sp>
        <p:nvSpPr>
          <p:cNvPr id="3" name="Content Placeholder 2">
            <a:extLst>
              <a:ext uri="{FF2B5EF4-FFF2-40B4-BE49-F238E27FC236}">
                <a16:creationId xmlns:a16="http://schemas.microsoft.com/office/drawing/2014/main" id="{4B7C3E13-EAFE-FB9C-B88E-D9BB68BE72F4}"/>
              </a:ext>
            </a:extLst>
          </p:cNvPr>
          <p:cNvSpPr>
            <a:spLocks noGrp="1"/>
          </p:cNvSpPr>
          <p:nvPr>
            <p:ph idx="1"/>
          </p:nvPr>
        </p:nvSpPr>
        <p:spPr>
          <a:xfrm>
            <a:off x="838200" y="1348105"/>
            <a:ext cx="10515600" cy="5144770"/>
          </a:xfrm>
        </p:spPr>
        <p:txBody>
          <a:bodyPr>
            <a:normAutofit/>
          </a:bodyPr>
          <a:lstStyle/>
          <a:p>
            <a:pPr lvl="0"/>
            <a:r>
              <a:rPr lang="en-US" u="sng" dirty="0"/>
              <a:t>Zones of Low Refunding</a:t>
            </a:r>
            <a:r>
              <a:rPr lang="en-US" dirty="0"/>
              <a:t>: Note that the greater the time to the call remaining, the greater the area wither yellow or red, indicating little or no refunding. This results from the role of the other important variable not directly observed in this chart, the escrow yield.</a:t>
            </a:r>
          </a:p>
          <a:p>
            <a:pPr lvl="0"/>
            <a:r>
              <a:rPr lang="en-US" u="sng" dirty="0"/>
              <a:t>Regions of Low Refinancing Rate</a:t>
            </a:r>
            <a:r>
              <a:rPr lang="en-US" dirty="0"/>
              <a:t>: Negative arbitrage is significant in those areas where, despite a very low refinancing rate – even below 2% - the region is still not one where refunding occurs frequently. This region shrinks as one moves closer to the call date.</a:t>
            </a:r>
          </a:p>
          <a:p>
            <a:r>
              <a:rPr lang="en-US" u="sng" dirty="0"/>
              <a:t>Post Call Relationship between Refinancing and Savings</a:t>
            </a:r>
            <a:r>
              <a:rPr lang="en-US" dirty="0"/>
              <a:t>: After the call, there is a clear distinction as the escrow yield is no longer a factor and there is a direct correspondence between refinancing rate and savings.</a:t>
            </a:r>
          </a:p>
          <a:p>
            <a:pPr marL="0" indent="0">
              <a:buNone/>
            </a:pPr>
            <a:endParaRPr lang="en-US" dirty="0"/>
          </a:p>
          <a:p>
            <a:pPr marL="0" lvl="0" indent="0">
              <a:buNone/>
            </a:pPr>
            <a:endParaRPr lang="en-US" dirty="0"/>
          </a:p>
        </p:txBody>
      </p:sp>
    </p:spTree>
    <p:extLst>
      <p:ext uri="{BB962C8B-B14F-4D97-AF65-F5344CB8AC3E}">
        <p14:creationId xmlns:p14="http://schemas.microsoft.com/office/powerpoint/2010/main" val="15028048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C7338-2B44-C79C-BDE8-587A0BB45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A9C05-AE7E-E104-7917-AC90C3407E2D}"/>
              </a:ext>
            </a:extLst>
          </p:cNvPr>
          <p:cNvSpPr>
            <a:spLocks noGrp="1"/>
          </p:cNvSpPr>
          <p:nvPr>
            <p:ph type="ctrTitle"/>
          </p:nvPr>
        </p:nvSpPr>
        <p:spPr/>
        <p:txBody>
          <a:bodyPr/>
          <a:lstStyle/>
          <a:p>
            <a:r>
              <a:rPr lang="en-US" b="1" dirty="0"/>
              <a:t>Section 5 – Nelder-Mead Method</a:t>
            </a:r>
          </a:p>
        </p:txBody>
      </p:sp>
    </p:spTree>
    <p:extLst>
      <p:ext uri="{BB962C8B-B14F-4D97-AF65-F5344CB8AC3E}">
        <p14:creationId xmlns:p14="http://schemas.microsoft.com/office/powerpoint/2010/main" val="19624136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B24D7-8FA0-1E38-1631-5C4D1B2B6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19C31-46DA-51EB-FD36-E65CECE5D77A}"/>
              </a:ext>
            </a:extLst>
          </p:cNvPr>
          <p:cNvSpPr>
            <a:spLocks noGrp="1"/>
          </p:cNvSpPr>
          <p:nvPr>
            <p:ph type="title"/>
          </p:nvPr>
        </p:nvSpPr>
        <p:spPr>
          <a:xfrm>
            <a:off x="838200" y="365125"/>
            <a:ext cx="10515600" cy="823595"/>
          </a:xfrm>
        </p:spPr>
        <p:txBody>
          <a:bodyPr/>
          <a:lstStyle/>
          <a:p>
            <a:pPr algn="ctr"/>
            <a:r>
              <a:rPr lang="en-US" b="1" dirty="0"/>
              <a:t>Introduction</a:t>
            </a:r>
          </a:p>
        </p:txBody>
      </p:sp>
      <p:sp>
        <p:nvSpPr>
          <p:cNvPr id="3" name="Content Placeholder 2">
            <a:extLst>
              <a:ext uri="{FF2B5EF4-FFF2-40B4-BE49-F238E27FC236}">
                <a16:creationId xmlns:a16="http://schemas.microsoft.com/office/drawing/2014/main" id="{121CF296-5161-7633-1820-FF39DCC66176}"/>
              </a:ext>
            </a:extLst>
          </p:cNvPr>
          <p:cNvSpPr>
            <a:spLocks noGrp="1"/>
          </p:cNvSpPr>
          <p:nvPr>
            <p:ph idx="1"/>
          </p:nvPr>
        </p:nvSpPr>
        <p:spPr>
          <a:xfrm>
            <a:off x="838200" y="1348105"/>
            <a:ext cx="10515600" cy="5144770"/>
          </a:xfrm>
        </p:spPr>
        <p:txBody>
          <a:bodyPr>
            <a:normAutofit/>
          </a:bodyPr>
          <a:lstStyle/>
          <a:p>
            <a:r>
              <a:rPr lang="en-US" u="sng" dirty="0"/>
              <a:t>What is Nelder-Mead Method</a:t>
            </a:r>
            <a:r>
              <a:rPr lang="en-US" dirty="0"/>
              <a:t>? Also called downhill simplex method, amoeba method, or polytope method – is a numerical method used to find a local minimum of maximum of an objective function in a multi-dimensional space</a:t>
            </a:r>
          </a:p>
          <a:p>
            <a:r>
              <a:rPr lang="en-US" u="sng" dirty="0"/>
              <a:t>Direct Search Based on Functional Optimization</a:t>
            </a:r>
            <a:r>
              <a:rPr lang="en-US" dirty="0"/>
              <a:t>: Direct search method – based on function comparison – applied to non-linear optimization problems for which derivatives may not be known.</a:t>
            </a:r>
          </a:p>
          <a:p>
            <a:r>
              <a:rPr lang="en-US" u="sng" dirty="0"/>
              <a:t>Heuristic Convergence to Non-stationary Points</a:t>
            </a:r>
            <a:r>
              <a:rPr lang="en-US" dirty="0"/>
              <a:t>: However, the Nelder-Mead technique is a heuristic search method that can converge to non-stationary point on problems that can be solved by alternative methods.</a:t>
            </a:r>
          </a:p>
        </p:txBody>
      </p:sp>
    </p:spTree>
    <p:extLst>
      <p:ext uri="{BB962C8B-B14F-4D97-AF65-F5344CB8AC3E}">
        <p14:creationId xmlns:p14="http://schemas.microsoft.com/office/powerpoint/2010/main" val="25090293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453F-7ACB-F7B6-F498-A126F9C11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C6D8C-5EB1-87A0-938C-BB40E0E2005E}"/>
              </a:ext>
            </a:extLst>
          </p:cNvPr>
          <p:cNvSpPr>
            <a:spLocks noGrp="1"/>
          </p:cNvSpPr>
          <p:nvPr>
            <p:ph type="title"/>
          </p:nvPr>
        </p:nvSpPr>
        <p:spPr>
          <a:xfrm>
            <a:off x="838200" y="365125"/>
            <a:ext cx="10515600" cy="823595"/>
          </a:xfrm>
        </p:spPr>
        <p:txBody>
          <a:bodyPr/>
          <a:lstStyle/>
          <a:p>
            <a:pPr algn="ctr"/>
            <a:r>
              <a:rPr lang="en-US" b="1" dirty="0"/>
              <a:t>Overview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D49947-8D63-8769-CE55-EB34EA40B8D3}"/>
                  </a:ext>
                </a:extLst>
              </p:cNvPr>
              <p:cNvSpPr>
                <a:spLocks noGrp="1"/>
              </p:cNvSpPr>
              <p:nvPr>
                <p:ph idx="1"/>
              </p:nvPr>
            </p:nvSpPr>
            <p:spPr>
              <a:xfrm>
                <a:off x="838200" y="1348105"/>
                <a:ext cx="10515600" cy="5144770"/>
              </a:xfrm>
            </p:spPr>
            <p:txBody>
              <a:bodyPr>
                <a:normAutofit fontScale="92500" lnSpcReduction="20000"/>
              </a:bodyPr>
              <a:lstStyle/>
              <a:p>
                <a:r>
                  <a:rPr lang="en-US" sz="2900" u="sng" dirty="0"/>
                  <a:t>Invoking the Simplex Polytope</a:t>
                </a:r>
                <a:r>
                  <a:rPr lang="en-US" sz="2900" dirty="0"/>
                  <a:t>: The method uses the concept of a special polytope of </a:t>
                </a:r>
                <a14:m>
                  <m:oMath xmlns:m="http://schemas.openxmlformats.org/officeDocument/2006/math">
                    <m:r>
                      <a:rPr lang="en-US" sz="2900" i="1">
                        <a:latin typeface="Cambria Math" panose="02040503050406030204" pitchFamily="18" charset="0"/>
                      </a:rPr>
                      <m:t>𝑛</m:t>
                    </m:r>
                    <m:r>
                      <a:rPr lang="en-US" sz="2900" i="1">
                        <a:latin typeface="Cambria Math" panose="02040503050406030204" pitchFamily="18" charset="0"/>
                      </a:rPr>
                      <m:t>+1</m:t>
                    </m:r>
                  </m:oMath>
                </a14:m>
                <a:r>
                  <a:rPr lang="en-US" sz="2900" dirty="0"/>
                  <a:t> vertexes in </a:t>
                </a:r>
                <a14:m>
                  <m:oMath xmlns:m="http://schemas.openxmlformats.org/officeDocument/2006/math">
                    <m:r>
                      <a:rPr lang="en-US" sz="2900" i="1">
                        <a:latin typeface="Cambria Math" panose="02040503050406030204" pitchFamily="18" charset="0"/>
                      </a:rPr>
                      <m:t>𝑛</m:t>
                    </m:r>
                  </m:oMath>
                </a14:m>
                <a:r>
                  <a:rPr lang="en-US" sz="2900" dirty="0"/>
                  <a:t> dimensions.</a:t>
                </a:r>
              </a:p>
              <a:p>
                <a:r>
                  <a:rPr lang="en-US" sz="2900" u="sng" dirty="0"/>
                  <a:t>Examples of Simplex Polytope</a:t>
                </a:r>
                <a:r>
                  <a:rPr lang="en-US" sz="2900" dirty="0"/>
                  <a:t>: Examples of simplexes include a line segment in 1D space, a triangle in 2D space, a tetrahedron in 3D space, and so forth.</a:t>
                </a:r>
              </a:p>
              <a:p>
                <a:r>
                  <a:rPr lang="en-US" sz="2900" u="sng" dirty="0"/>
                  <a:t>Approximating the Local Optimum Problem</a:t>
                </a:r>
                <a:r>
                  <a:rPr lang="en-US" sz="2900" dirty="0"/>
                  <a:t>: The method approximates a local optimum of a problem with </a:t>
                </a:r>
                <a14:m>
                  <m:oMath xmlns:m="http://schemas.openxmlformats.org/officeDocument/2006/math">
                    <m:r>
                      <a:rPr lang="en-US" sz="2900" i="1">
                        <a:latin typeface="Cambria Math" panose="02040503050406030204" pitchFamily="18" charset="0"/>
                      </a:rPr>
                      <m:t>𝑛</m:t>
                    </m:r>
                  </m:oMath>
                </a14:m>
                <a:r>
                  <a:rPr lang="en-US" sz="2900" dirty="0"/>
                  <a:t> variables when the objective function varies smoothly and is unimodal.</a:t>
                </a:r>
              </a:p>
              <a:p>
                <a:r>
                  <a:rPr lang="en-US" sz="2900" u="sng" dirty="0"/>
                  <a:t>Maximization as a Minimization</a:t>
                </a:r>
                <a:r>
                  <a:rPr lang="en-US" sz="2900" dirty="0"/>
                  <a:t>: Typical implementations minimize functions, and one minimizes </a:t>
                </a:r>
                <a14:m>
                  <m:oMath xmlns:m="http://schemas.openxmlformats.org/officeDocument/2006/math">
                    <m:r>
                      <a:rPr lang="en-US" sz="2900" i="1">
                        <a:latin typeface="Cambria Math" panose="02040503050406030204" pitchFamily="18" charset="0"/>
                      </a:rPr>
                      <m:t>𝑓</m:t>
                    </m:r>
                    <m:d>
                      <m:dPr>
                        <m:ctrlPr>
                          <a:rPr lang="en-US" sz="2900" b="1" i="1">
                            <a:latin typeface="Cambria Math" panose="02040503050406030204" pitchFamily="18" charset="0"/>
                          </a:rPr>
                        </m:ctrlPr>
                      </m:dPr>
                      <m:e>
                        <m:r>
                          <a:rPr lang="en-US" sz="2900" b="1" i="1">
                            <a:latin typeface="Cambria Math" panose="02040503050406030204" pitchFamily="18" charset="0"/>
                          </a:rPr>
                          <m:t>𝒙</m:t>
                        </m:r>
                      </m:e>
                    </m:d>
                  </m:oMath>
                </a14:m>
                <a:r>
                  <a:rPr lang="en-US" sz="2900" dirty="0"/>
                  <a:t> by minimizing </a:t>
                </a:r>
                <a14:m>
                  <m:oMath xmlns:m="http://schemas.openxmlformats.org/officeDocument/2006/math">
                    <m:r>
                      <a:rPr lang="en-US" sz="2900" i="1">
                        <a:latin typeface="Cambria Math" panose="02040503050406030204" pitchFamily="18" charset="0"/>
                      </a:rPr>
                      <m:t>𝑓</m:t>
                    </m:r>
                    <m:d>
                      <m:dPr>
                        <m:ctrlPr>
                          <a:rPr lang="en-US" sz="2900" b="1" i="1">
                            <a:latin typeface="Cambria Math" panose="02040503050406030204" pitchFamily="18" charset="0"/>
                          </a:rPr>
                        </m:ctrlPr>
                      </m:dPr>
                      <m:e>
                        <m:r>
                          <a:rPr lang="en-US" sz="2900" b="1" i="1">
                            <a:latin typeface="Cambria Math" panose="02040503050406030204" pitchFamily="18" charset="0"/>
                          </a:rPr>
                          <m:t>−</m:t>
                        </m:r>
                        <m:r>
                          <a:rPr lang="en-US" sz="2900" b="1" i="1">
                            <a:latin typeface="Cambria Math" panose="02040503050406030204" pitchFamily="18" charset="0"/>
                          </a:rPr>
                          <m:t>𝒙</m:t>
                        </m:r>
                      </m:e>
                    </m:d>
                  </m:oMath>
                </a14:m>
                <a:r>
                  <a:rPr lang="en-US" sz="2900" dirty="0"/>
                  <a:t>.</a:t>
                </a:r>
              </a:p>
              <a:p>
                <a:r>
                  <a:rPr lang="en-US" sz="2900" u="sng" dirty="0"/>
                  <a:t>Nelder Mead Evaluations per Iteration</a:t>
                </a:r>
                <a:r>
                  <a:rPr lang="en-US" sz="2900" dirty="0"/>
                  <a:t>: In its original variant, the Nelder-Mead method requires no more than 2 evaluations per iteration, except for the </a:t>
                </a:r>
                <a:r>
                  <a:rPr lang="en-US" sz="2900" i="1" dirty="0"/>
                  <a:t>shrink</a:t>
                </a:r>
                <a:r>
                  <a:rPr lang="en-US" sz="2900" dirty="0"/>
                  <a:t> operation described later, which is attractive compared to some other direct search optimization methods. However, the overall number of iterations for the proposed optimum may be high.</a:t>
                </a:r>
              </a:p>
              <a:p>
                <a:endParaRPr lang="en-US" dirty="0"/>
              </a:p>
            </p:txBody>
          </p:sp>
        </mc:Choice>
        <mc:Fallback xmlns="">
          <p:sp>
            <p:nvSpPr>
              <p:cNvPr id="3" name="Content Placeholder 2">
                <a:extLst>
                  <a:ext uri="{FF2B5EF4-FFF2-40B4-BE49-F238E27FC236}">
                    <a16:creationId xmlns:a16="http://schemas.microsoft.com/office/drawing/2014/main" id="{73D49947-8D63-8769-CE55-EB34EA40B8D3}"/>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86" t="-3199" r="-1739"/>
                </a:stretch>
              </a:blipFill>
            </p:spPr>
            <p:txBody>
              <a:bodyPr/>
              <a:lstStyle/>
              <a:p>
                <a:r>
                  <a:rPr lang="en-US">
                    <a:noFill/>
                  </a:rPr>
                  <a:t> </a:t>
                </a:r>
              </a:p>
            </p:txBody>
          </p:sp>
        </mc:Fallback>
      </mc:AlternateContent>
    </p:spTree>
    <p:extLst>
      <p:ext uri="{BB962C8B-B14F-4D97-AF65-F5344CB8AC3E}">
        <p14:creationId xmlns:p14="http://schemas.microsoft.com/office/powerpoint/2010/main" val="4424158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7AB21-8EE6-2E16-380A-F391D65B8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4AAB0-C95F-FE2C-59A4-3BC4C7D7EE30}"/>
              </a:ext>
            </a:extLst>
          </p:cNvPr>
          <p:cNvSpPr>
            <a:spLocks noGrp="1"/>
          </p:cNvSpPr>
          <p:nvPr>
            <p:ph type="title"/>
          </p:nvPr>
        </p:nvSpPr>
        <p:spPr>
          <a:xfrm>
            <a:off x="838200" y="365125"/>
            <a:ext cx="10515600" cy="823595"/>
          </a:xfrm>
        </p:spPr>
        <p:txBody>
          <a:bodyPr/>
          <a:lstStyle/>
          <a:p>
            <a:pPr algn="ctr"/>
            <a:r>
              <a:rPr lang="en-US" b="1" dirty="0"/>
              <a:t>Overview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BD461C-2178-6F30-BF98-2415C75B2780}"/>
                  </a:ext>
                </a:extLst>
              </p:cNvPr>
              <p:cNvSpPr>
                <a:spLocks noGrp="1"/>
              </p:cNvSpPr>
              <p:nvPr>
                <p:ph idx="1"/>
              </p:nvPr>
            </p:nvSpPr>
            <p:spPr>
              <a:xfrm>
                <a:off x="838200" y="1348105"/>
                <a:ext cx="10515600" cy="5144770"/>
              </a:xfrm>
            </p:spPr>
            <p:txBody>
              <a:bodyPr>
                <a:normAutofit lnSpcReduction="10000"/>
              </a:bodyPr>
              <a:lstStyle/>
              <a:p>
                <a14:m>
                  <m:oMath xmlns:m="http://schemas.openxmlformats.org/officeDocument/2006/math">
                    <m:r>
                      <a:rPr lang="en-US" i="1" u="sng">
                        <a:latin typeface="Cambria Math" panose="02040503050406030204" pitchFamily="18" charset="0"/>
                      </a:rPr>
                      <m:t>𝑛</m:t>
                    </m:r>
                  </m:oMath>
                </a14:m>
                <a:r>
                  <a:rPr lang="en-US" u="sng" dirty="0"/>
                  <a:t>-dimensional Nelder Mead Arrangement</a:t>
                </a:r>
                <a:r>
                  <a:rPr lang="en-US" dirty="0"/>
                  <a:t>: Nelder-Mead method in </a:t>
                </a:r>
                <a14:m>
                  <m:oMath xmlns:m="http://schemas.openxmlformats.org/officeDocument/2006/math">
                    <m:r>
                      <a:rPr lang="en-US" i="1">
                        <a:latin typeface="Cambria Math" panose="02040503050406030204" pitchFamily="18" charset="0"/>
                      </a:rPr>
                      <m:t>𝑛</m:t>
                    </m:r>
                  </m:oMath>
                </a14:m>
                <a:r>
                  <a:rPr lang="en-US" dirty="0"/>
                  <a:t> dimensions maintains a set of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+1</m:t>
                    </m:r>
                  </m:oMath>
                </a14:m>
                <a:r>
                  <a:rPr lang="en-US" dirty="0"/>
                  <a:t> test points organized into a simplex.</a:t>
                </a:r>
              </a:p>
              <a:p>
                <a:r>
                  <a:rPr lang="en-US" u="sng" dirty="0"/>
                  <a:t>Iterative Upgrade of Test Points</a:t>
                </a:r>
                <a:r>
                  <a:rPr lang="en-US" dirty="0"/>
                  <a:t>: It then extrapolates the behavior of the objective function measured at each test point in order to find a new test point and to replace one of the old test points with the new one, and so the technique progresses.</a:t>
                </a:r>
              </a:p>
              <a:p>
                <a:r>
                  <a:rPr lang="en-US" u="sng" dirty="0"/>
                  <a:t>Replacement using the Centroid</a:t>
                </a:r>
                <a:r>
                  <a:rPr lang="en-US" dirty="0"/>
                  <a:t>: The simplest approach is to replace the worst point with a point reflected through the centroid of the remaining </a:t>
                </a:r>
                <a14:m>
                  <m:oMath xmlns:m="http://schemas.openxmlformats.org/officeDocument/2006/math">
                    <m:r>
                      <a:rPr lang="en-US" i="1">
                        <a:latin typeface="Cambria Math" panose="02040503050406030204" pitchFamily="18" charset="0"/>
                      </a:rPr>
                      <m:t>𝑛</m:t>
                    </m:r>
                  </m:oMath>
                </a14:m>
                <a:r>
                  <a:rPr lang="en-US" dirty="0"/>
                  <a:t> points.</a:t>
                </a:r>
              </a:p>
              <a:p>
                <a:r>
                  <a:rPr lang="en-US" u="sng" dirty="0"/>
                  <a:t>Exponential Stretching through the Centroid</a:t>
                </a:r>
                <a:r>
                  <a:rPr lang="en-US" dirty="0"/>
                  <a:t>: If this point is better than the best current point, then one can try stretching out exponentially long this line.</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81BD461C-2178-6F30-BF98-2415C75B278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290"/>
                </a:stretch>
              </a:blipFill>
            </p:spPr>
            <p:txBody>
              <a:bodyPr/>
              <a:lstStyle/>
              <a:p>
                <a:r>
                  <a:rPr lang="en-US">
                    <a:noFill/>
                  </a:rPr>
                  <a:t> </a:t>
                </a:r>
              </a:p>
            </p:txBody>
          </p:sp>
        </mc:Fallback>
      </mc:AlternateContent>
    </p:spTree>
    <p:extLst>
      <p:ext uri="{BB962C8B-B14F-4D97-AF65-F5344CB8AC3E}">
        <p14:creationId xmlns:p14="http://schemas.microsoft.com/office/powerpoint/2010/main" val="39277310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0695B-4F49-2EE4-09D2-FECC947FDF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15CF4-4CE2-FC85-92DB-7C247D48EC60}"/>
              </a:ext>
            </a:extLst>
          </p:cNvPr>
          <p:cNvSpPr>
            <a:spLocks noGrp="1"/>
          </p:cNvSpPr>
          <p:nvPr>
            <p:ph type="title"/>
          </p:nvPr>
        </p:nvSpPr>
        <p:spPr>
          <a:xfrm>
            <a:off x="838200" y="365125"/>
            <a:ext cx="10515600" cy="823595"/>
          </a:xfrm>
        </p:spPr>
        <p:txBody>
          <a:bodyPr/>
          <a:lstStyle/>
          <a:p>
            <a:pPr algn="ctr"/>
            <a:r>
              <a:rPr lang="en-US" b="1" dirty="0"/>
              <a:t>Overview (continued)</a:t>
            </a:r>
          </a:p>
        </p:txBody>
      </p:sp>
      <p:sp>
        <p:nvSpPr>
          <p:cNvPr id="3" name="Content Placeholder 2">
            <a:extLst>
              <a:ext uri="{FF2B5EF4-FFF2-40B4-BE49-F238E27FC236}">
                <a16:creationId xmlns:a16="http://schemas.microsoft.com/office/drawing/2014/main" id="{FC4D5593-8823-5553-3378-35D151B16940}"/>
              </a:ext>
            </a:extLst>
          </p:cNvPr>
          <p:cNvSpPr>
            <a:spLocks noGrp="1"/>
          </p:cNvSpPr>
          <p:nvPr>
            <p:ph idx="1"/>
          </p:nvPr>
        </p:nvSpPr>
        <p:spPr>
          <a:xfrm>
            <a:off x="838200" y="1348105"/>
            <a:ext cx="10515600" cy="5144770"/>
          </a:xfrm>
        </p:spPr>
        <p:txBody>
          <a:bodyPr>
            <a:normAutofit/>
          </a:bodyPr>
          <a:lstStyle/>
          <a:p>
            <a:r>
              <a:rPr lang="en-US" u="sng" dirty="0"/>
              <a:t>Shrinking Towards a Better Point</a:t>
            </a:r>
            <a:r>
              <a:rPr lang="en-US" dirty="0"/>
              <a:t>: On the other hand, if this new point isn’t much better than the previous value, one is stepping cross valley, so one shrinks the simplex towards a better point.</a:t>
            </a:r>
          </a:p>
          <a:p>
            <a:r>
              <a:rPr lang="en-US" u="sng" dirty="0"/>
              <a:t>Step #1 - Movement across the Opposite Face</a:t>
            </a:r>
            <a:r>
              <a:rPr lang="en-US" dirty="0"/>
              <a:t>: The downhill simplex method takes a series of steps, most steps just moving the point of the simples where the function is largest – “highest point” – through the opposite face of simplex to a lower point.</a:t>
            </a:r>
          </a:p>
          <a:p>
            <a:r>
              <a:rPr lang="en-US" u="sng" dirty="0"/>
              <a:t>Step #2 - The Reflection Step</a:t>
            </a:r>
            <a:r>
              <a:rPr lang="en-US" dirty="0"/>
              <a:t>: These steps are called reflections, and they are constructed to conserve the volume of the simplex, and hence maintain its non-degeneracy.</a:t>
            </a:r>
          </a:p>
          <a:p>
            <a:r>
              <a:rPr lang="en-US" u="sng" dirty="0"/>
              <a:t>Step #3 - Larger Step Expansion</a:t>
            </a:r>
            <a:r>
              <a:rPr lang="en-US" dirty="0"/>
              <a:t>: When it can do so, the method expands the simplex in one direction or the other to take larger steps.</a:t>
            </a:r>
          </a:p>
          <a:p>
            <a:endParaRPr lang="en-US" dirty="0"/>
          </a:p>
          <a:p>
            <a:endParaRPr lang="en-US" dirty="0"/>
          </a:p>
          <a:p>
            <a:endParaRPr lang="en-US" dirty="0"/>
          </a:p>
        </p:txBody>
      </p:sp>
    </p:spTree>
    <p:extLst>
      <p:ext uri="{BB962C8B-B14F-4D97-AF65-F5344CB8AC3E}">
        <p14:creationId xmlns:p14="http://schemas.microsoft.com/office/powerpoint/2010/main" val="24362637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600AD-21F8-8C8E-8FD7-C8DF4AA3F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7CC5F-E3E8-F809-7FB2-BBA071F7C8F9}"/>
              </a:ext>
            </a:extLst>
          </p:cNvPr>
          <p:cNvSpPr>
            <a:spLocks noGrp="1"/>
          </p:cNvSpPr>
          <p:nvPr>
            <p:ph type="title"/>
          </p:nvPr>
        </p:nvSpPr>
        <p:spPr>
          <a:xfrm>
            <a:off x="838200" y="365125"/>
            <a:ext cx="10515600" cy="823595"/>
          </a:xfrm>
        </p:spPr>
        <p:txBody>
          <a:bodyPr/>
          <a:lstStyle/>
          <a:p>
            <a:pPr algn="ctr"/>
            <a:r>
              <a:rPr lang="en-US" b="1" dirty="0"/>
              <a:t>Overview (continued)</a:t>
            </a:r>
          </a:p>
        </p:txBody>
      </p:sp>
      <p:sp>
        <p:nvSpPr>
          <p:cNvPr id="3" name="Content Placeholder 2">
            <a:extLst>
              <a:ext uri="{FF2B5EF4-FFF2-40B4-BE49-F238E27FC236}">
                <a16:creationId xmlns:a16="http://schemas.microsoft.com/office/drawing/2014/main" id="{8CE00875-B7DD-7DA7-058C-5529EE62622D}"/>
              </a:ext>
            </a:extLst>
          </p:cNvPr>
          <p:cNvSpPr>
            <a:spLocks noGrp="1"/>
          </p:cNvSpPr>
          <p:nvPr>
            <p:ph idx="1"/>
          </p:nvPr>
        </p:nvSpPr>
        <p:spPr>
          <a:xfrm>
            <a:off x="838200" y="1348105"/>
            <a:ext cx="10515600" cy="5144770"/>
          </a:xfrm>
        </p:spPr>
        <p:txBody>
          <a:bodyPr>
            <a:normAutofit fontScale="92500" lnSpcReduction="10000"/>
          </a:bodyPr>
          <a:lstStyle/>
          <a:p>
            <a:r>
              <a:rPr lang="en-US" u="sng" dirty="0"/>
              <a:t>Step #4 - Valley Line Contraction</a:t>
            </a:r>
            <a:r>
              <a:rPr lang="en-US" dirty="0"/>
              <a:t>: When it reaches a </a:t>
            </a:r>
            <a:r>
              <a:rPr lang="en-US" i="1" dirty="0"/>
              <a:t>valley floor</a:t>
            </a:r>
            <a:r>
              <a:rPr lang="en-US" dirty="0"/>
              <a:t>, the method contracts itself in the transverse direction and tries to ooze down the valley.</a:t>
            </a:r>
          </a:p>
          <a:p>
            <a:r>
              <a:rPr lang="en-US" u="sng" dirty="0"/>
              <a:t>Step #5 - Lowest Point Contraction</a:t>
            </a:r>
            <a:r>
              <a:rPr lang="en-US" dirty="0"/>
              <a:t>: If there is a situation where the simplex is trying to </a:t>
            </a:r>
            <a:r>
              <a:rPr lang="en-US" i="1" dirty="0"/>
              <a:t>pass through the eye of a needle</a:t>
            </a:r>
            <a:r>
              <a:rPr lang="en-US" dirty="0"/>
              <a:t>, it contracts itself on all directions, pulling itself around its lowest – best – point.</a:t>
            </a:r>
          </a:p>
          <a:p>
            <a:r>
              <a:rPr lang="en-US" u="sng" dirty="0"/>
              <a:t>Convergence to a Non-stationary Point</a:t>
            </a:r>
            <a:r>
              <a:rPr lang="en-US" dirty="0"/>
              <a:t>: Unlike modern optimization methods, the Nelder-Mead heuristic can converge to a non-stationary point, unless the problem satisfies stronger conditions that are necessary for modern methods.</a:t>
            </a:r>
          </a:p>
          <a:p>
            <a:r>
              <a:rPr lang="en-US" u="sng" dirty="0"/>
              <a:t>The Steepest Descent Variant</a:t>
            </a:r>
            <a:r>
              <a:rPr lang="en-US" dirty="0"/>
              <a:t>: Many variations exist depending on the actual nature of the problem being solved. A common variant uses a constant size, small simplex that roughly follows the gradient direction – which gives the steepest descent.</a:t>
            </a:r>
          </a:p>
        </p:txBody>
      </p:sp>
    </p:spTree>
    <p:extLst>
      <p:ext uri="{BB962C8B-B14F-4D97-AF65-F5344CB8AC3E}">
        <p14:creationId xmlns:p14="http://schemas.microsoft.com/office/powerpoint/2010/main" val="41727552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F05F7-D77A-4775-D5B1-D36944940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23DFB-9A48-94C0-7154-03F5947D6FEB}"/>
              </a:ext>
            </a:extLst>
          </p:cNvPr>
          <p:cNvSpPr>
            <a:spLocks noGrp="1"/>
          </p:cNvSpPr>
          <p:nvPr>
            <p:ph type="title"/>
          </p:nvPr>
        </p:nvSpPr>
        <p:spPr>
          <a:xfrm>
            <a:off x="838200" y="365125"/>
            <a:ext cx="10515600" cy="823595"/>
          </a:xfrm>
        </p:spPr>
        <p:txBody>
          <a:bodyPr/>
          <a:lstStyle/>
          <a:p>
            <a:pPr algn="ctr"/>
            <a:r>
              <a:rPr lang="en-US" b="1" dirty="0"/>
              <a:t>Overview (continued)</a:t>
            </a:r>
          </a:p>
        </p:txBody>
      </p:sp>
      <p:sp>
        <p:nvSpPr>
          <p:cNvPr id="3" name="Content Placeholder 2">
            <a:extLst>
              <a:ext uri="{FF2B5EF4-FFF2-40B4-BE49-F238E27FC236}">
                <a16:creationId xmlns:a16="http://schemas.microsoft.com/office/drawing/2014/main" id="{83CE4938-0697-AEBA-A1EA-AC19179D4BE8}"/>
              </a:ext>
            </a:extLst>
          </p:cNvPr>
          <p:cNvSpPr>
            <a:spLocks noGrp="1"/>
          </p:cNvSpPr>
          <p:nvPr>
            <p:ph idx="1"/>
          </p:nvPr>
        </p:nvSpPr>
        <p:spPr>
          <a:xfrm>
            <a:off x="838200" y="1348105"/>
            <a:ext cx="10515600" cy="5144770"/>
          </a:xfrm>
        </p:spPr>
        <p:txBody>
          <a:bodyPr>
            <a:normAutofit/>
          </a:bodyPr>
          <a:lstStyle/>
          <a:p>
            <a:r>
              <a:rPr lang="en-US" u="sng" dirty="0"/>
              <a:t>Flexible Polyhedron Method</a:t>
            </a:r>
            <a:r>
              <a:rPr lang="en-US" dirty="0"/>
              <a:t>: Visualize a small triangle on an elevation map flip-flopping its way down a valley to a local bottom. This method is also known as the </a:t>
            </a:r>
            <a:r>
              <a:rPr lang="en-US" i="1" dirty="0"/>
              <a:t>flexible polyhedron method</a:t>
            </a:r>
            <a:r>
              <a:rPr lang="en-US" dirty="0"/>
              <a:t>.</a:t>
            </a:r>
          </a:p>
          <a:p>
            <a:r>
              <a:rPr lang="en-US" u="sng" dirty="0"/>
              <a:t>Drawbacks of Steepest Descent Proxy</a:t>
            </a:r>
            <a:r>
              <a:rPr lang="en-US" dirty="0"/>
              <a:t>: This, however, tends to perform poorly against the method described above because it makes unnecessary steps in areas of little interest.</a:t>
            </a:r>
          </a:p>
        </p:txBody>
      </p:sp>
    </p:spTree>
    <p:extLst>
      <p:ext uri="{BB962C8B-B14F-4D97-AF65-F5344CB8AC3E}">
        <p14:creationId xmlns:p14="http://schemas.microsoft.com/office/powerpoint/2010/main" val="8992160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FB42B-1CD9-9388-5BFA-D30EE1B8C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3125B-624D-1338-8688-BCD2FDFE584E}"/>
              </a:ext>
            </a:extLst>
          </p:cNvPr>
          <p:cNvSpPr>
            <a:spLocks noGrp="1"/>
          </p:cNvSpPr>
          <p:nvPr>
            <p:ph type="title"/>
          </p:nvPr>
        </p:nvSpPr>
        <p:spPr>
          <a:xfrm>
            <a:off x="838200" y="365125"/>
            <a:ext cx="10515600" cy="823595"/>
          </a:xfrm>
        </p:spPr>
        <p:txBody>
          <a:bodyPr/>
          <a:lstStyle/>
          <a:p>
            <a:pPr algn="ctr"/>
            <a:r>
              <a:rPr lang="en-US" b="1" dirty="0"/>
              <a:t>One Variation of the Nelder-Mead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CE3A06-CC07-C0A3-F62C-DEE8E768BBDA}"/>
                  </a:ext>
                </a:extLst>
              </p:cNvPr>
              <p:cNvSpPr>
                <a:spLocks noGrp="1"/>
              </p:cNvSpPr>
              <p:nvPr>
                <p:ph idx="1"/>
              </p:nvPr>
            </p:nvSpPr>
            <p:spPr>
              <a:xfrm>
                <a:off x="838200" y="1348105"/>
                <a:ext cx="10515600" cy="5144770"/>
              </a:xfrm>
            </p:spPr>
            <p:txBody>
              <a:bodyPr>
                <a:normAutofit lnSpcReduction="10000"/>
              </a:bodyPr>
              <a:lstStyle/>
              <a:p>
                <a:r>
                  <a:rPr lang="en-US" u="sng" dirty="0"/>
                  <a:t>Problem Setup</a:t>
                </a:r>
                <a:r>
                  <a:rPr lang="en-US" dirty="0"/>
                  <a:t>: One tries to minimize the function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𝒙</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a:latin typeface="Cambria Math" panose="02040503050406030204" pitchFamily="18" charset="0"/>
                            </a:rPr>
                            <m:t>𝑛</m:t>
                          </m:r>
                        </m:sup>
                      </m:sSup>
                    </m:oMath>
                  </m:oMathPara>
                </a14:m>
                <a:endParaRPr lang="en-US" dirty="0"/>
              </a:p>
              <a:p>
                <a:pPr marL="0" indent="0">
                  <a:buNone/>
                </a:pPr>
                <a:endParaRPr lang="en-US" dirty="0"/>
              </a:p>
              <a:p>
                <a:pPr marL="457200" lvl="1" indent="0">
                  <a:buNone/>
                </a:pPr>
                <a:r>
                  <a:rPr lang="en-US" dirty="0"/>
                  <a:t>The current test points are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endParaRPr lang="en-US" dirty="0"/>
              </a:p>
              <a:p>
                <a:r>
                  <a:rPr lang="en-US" u="sng" dirty="0"/>
                  <a:t>Vertex Ordering Step #1</a:t>
                </a:r>
                <a:r>
                  <a:rPr lang="en-US" dirty="0"/>
                  <a:t>: </a:t>
                </a:r>
                <a:r>
                  <a:rPr lang="en-US" i="1" dirty="0"/>
                  <a:t>Order</a:t>
                </a:r>
                <a:r>
                  <a:rPr lang="en-US" dirty="0"/>
                  <a:t> according to the values at the vertices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e>
                      </m:d>
                      <m:r>
                        <a:rPr lang="en-US" b="1" i="1">
                          <a:latin typeface="Cambria Math" panose="02040503050406030204" pitchFamily="18" charset="0"/>
                        </a:rPr>
                        <m: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2</m:t>
                              </m:r>
                            </m:sub>
                          </m:sSub>
                        </m:e>
                      </m:d>
                      <m:r>
                        <a:rPr lang="en-US" b="1" i="1">
                          <a:latin typeface="Cambria Math" panose="02040503050406030204" pitchFamily="18" charset="0"/>
                        </a:rPr>
                        <m: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e>
                      </m:d>
                    </m:oMath>
                  </m:oMathPara>
                </a14:m>
                <a:endParaRPr lang="en-US" dirty="0"/>
              </a:p>
              <a:p>
                <a:pPr marL="0" indent="0">
                  <a:buNone/>
                </a:pPr>
                <a:endParaRPr lang="en-US" dirty="0"/>
              </a:p>
              <a:p>
                <a:pPr marL="457200" lvl="1" indent="0">
                  <a:buNone/>
                </a:pPr>
                <a:r>
                  <a:rPr lang="en-US" dirty="0"/>
                  <a:t>Check whether the method should stop.</a:t>
                </a:r>
              </a:p>
              <a:p>
                <a:r>
                  <a:rPr lang="en-US" u="sng" dirty="0"/>
                  <a:t>Centroid Estimation Step #2</a:t>
                </a:r>
                <a:r>
                  <a:rPr lang="en-US" dirty="0"/>
                  <a:t>: Calculate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oMath>
                </a14:m>
                <a:r>
                  <a:rPr lang="en-US" dirty="0"/>
                  <a:t>, the centroid of all points except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a:t>
                </a:r>
              </a:p>
            </p:txBody>
          </p:sp>
        </mc:Choice>
        <mc:Fallback xmlns="">
          <p:sp>
            <p:nvSpPr>
              <p:cNvPr id="3" name="Content Placeholder 2">
                <a:extLst>
                  <a:ext uri="{FF2B5EF4-FFF2-40B4-BE49-F238E27FC236}">
                    <a16:creationId xmlns:a16="http://schemas.microsoft.com/office/drawing/2014/main" id="{81CE3A06-CC07-C0A3-F62C-DEE8E768BBDA}"/>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r="-116" b="-2014"/>
                </a:stretch>
              </a:blipFill>
            </p:spPr>
            <p:txBody>
              <a:bodyPr/>
              <a:lstStyle/>
              <a:p>
                <a:r>
                  <a:rPr lang="en-US">
                    <a:noFill/>
                  </a:rPr>
                  <a:t> </a:t>
                </a:r>
              </a:p>
            </p:txBody>
          </p:sp>
        </mc:Fallback>
      </mc:AlternateContent>
    </p:spTree>
    <p:extLst>
      <p:ext uri="{BB962C8B-B14F-4D97-AF65-F5344CB8AC3E}">
        <p14:creationId xmlns:p14="http://schemas.microsoft.com/office/powerpoint/2010/main" val="11243768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FC903-122A-0998-3F6C-F5178ECBA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A2C86-F443-A264-297C-E6392C32E63F}"/>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3526F2-CD9B-5119-6523-62634685298F}"/>
                  </a:ext>
                </a:extLst>
              </p:cNvPr>
              <p:cNvSpPr>
                <a:spLocks noGrp="1"/>
              </p:cNvSpPr>
              <p:nvPr>
                <p:ph idx="1"/>
              </p:nvPr>
            </p:nvSpPr>
            <p:spPr>
              <a:xfrm>
                <a:off x="838200" y="1348105"/>
                <a:ext cx="10515600" cy="5144770"/>
              </a:xfrm>
            </p:spPr>
            <p:txBody>
              <a:bodyPr>
                <a:normAutofit fontScale="77500" lnSpcReduction="20000"/>
              </a:bodyPr>
              <a:lstStyle/>
              <a:p>
                <a:r>
                  <a:rPr lang="en-US" u="sng" dirty="0"/>
                  <a:t>Reflection Step #3.1</a:t>
                </a:r>
                <a:r>
                  <a:rPr lang="en-US" dirty="0"/>
                  <a:t>: Compute the reflected point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e>
                      </m:d>
                    </m:oMath>
                  </m:oMathPara>
                </a14:m>
                <a:endParaRPr lang="en-US" dirty="0"/>
              </a:p>
              <a:p>
                <a:pPr marL="0" indent="0">
                  <a:buNone/>
                </a:pPr>
                <a:endParaRPr lang="en-US" dirty="0"/>
              </a:p>
              <a:p>
                <a:pPr marL="457200" lvl="1" indent="0">
                  <a:buNone/>
                </a:pPr>
                <a:r>
                  <a:rPr lang="en-US" dirty="0"/>
                  <a:t>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𝛼</m:t>
                      </m:r>
                      <m:r>
                        <a:rPr lang="en-US" i="1">
                          <a:latin typeface="Cambria Math" panose="02040503050406030204" pitchFamily="18" charset="0"/>
                        </a:rPr>
                        <m:t>&gt;0</m:t>
                      </m:r>
                    </m:oMath>
                  </m:oMathPara>
                </a14:m>
                <a:endParaRPr lang="en-US" dirty="0"/>
              </a:p>
              <a:p>
                <a:pPr marL="0" indent="0">
                  <a:buNone/>
                </a:pPr>
                <a:endParaRPr lang="en-US" dirty="0"/>
              </a:p>
              <a:p>
                <a:r>
                  <a:rPr lang="en-US" u="sng" dirty="0"/>
                  <a:t>Reflection Step #3.2</a:t>
                </a:r>
                <a:r>
                  <a:rPr lang="en-US" dirty="0"/>
                  <a:t>: If the reflected point is better than the second worst, but not better than the best, i.e.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e>
                      </m:d>
                      <m:r>
                        <a:rPr lang="en-US" b="1" i="1">
                          <a:latin typeface="Cambria Math" panose="02040503050406030204" pitchFamily="18" charset="0"/>
                        </a:rPr>
                        <m: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e>
                      </m:d>
                      <m:r>
                        <a:rPr lang="en-US" b="1" i="1">
                          <a:latin typeface="Cambria Math" panose="02040503050406030204" pitchFamily="18" charset="0"/>
                        </a:rPr>
                        <m: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sub>
                          </m:sSub>
                        </m:e>
                      </m:d>
                    </m:oMath>
                  </m:oMathPara>
                </a14:m>
                <a:endParaRPr lang="en-US" dirty="0"/>
              </a:p>
              <a:p>
                <a:pPr marL="0" indent="0">
                  <a:buNone/>
                </a:pPr>
                <a:endParaRPr lang="en-US" dirty="0"/>
              </a:p>
              <a:p>
                <a:pPr marL="0" indent="0">
                  <a:buNone/>
                </a:pPr>
                <a:endParaRPr lang="en-US" dirty="0"/>
              </a:p>
              <a:p>
                <a:pPr marL="457200" lvl="1" indent="0">
                  <a:buNone/>
                </a:pPr>
                <a:r>
                  <a:rPr lang="en-US" dirty="0"/>
                  <a:t>one obtains a new simplex by replacing the worst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 with the reflected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oMath>
                </a14:m>
                <a:r>
                  <a:rPr lang="en-US" dirty="0"/>
                  <a:t> and go to step #1.</a:t>
                </a:r>
              </a:p>
            </p:txBody>
          </p:sp>
        </mc:Choice>
        <mc:Fallback xmlns="">
          <p:sp>
            <p:nvSpPr>
              <p:cNvPr id="3" name="Content Placeholder 2">
                <a:extLst>
                  <a:ext uri="{FF2B5EF4-FFF2-40B4-BE49-F238E27FC236}">
                    <a16:creationId xmlns:a16="http://schemas.microsoft.com/office/drawing/2014/main" id="{AA3526F2-CD9B-5119-6523-62634685298F}"/>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696" t="-2488" r="-986" b="-1303"/>
                </a:stretch>
              </a:blipFill>
            </p:spPr>
            <p:txBody>
              <a:bodyPr/>
              <a:lstStyle/>
              <a:p>
                <a:r>
                  <a:rPr lang="en-US">
                    <a:noFill/>
                  </a:rPr>
                  <a:t> </a:t>
                </a:r>
              </a:p>
            </p:txBody>
          </p:sp>
        </mc:Fallback>
      </mc:AlternateContent>
    </p:spTree>
    <p:extLst>
      <p:ext uri="{BB962C8B-B14F-4D97-AF65-F5344CB8AC3E}">
        <p14:creationId xmlns:p14="http://schemas.microsoft.com/office/powerpoint/2010/main" val="18589582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A16FD-A827-24B8-797F-BAD0C782D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DFA40-1FFA-32F6-5437-5A94E01C7E14}"/>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C98C1A-7C2B-E303-CCC6-17B3A70A6742}"/>
                  </a:ext>
                </a:extLst>
              </p:cNvPr>
              <p:cNvSpPr>
                <a:spLocks noGrp="1"/>
              </p:cNvSpPr>
              <p:nvPr>
                <p:ph idx="1"/>
              </p:nvPr>
            </p:nvSpPr>
            <p:spPr>
              <a:xfrm>
                <a:off x="838200" y="1348105"/>
                <a:ext cx="10515600" cy="5144770"/>
              </a:xfrm>
            </p:spPr>
            <p:txBody>
              <a:bodyPr>
                <a:normAutofit lnSpcReduction="10000"/>
              </a:bodyPr>
              <a:lstStyle/>
              <a:p>
                <a:r>
                  <a:rPr lang="en-US" u="sng" dirty="0"/>
                  <a:t>Expansion Step #4.1</a:t>
                </a:r>
                <a:r>
                  <a:rPr lang="en-US" dirty="0"/>
                  <a:t>: If the reflected point is the best so far</a:t>
                </a:r>
              </a:p>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e>
                      </m:d>
                    </m:oMath>
                  </m:oMathPara>
                </a14:m>
                <a:endParaRPr lang="en-US" dirty="0"/>
              </a:p>
              <a:p>
                <a:pPr marL="0" indent="0">
                  <a:buNone/>
                </a:pPr>
                <a:endParaRPr lang="en-US" dirty="0"/>
              </a:p>
              <a:p>
                <a:pPr marL="457200" lvl="1" indent="0">
                  <a:buNone/>
                </a:pPr>
                <a:r>
                  <a:rPr lang="en-US" dirty="0"/>
                  <a:t>one computes the expanded point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𝑒</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𝛾</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e>
                      </m:d>
                    </m:oMath>
                  </m:oMathPara>
                </a14:m>
                <a:endParaRPr lang="en-US" dirty="0"/>
              </a:p>
              <a:p>
                <a:pPr marL="0" indent="0">
                  <a:buNone/>
                </a:pPr>
                <a:endParaRPr lang="en-US" dirty="0"/>
              </a:p>
              <a:p>
                <a:pPr marL="457200" lvl="1" indent="0">
                  <a:buNone/>
                </a:pPr>
                <a:r>
                  <a:rPr lang="en-US" dirty="0"/>
                  <a:t>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𝛾</m:t>
                      </m:r>
                      <m:r>
                        <a:rPr lang="en-US" i="1">
                          <a:latin typeface="Cambria Math" panose="02040503050406030204" pitchFamily="18" charset="0"/>
                        </a:rPr>
                        <m:t>&gt;1</m:t>
                      </m:r>
                    </m:oMath>
                  </m:oMathPara>
                </a14:m>
                <a:endParaRPr lang="en-US" dirty="0"/>
              </a:p>
            </p:txBody>
          </p:sp>
        </mc:Choice>
        <mc:Fallback xmlns="">
          <p:sp>
            <p:nvSpPr>
              <p:cNvPr id="3" name="Content Placeholder 2">
                <a:extLst>
                  <a:ext uri="{FF2B5EF4-FFF2-40B4-BE49-F238E27FC236}">
                    <a16:creationId xmlns:a16="http://schemas.microsoft.com/office/drawing/2014/main" id="{21C98C1A-7C2B-E303-CCC6-17B3A70A6742}"/>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b="-355"/>
                </a:stretch>
              </a:blipFill>
            </p:spPr>
            <p:txBody>
              <a:bodyPr/>
              <a:lstStyle/>
              <a:p>
                <a:r>
                  <a:rPr lang="en-US">
                    <a:noFill/>
                  </a:rPr>
                  <a:t> </a:t>
                </a:r>
              </a:p>
            </p:txBody>
          </p:sp>
        </mc:Fallback>
      </mc:AlternateContent>
    </p:spTree>
    <p:extLst>
      <p:ext uri="{BB962C8B-B14F-4D97-AF65-F5344CB8AC3E}">
        <p14:creationId xmlns:p14="http://schemas.microsoft.com/office/powerpoint/2010/main" val="22541911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B9619-97EE-3E8C-F646-0283A0693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07524-809A-BC45-843C-A93CE0220644}"/>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4891E2-91A7-B8AE-738A-D7A02D346863}"/>
                  </a:ext>
                </a:extLst>
              </p:cNvPr>
              <p:cNvSpPr>
                <a:spLocks noGrp="1"/>
              </p:cNvSpPr>
              <p:nvPr>
                <p:ph idx="1"/>
              </p:nvPr>
            </p:nvSpPr>
            <p:spPr>
              <a:xfrm>
                <a:off x="838200" y="1348105"/>
                <a:ext cx="10515600" cy="5144770"/>
              </a:xfrm>
            </p:spPr>
            <p:txBody>
              <a:bodyPr>
                <a:normAutofit fontScale="92500" lnSpcReduction="10000"/>
              </a:bodyPr>
              <a:lstStyle/>
              <a:p>
                <a:r>
                  <a:rPr lang="en-US" u="sng" dirty="0"/>
                  <a:t>Expansion Step #4.2</a:t>
                </a:r>
                <a:r>
                  <a:rPr lang="en-US" dirty="0"/>
                  <a:t>: If the expanded point is better than the reflected point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𝑒</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e>
                      </m:d>
                    </m:oMath>
                  </m:oMathPara>
                </a14:m>
                <a:endParaRPr lang="en-US" dirty="0"/>
              </a:p>
              <a:p>
                <a:pPr marL="0" indent="0">
                  <a:buNone/>
                </a:pPr>
                <a:endParaRPr lang="en-US" dirty="0"/>
              </a:p>
              <a:p>
                <a:pPr marL="457200" lvl="1" indent="0">
                  <a:buNone/>
                </a:pPr>
                <a:r>
                  <a:rPr lang="en-US" dirty="0"/>
                  <a:t>one obtains a new simplex by replacing the worst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 by the expanded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𝑒</m:t>
                        </m:r>
                      </m:sub>
                    </m:sSub>
                  </m:oMath>
                </a14:m>
                <a:r>
                  <a:rPr lang="en-US" dirty="0"/>
                  <a:t> and go to step #1; otherwise, obtain a new simplex by replacing the worst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 with the reflected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oMath>
                </a14:m>
                <a:r>
                  <a:rPr lang="en-US" dirty="0"/>
                  <a:t> and go to step #1.</a:t>
                </a:r>
              </a:p>
              <a:p>
                <a:r>
                  <a:rPr lang="en-US" u="sng" dirty="0"/>
                  <a:t>Contraction Step #5.1</a:t>
                </a:r>
                <a:r>
                  <a:rPr lang="en-US" dirty="0"/>
                  <a:t>: Here it is certain that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sub>
                          </m:sSub>
                        </m:e>
                      </m:d>
                    </m:oMath>
                  </m:oMathPara>
                </a14:m>
                <a:endParaRPr lang="en-US" dirty="0"/>
              </a:p>
              <a:p>
                <a:pPr marL="0" indent="0">
                  <a:buNone/>
                </a:pPr>
                <a:endParaRPr lang="en-US" dirty="0"/>
              </a:p>
              <a:p>
                <a:pPr marL="457200" lvl="1" indent="0">
                  <a:buNone/>
                </a:pPr>
                <a:r>
                  <a:rPr lang="en-US" dirty="0"/>
                  <a:t>Note that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sub>
                    </m:sSub>
                  </m:oMath>
                </a14:m>
                <a:r>
                  <a:rPr lang="en-US" dirty="0"/>
                  <a:t> is second or </a:t>
                </a:r>
                <a:r>
                  <a:rPr lang="en-US" i="1" dirty="0"/>
                  <a:t>next</a:t>
                </a:r>
                <a:r>
                  <a:rPr lang="en-US" dirty="0"/>
                  <a:t> to the worst part</a:t>
                </a:r>
                <a:r>
                  <a:rPr lang="en-US" i="1" dirty="0"/>
                  <a:t>.</a:t>
                </a:r>
                <a:endParaRPr lang="en-US" dirty="0"/>
              </a:p>
            </p:txBody>
          </p:sp>
        </mc:Choice>
        <mc:Fallback xmlns="">
          <p:sp>
            <p:nvSpPr>
              <p:cNvPr id="3" name="Content Placeholder 2">
                <a:extLst>
                  <a:ext uri="{FF2B5EF4-FFF2-40B4-BE49-F238E27FC236}">
                    <a16:creationId xmlns:a16="http://schemas.microsoft.com/office/drawing/2014/main" id="{734891E2-91A7-B8AE-738A-D7A02D346863}"/>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28" t="-2370"/>
                </a:stretch>
              </a:blipFill>
            </p:spPr>
            <p:txBody>
              <a:bodyPr/>
              <a:lstStyle/>
              <a:p>
                <a:r>
                  <a:rPr lang="en-US">
                    <a:noFill/>
                  </a:rPr>
                  <a:t> </a:t>
                </a:r>
              </a:p>
            </p:txBody>
          </p:sp>
        </mc:Fallback>
      </mc:AlternateContent>
    </p:spTree>
    <p:extLst>
      <p:ext uri="{BB962C8B-B14F-4D97-AF65-F5344CB8AC3E}">
        <p14:creationId xmlns:p14="http://schemas.microsoft.com/office/powerpoint/2010/main" val="23492848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7B124-6C69-9075-ED6B-19DCDC011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56DFA-149F-0813-9894-09225C45F7C8}"/>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36E686-CB93-6D6A-59CB-C27989732648}"/>
                  </a:ext>
                </a:extLst>
              </p:cNvPr>
              <p:cNvSpPr>
                <a:spLocks noGrp="1"/>
              </p:cNvSpPr>
              <p:nvPr>
                <p:ph idx="1"/>
              </p:nvPr>
            </p:nvSpPr>
            <p:spPr>
              <a:xfrm>
                <a:off x="838200" y="1348105"/>
                <a:ext cx="10515600" cy="5144770"/>
              </a:xfrm>
            </p:spPr>
            <p:txBody>
              <a:bodyPr>
                <a:normAutofit/>
              </a:bodyPr>
              <a:lstStyle/>
              <a:p>
                <a:r>
                  <a:rPr lang="en-US" u="sng" dirty="0"/>
                  <a:t>Contraction Step #5.2</a:t>
                </a:r>
                <a:r>
                  <a:rPr lang="en-US" dirty="0"/>
                  <a:t>: If</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e>
                      </m:d>
                    </m:oMath>
                  </m:oMathPara>
                </a14:m>
                <a:endParaRPr lang="en-US" dirty="0"/>
              </a:p>
              <a:p>
                <a:pPr marL="0" indent="0">
                  <a:buNone/>
                </a:pPr>
                <a:endParaRPr lang="en-US" dirty="0"/>
              </a:p>
              <a:p>
                <a:pPr marL="457200" lvl="1" indent="0">
                  <a:buNone/>
                </a:pPr>
                <a:r>
                  <a:rPr lang="en-US" dirty="0"/>
                  <a:t>one computes the contracted point on the outside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𝑐</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𝜌</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e>
                      </m:d>
                    </m:oMath>
                  </m:oMathPara>
                </a14:m>
                <a:endParaRPr lang="en-US" dirty="0"/>
              </a:p>
              <a:p>
                <a:pPr marL="0" indent="0">
                  <a:buNone/>
                </a:pPr>
                <a:endParaRPr lang="en-US" dirty="0"/>
              </a:p>
              <a:p>
                <a:pPr marL="457200" lvl="1" indent="0">
                  <a:buNone/>
                </a:pPr>
                <a:r>
                  <a:rPr lang="en-US" dirty="0"/>
                  <a:t>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0&lt;</m:t>
                      </m:r>
                      <m:r>
                        <a:rPr lang="en-US" i="1">
                          <a:latin typeface="Cambria Math" panose="02040503050406030204" pitchFamily="18" charset="0"/>
                        </a:rPr>
                        <m:t>𝜌</m:t>
                      </m:r>
                      <m:r>
                        <a:rPr lang="en-US" i="1">
                          <a:latin typeface="Cambria Math" panose="02040503050406030204" pitchFamily="18" charset="0"/>
                        </a:rPr>
                        <m:t>≤0.5</m:t>
                      </m:r>
                    </m:oMath>
                  </m:oMathPara>
                </a14:m>
                <a:endParaRPr lang="en-US" dirty="0"/>
              </a:p>
            </p:txBody>
          </p:sp>
        </mc:Choice>
        <mc:Fallback xmlns="">
          <p:sp>
            <p:nvSpPr>
              <p:cNvPr id="3" name="Content Placeholder 2">
                <a:extLst>
                  <a:ext uri="{FF2B5EF4-FFF2-40B4-BE49-F238E27FC236}">
                    <a16:creationId xmlns:a16="http://schemas.microsoft.com/office/drawing/2014/main" id="{F336E686-CB93-6D6A-59CB-C27989732648}"/>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a:stretch>
              </a:blipFill>
            </p:spPr>
            <p:txBody>
              <a:bodyPr/>
              <a:lstStyle/>
              <a:p>
                <a:r>
                  <a:rPr lang="en-US">
                    <a:noFill/>
                  </a:rPr>
                  <a:t> </a:t>
                </a:r>
              </a:p>
            </p:txBody>
          </p:sp>
        </mc:Fallback>
      </mc:AlternateContent>
    </p:spTree>
    <p:extLst>
      <p:ext uri="{BB962C8B-B14F-4D97-AF65-F5344CB8AC3E}">
        <p14:creationId xmlns:p14="http://schemas.microsoft.com/office/powerpoint/2010/main" val="26438028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E4F9-CFCC-4BF0-AE55-5BA34FE7E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B7793-D988-A750-E2F4-C879036D8B11}"/>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85B674-70DC-FF5E-8DE7-5DA28923EF4F}"/>
                  </a:ext>
                </a:extLst>
              </p:cNvPr>
              <p:cNvSpPr>
                <a:spLocks noGrp="1"/>
              </p:cNvSpPr>
              <p:nvPr>
                <p:ph idx="1"/>
              </p:nvPr>
            </p:nvSpPr>
            <p:spPr>
              <a:xfrm>
                <a:off x="838200" y="1348105"/>
                <a:ext cx="10515600" cy="5144770"/>
              </a:xfrm>
            </p:spPr>
            <p:txBody>
              <a:bodyPr>
                <a:normAutofit/>
              </a:bodyPr>
              <a:lstStyle/>
              <a:p>
                <a:r>
                  <a:rPr lang="en-US" u="sng" dirty="0"/>
                  <a:t>Contraction Step #5.3</a:t>
                </a:r>
                <a:r>
                  <a:rPr lang="en-US" dirty="0"/>
                  <a:t>: If the contracted point is better than the reflected point, i.e.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𝑐</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𝑟</m:t>
                              </m:r>
                            </m:sub>
                          </m:sSub>
                        </m:e>
                      </m:d>
                    </m:oMath>
                  </m:oMathPara>
                </a14:m>
                <a:endParaRPr lang="en-US" dirty="0"/>
              </a:p>
              <a:p>
                <a:pPr marL="0" indent="0">
                  <a:buNone/>
                </a:pPr>
                <a:endParaRPr lang="en-US" dirty="0"/>
              </a:p>
              <a:p>
                <a:pPr marL="457200" lvl="1" indent="0">
                  <a:buNone/>
                </a:pPr>
                <a:r>
                  <a:rPr lang="en-US" dirty="0"/>
                  <a:t>one obtains new simplex by replacing the worst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 with the contracted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𝑐</m:t>
                        </m:r>
                      </m:sub>
                    </m:sSub>
                  </m:oMath>
                </a14:m>
                <a:r>
                  <a:rPr lang="en-US" dirty="0"/>
                  <a:t> and go to step #1. Otherwise, go to step #6</a:t>
                </a:r>
              </a:p>
            </p:txBody>
          </p:sp>
        </mc:Choice>
        <mc:Fallback xmlns="">
          <p:sp>
            <p:nvSpPr>
              <p:cNvPr id="3" name="Content Placeholder 2">
                <a:extLst>
                  <a:ext uri="{FF2B5EF4-FFF2-40B4-BE49-F238E27FC236}">
                    <a16:creationId xmlns:a16="http://schemas.microsoft.com/office/drawing/2014/main" id="{9785B674-70DC-FF5E-8DE7-5DA28923EF4F}"/>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464"/>
                </a:stretch>
              </a:blipFill>
            </p:spPr>
            <p:txBody>
              <a:bodyPr/>
              <a:lstStyle/>
              <a:p>
                <a:r>
                  <a:rPr lang="en-US">
                    <a:noFill/>
                  </a:rPr>
                  <a:t> </a:t>
                </a:r>
              </a:p>
            </p:txBody>
          </p:sp>
        </mc:Fallback>
      </mc:AlternateContent>
    </p:spTree>
    <p:extLst>
      <p:ext uri="{BB962C8B-B14F-4D97-AF65-F5344CB8AC3E}">
        <p14:creationId xmlns:p14="http://schemas.microsoft.com/office/powerpoint/2010/main" val="35675448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8F9B8-38D7-6EF1-6FE8-68D8BE938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81351-C701-DFE5-F9EE-FEFAAFACBD8F}"/>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6118DF-747A-AAFE-64E5-891177B883C6}"/>
                  </a:ext>
                </a:extLst>
              </p:cNvPr>
              <p:cNvSpPr>
                <a:spLocks noGrp="1"/>
              </p:cNvSpPr>
              <p:nvPr>
                <p:ph idx="1"/>
              </p:nvPr>
            </p:nvSpPr>
            <p:spPr>
              <a:xfrm>
                <a:off x="838200" y="1348105"/>
                <a:ext cx="10515600" cy="5144770"/>
              </a:xfrm>
            </p:spPr>
            <p:txBody>
              <a:bodyPr>
                <a:normAutofit/>
              </a:bodyPr>
              <a:lstStyle/>
              <a:p>
                <a:r>
                  <a:rPr lang="en-US" u="sng" dirty="0"/>
                  <a:t>Contraction Step #5.4</a:t>
                </a:r>
                <a:r>
                  <a:rPr lang="en-US" dirty="0"/>
                  <a:t>: If</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𝑟</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d>
                    </m:oMath>
                  </m:oMathPara>
                </a14:m>
                <a:endParaRPr lang="en-US" dirty="0"/>
              </a:p>
              <a:p>
                <a:pPr marL="0" indent="0">
                  <a:buNone/>
                </a:pPr>
                <a:endParaRPr lang="en-US" dirty="0"/>
              </a:p>
              <a:p>
                <a:pPr marL="457200" lvl="1" indent="0">
                  <a:buNone/>
                </a:pPr>
                <a:r>
                  <a:rPr lang="en-US" dirty="0"/>
                  <a:t>one computes the contracted point on the outside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𝑐</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𝜌</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e>
                      </m:d>
                    </m:oMath>
                  </m:oMathPara>
                </a14:m>
                <a:endParaRPr lang="en-US" dirty="0"/>
              </a:p>
              <a:p>
                <a:pPr marL="0" indent="0">
                  <a:buNone/>
                </a:pPr>
                <a:endParaRPr lang="en-US" dirty="0"/>
              </a:p>
              <a:p>
                <a:pPr marL="457200" lvl="1" indent="0">
                  <a:buNone/>
                </a:pPr>
                <a:r>
                  <a:rPr lang="en-US" dirty="0"/>
                  <a:t>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0&lt;</m:t>
                      </m:r>
                      <m:r>
                        <a:rPr lang="en-US" i="1">
                          <a:latin typeface="Cambria Math" panose="02040503050406030204" pitchFamily="18" charset="0"/>
                        </a:rPr>
                        <m:t>𝜌</m:t>
                      </m:r>
                      <m:r>
                        <a:rPr lang="en-US" i="1">
                          <a:latin typeface="Cambria Math" panose="02040503050406030204" pitchFamily="18" charset="0"/>
                        </a:rPr>
                        <m:t>≤0.5</m:t>
                      </m:r>
                    </m:oMath>
                  </m:oMathPara>
                </a14:m>
                <a:endParaRPr lang="en-US" dirty="0"/>
              </a:p>
            </p:txBody>
          </p:sp>
        </mc:Choice>
        <mc:Fallback xmlns="">
          <p:sp>
            <p:nvSpPr>
              <p:cNvPr id="3" name="Content Placeholder 2">
                <a:extLst>
                  <a:ext uri="{FF2B5EF4-FFF2-40B4-BE49-F238E27FC236}">
                    <a16:creationId xmlns:a16="http://schemas.microsoft.com/office/drawing/2014/main" id="{636118DF-747A-AAFE-64E5-891177B883C6}"/>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a:stretch>
              </a:blipFill>
            </p:spPr>
            <p:txBody>
              <a:bodyPr/>
              <a:lstStyle/>
              <a:p>
                <a:r>
                  <a:rPr lang="en-US">
                    <a:noFill/>
                  </a:rPr>
                  <a:t> </a:t>
                </a:r>
              </a:p>
            </p:txBody>
          </p:sp>
        </mc:Fallback>
      </mc:AlternateContent>
    </p:spTree>
    <p:extLst>
      <p:ext uri="{BB962C8B-B14F-4D97-AF65-F5344CB8AC3E}">
        <p14:creationId xmlns:p14="http://schemas.microsoft.com/office/powerpoint/2010/main" val="36833166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B5730-D9B1-CC05-120F-C9B5D4B5A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8B835-B02C-ABE0-E1C1-F19F05762F50}"/>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63EE35-E681-536F-BB53-11685952DE06}"/>
                  </a:ext>
                </a:extLst>
              </p:cNvPr>
              <p:cNvSpPr>
                <a:spLocks noGrp="1"/>
              </p:cNvSpPr>
              <p:nvPr>
                <p:ph idx="1"/>
              </p:nvPr>
            </p:nvSpPr>
            <p:spPr>
              <a:xfrm>
                <a:off x="838200" y="1348105"/>
                <a:ext cx="10515600" cy="5144770"/>
              </a:xfrm>
            </p:spPr>
            <p:txBody>
              <a:bodyPr>
                <a:normAutofit lnSpcReduction="10000"/>
              </a:bodyPr>
              <a:lstStyle/>
              <a:p>
                <a:r>
                  <a:rPr lang="en-US" u="sng" dirty="0"/>
                  <a:t>Contraction Section #5.5</a:t>
                </a:r>
                <a:r>
                  <a:rPr lang="en-US" dirty="0"/>
                  <a:t>: If the contracted point is better than the worst point, i.e.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𝑐</m:t>
                              </m:r>
                            </m:sub>
                          </m:sSub>
                        </m:e>
                      </m:d>
                      <m:r>
                        <a:rPr lang="en-US" b="1" i="1">
                          <a:latin typeface="Cambria Math" panose="02040503050406030204" pitchFamily="18" charset="0"/>
                        </a:rPr>
                        <m:t>&lt;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e>
                      </m:d>
                    </m:oMath>
                  </m:oMathPara>
                </a14:m>
                <a:endParaRPr lang="en-US" dirty="0"/>
              </a:p>
              <a:p>
                <a:pPr marL="0" indent="0">
                  <a:buNone/>
                </a:pPr>
                <a:endParaRPr lang="en-US" dirty="0"/>
              </a:p>
              <a:p>
                <a:pPr marL="457200" lvl="1" indent="0">
                  <a:buNone/>
                </a:pPr>
                <a:r>
                  <a:rPr lang="en-US" dirty="0"/>
                  <a:t>one obtains a new simplex by replacing the worst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 with the contracted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𝑐</m:t>
                        </m:r>
                      </m:sub>
                    </m:sSub>
                  </m:oMath>
                </a14:m>
                <a:r>
                  <a:rPr lang="en-US" dirty="0"/>
                  <a:t> and go to step #1. Otherwise, go to step #6.</a:t>
                </a:r>
              </a:p>
              <a:p>
                <a:r>
                  <a:rPr lang="en-US" u="sng" dirty="0"/>
                  <a:t>Shrink Step #6</a:t>
                </a:r>
                <a:r>
                  <a:rPr lang="en-US" dirty="0"/>
                  <a:t>: Replace all points except the best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oMath>
                </a14:m>
                <a:r>
                  <a:rPr lang="en-US" dirty="0"/>
                  <a:t> with</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𝜎</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e>
                      </m:d>
                    </m:oMath>
                  </m:oMathPara>
                </a14:m>
                <a:endParaRPr lang="en-US" dirty="0"/>
              </a:p>
              <a:p>
                <a:pPr marL="0" indent="0">
                  <a:buNone/>
                </a:pPr>
                <a:endParaRPr lang="en-US" dirty="0"/>
              </a:p>
              <a:p>
                <a:pPr marL="457200" lvl="1" indent="0">
                  <a:buNone/>
                </a:pPr>
                <a:r>
                  <a:rPr lang="en-US" dirty="0"/>
                  <a:t>and go to step #1.</a:t>
                </a:r>
              </a:p>
            </p:txBody>
          </p:sp>
        </mc:Choice>
        <mc:Fallback xmlns="">
          <p:sp>
            <p:nvSpPr>
              <p:cNvPr id="3" name="Content Placeholder 2">
                <a:extLst>
                  <a:ext uri="{FF2B5EF4-FFF2-40B4-BE49-F238E27FC236}">
                    <a16:creationId xmlns:a16="http://schemas.microsoft.com/office/drawing/2014/main" id="{3163EE35-E681-536F-BB53-11685952DE06}"/>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2607"/>
                </a:stretch>
              </a:blipFill>
            </p:spPr>
            <p:txBody>
              <a:bodyPr/>
              <a:lstStyle/>
              <a:p>
                <a:r>
                  <a:rPr lang="en-US">
                    <a:noFill/>
                  </a:rPr>
                  <a:t> </a:t>
                </a:r>
              </a:p>
            </p:txBody>
          </p:sp>
        </mc:Fallback>
      </mc:AlternateContent>
    </p:spTree>
    <p:extLst>
      <p:ext uri="{BB962C8B-B14F-4D97-AF65-F5344CB8AC3E}">
        <p14:creationId xmlns:p14="http://schemas.microsoft.com/office/powerpoint/2010/main" val="17570330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ECBFA-AED8-52D5-CEEF-F670D1396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468A1-2C68-1E7C-8DB9-D7130A25E6C4}"/>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8CA107-92ED-B38F-6349-BCE1180E140D}"/>
                  </a:ext>
                </a:extLst>
              </p:cNvPr>
              <p:cNvSpPr>
                <a:spLocks noGrp="1"/>
              </p:cNvSpPr>
              <p:nvPr>
                <p:ph idx="1"/>
              </p:nvPr>
            </p:nvSpPr>
            <p:spPr>
              <a:xfrm>
                <a:off x="838200" y="1348105"/>
                <a:ext cx="10515600" cy="5144770"/>
              </a:xfrm>
            </p:spPr>
            <p:txBody>
              <a:bodyPr>
                <a:normAutofit fontScale="85000" lnSpcReduction="20000"/>
              </a:bodyPr>
              <a:lstStyle/>
              <a:p>
                <a:pPr lvl="0"/>
                <a:r>
                  <a:rPr lang="en-US" u="sng" dirty="0"/>
                  <a:t>Standard Values for the Coefficients</a:t>
                </a:r>
                <a:r>
                  <a:rPr lang="en-US" dirty="0"/>
                  <a:t>: Note that </a:t>
                </a:r>
                <a14:m>
                  <m:oMath xmlns:m="http://schemas.openxmlformats.org/officeDocument/2006/math">
                    <m:r>
                      <a:rPr lang="en-US" i="1">
                        <a:latin typeface="Cambria Math" panose="02040503050406030204" pitchFamily="18" charset="0"/>
                      </a:rPr>
                      <m:t>𝛼</m:t>
                    </m:r>
                  </m:oMath>
                </a14:m>
                <a:r>
                  <a:rPr lang="en-US" dirty="0"/>
                  <a:t>, </a:t>
                </a:r>
                <a14:m>
                  <m:oMath xmlns:m="http://schemas.openxmlformats.org/officeDocument/2006/math">
                    <m:r>
                      <a:rPr lang="en-US" i="1">
                        <a:latin typeface="Cambria Math" panose="02040503050406030204" pitchFamily="18" charset="0"/>
                      </a:rPr>
                      <m:t>𝛾</m:t>
                    </m:r>
                  </m:oMath>
                </a14:m>
                <a:r>
                  <a:rPr lang="en-US" dirty="0"/>
                  <a:t>, </a:t>
                </a:r>
                <a14:m>
                  <m:oMath xmlns:m="http://schemas.openxmlformats.org/officeDocument/2006/math">
                    <m:r>
                      <a:rPr lang="en-US" i="1">
                        <a:latin typeface="Cambria Math" panose="02040503050406030204" pitchFamily="18" charset="0"/>
                      </a:rPr>
                      <m:t>𝜌</m:t>
                    </m:r>
                  </m:oMath>
                </a14:m>
                <a:r>
                  <a:rPr lang="en-US" dirty="0"/>
                  <a:t>, and </a:t>
                </a:r>
                <a14:m>
                  <m:oMath xmlns:m="http://schemas.openxmlformats.org/officeDocument/2006/math">
                    <m:r>
                      <a:rPr lang="en-US" i="1">
                        <a:latin typeface="Cambria Math" panose="02040503050406030204" pitchFamily="18" charset="0"/>
                      </a:rPr>
                      <m:t>𝜎</m:t>
                    </m:r>
                  </m:oMath>
                </a14:m>
                <a:r>
                  <a:rPr lang="en-US" dirty="0"/>
                  <a:t> are respectively the reflection, the expansion, the contraction, and the shrink coefficients. Standard values are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𝛼</m:t>
                      </m:r>
                      <m:r>
                        <a:rPr lang="en-US" i="1">
                          <a:latin typeface="Cambria Math" panose="02040503050406030204" pitchFamily="18" charset="0"/>
                        </a:rPr>
                        <m:t>=1</m:t>
                      </m:r>
                    </m:oMath>
                  </m:oMathPara>
                </a14:m>
                <a:endParaRPr lang="en-US" dirty="0"/>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𝛾</m:t>
                      </m:r>
                      <m:r>
                        <a:rPr lang="en-US" i="1">
                          <a:latin typeface="Cambria Math" panose="02040503050406030204" pitchFamily="18" charset="0"/>
                        </a:rPr>
                        <m:t>=2</m:t>
                      </m:r>
                    </m:oMath>
                  </m:oMathPara>
                </a14:m>
                <a:endParaRPr lang="en-US" dirty="0"/>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𝜌</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oMath>
                  </m:oMathPara>
                </a14:m>
                <a:endParaRPr lang="en-US" dirty="0"/>
              </a:p>
              <a:p>
                <a:pPr marL="0" indent="0">
                  <a:buNone/>
                </a:pPr>
                <a:r>
                  <a:rPr lang="en-US" dirty="0"/>
                  <a:t> </a:t>
                </a:r>
              </a:p>
              <a:p>
                <a:pPr marL="457200" lvl="1" indent="0">
                  <a:buNone/>
                </a:pPr>
                <a:r>
                  <a:rPr lang="en-US" dirty="0"/>
                  <a:t>and</a:t>
                </a:r>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𝜎</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oMath>
                  </m:oMathPara>
                </a14:m>
                <a:endParaRPr lang="en-US"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868CA107-92ED-B38F-6349-BCE1180E140D}"/>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812" t="-2725" r="-580"/>
                </a:stretch>
              </a:blipFill>
            </p:spPr>
            <p:txBody>
              <a:bodyPr/>
              <a:lstStyle/>
              <a:p>
                <a:r>
                  <a:rPr lang="en-US">
                    <a:noFill/>
                  </a:rPr>
                  <a:t> </a:t>
                </a:r>
              </a:p>
            </p:txBody>
          </p:sp>
        </mc:Fallback>
      </mc:AlternateContent>
    </p:spTree>
    <p:extLst>
      <p:ext uri="{BB962C8B-B14F-4D97-AF65-F5344CB8AC3E}">
        <p14:creationId xmlns:p14="http://schemas.microsoft.com/office/powerpoint/2010/main" val="12112785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4174D-7920-49E5-6AE0-7DBDF3381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373C4-A60C-462E-7AC1-D1DBA43AA6B1}"/>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642679-2C2E-8818-5D05-749EBFAB29D7}"/>
                  </a:ext>
                </a:extLst>
              </p:cNvPr>
              <p:cNvSpPr>
                <a:spLocks noGrp="1"/>
              </p:cNvSpPr>
              <p:nvPr>
                <p:ph idx="1"/>
              </p:nvPr>
            </p:nvSpPr>
            <p:spPr>
              <a:xfrm>
                <a:off x="838200" y="1348105"/>
                <a:ext cx="10515600" cy="5144770"/>
              </a:xfrm>
            </p:spPr>
            <p:txBody>
              <a:bodyPr>
                <a:normAutofit fontScale="92500" lnSpcReduction="10000"/>
              </a:bodyPr>
              <a:lstStyle/>
              <a:p>
                <a:pPr lvl="0"/>
                <a:r>
                  <a:rPr lang="en-US" u="sng" dirty="0"/>
                  <a:t>Intuition behind the Reflection Step</a:t>
                </a:r>
                <a:r>
                  <a:rPr lang="en-US" dirty="0"/>
                  <a:t>: For the </a:t>
                </a:r>
                <a:r>
                  <a:rPr lang="en-US" i="1" dirty="0"/>
                  <a:t>reflection</a:t>
                </a:r>
                <a:r>
                  <a:rPr lang="en-US" dirty="0"/>
                  <a:t>, since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 is the vertex with the higher associated value among all the vertexes, one can expect to find a lower value at the reflection of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 in the opposite face formed by all vertexes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𝑖</m:t>
                        </m:r>
                      </m:sub>
                    </m:sSub>
                  </m:oMath>
                </a14:m>
                <a:r>
                  <a:rPr lang="en-US" dirty="0"/>
                  <a:t> except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r>
                          <a:rPr lang="en-US" i="1">
                            <a:latin typeface="Cambria Math" panose="02040503050406030204" pitchFamily="18" charset="0"/>
                          </a:rPr>
                          <m:t>+1</m:t>
                        </m:r>
                      </m:sub>
                    </m:sSub>
                  </m:oMath>
                </a14:m>
                <a:r>
                  <a:rPr lang="en-US" dirty="0"/>
                  <a:t>.</a:t>
                </a:r>
              </a:p>
              <a:p>
                <a:pPr lvl="0"/>
                <a:r>
                  <a:rPr lang="en-US" u="sng" dirty="0"/>
                  <a:t>Intuition behind the Expansion Step</a:t>
                </a:r>
                <a:r>
                  <a:rPr lang="en-US" dirty="0"/>
                  <a:t>: For the </a:t>
                </a:r>
                <a:r>
                  <a:rPr lang="en-US" i="1" dirty="0"/>
                  <a:t>expansion</a:t>
                </a:r>
                <a:r>
                  <a:rPr lang="en-US" dirty="0"/>
                  <a:t>, if the reflection point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oMath>
                </a14:m>
                <a:r>
                  <a:rPr lang="en-US" dirty="0"/>
                  <a:t> is the new minimum along the vertexes, one can expect to find interesting values along the direction from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oMath>
                </a14:m>
                <a:r>
                  <a:rPr lang="en-US" dirty="0"/>
                  <a:t>.</a:t>
                </a:r>
              </a:p>
              <a:p>
                <a:pPr lvl="0"/>
                <a:r>
                  <a:rPr lang="en-US" u="sng" dirty="0"/>
                  <a:t>Intuition behind the Contraction Step</a:t>
                </a:r>
                <a:r>
                  <a:rPr lang="en-US" dirty="0"/>
                  <a:t>: Concerning the </a:t>
                </a:r>
                <a:r>
                  <a:rPr lang="en-US" i="1" dirty="0"/>
                  <a:t>contraction</a:t>
                </a:r>
                <a:r>
                  <a:rPr lang="en-US" dirty="0"/>
                  <a:t>, if</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𝑟</m:t>
                              </m:r>
                            </m:sub>
                          </m:sSub>
                        </m:e>
                      </m:d>
                      <m:r>
                        <a:rPr lang="en-US" b="1" i="1">
                          <a:latin typeface="Cambria Math" panose="02040503050406030204" pitchFamily="18" charset="0"/>
                        </a:rPr>
                        <m:t>&gt;</m:t>
                      </m:r>
                      <m:r>
                        <a:rPr lang="en-US" i="1">
                          <a:latin typeface="Cambria Math" panose="02040503050406030204" pitchFamily="18" charset="0"/>
                        </a:rPr>
                        <m:t>𝑓</m:t>
                      </m:r>
                      <m:d>
                        <m:dPr>
                          <m:ctrlPr>
                            <a:rPr lang="en-US" b="1"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𝑛</m:t>
                              </m:r>
                            </m:sub>
                          </m:sSub>
                        </m:e>
                      </m:d>
                    </m:oMath>
                  </m:oMathPara>
                </a14:m>
                <a:endParaRPr lang="en-US" dirty="0"/>
              </a:p>
              <a:p>
                <a:pPr marL="0" indent="0">
                  <a:buNone/>
                </a:pPr>
                <a:r>
                  <a:rPr lang="en-US" dirty="0"/>
                  <a:t> </a:t>
                </a:r>
              </a:p>
              <a:p>
                <a:pPr marL="457200" lvl="1" indent="0">
                  <a:buNone/>
                </a:pPr>
                <a:r>
                  <a:rPr lang="en-US" dirty="0"/>
                  <a:t>one can expect that a better value will be inside the simplex forward by all the vertexes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𝑖</m:t>
                        </m:r>
                      </m:sub>
                    </m:sSub>
                  </m:oMath>
                </a14:m>
                <a:r>
                  <a:rPr lang="en-US" dirty="0"/>
                  <a:t>.</a:t>
                </a:r>
              </a:p>
            </p:txBody>
          </p:sp>
        </mc:Choice>
        <mc:Fallback xmlns="">
          <p:sp>
            <p:nvSpPr>
              <p:cNvPr id="3" name="Content Placeholder 2">
                <a:extLst>
                  <a:ext uri="{FF2B5EF4-FFF2-40B4-BE49-F238E27FC236}">
                    <a16:creationId xmlns:a16="http://schemas.microsoft.com/office/drawing/2014/main" id="{00642679-2C2E-8818-5D05-749EBFAB29D7}"/>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928" t="-2370" r="-986"/>
                </a:stretch>
              </a:blipFill>
            </p:spPr>
            <p:txBody>
              <a:bodyPr/>
              <a:lstStyle/>
              <a:p>
                <a:r>
                  <a:rPr lang="en-US">
                    <a:noFill/>
                  </a:rPr>
                  <a:t> </a:t>
                </a:r>
              </a:p>
            </p:txBody>
          </p:sp>
        </mc:Fallback>
      </mc:AlternateContent>
    </p:spTree>
    <p:extLst>
      <p:ext uri="{BB962C8B-B14F-4D97-AF65-F5344CB8AC3E}">
        <p14:creationId xmlns:p14="http://schemas.microsoft.com/office/powerpoint/2010/main" val="12153496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CEF7A-40C4-CC4E-16E9-2EA24AE05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88D46-8CE3-9A41-BDD8-A3829B7BC524}"/>
              </a:ext>
            </a:extLst>
          </p:cNvPr>
          <p:cNvSpPr>
            <a:spLocks noGrp="1"/>
          </p:cNvSpPr>
          <p:nvPr>
            <p:ph type="title"/>
          </p:nvPr>
        </p:nvSpPr>
        <p:spPr>
          <a:xfrm>
            <a:off x="838200" y="365125"/>
            <a:ext cx="10515600" cy="823595"/>
          </a:xfrm>
        </p:spPr>
        <p:txBody>
          <a:bodyPr>
            <a:normAutofit fontScale="90000"/>
          </a:bodyPr>
          <a:lstStyle/>
          <a:p>
            <a:pPr algn="ctr"/>
            <a:r>
              <a:rPr lang="en-US" b="1" dirty="0"/>
              <a:t>One Variation of the Nelder-Mead Algorithm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020B18-EF69-3CCF-42A9-F6256FF3F70B}"/>
                  </a:ext>
                </a:extLst>
              </p:cNvPr>
              <p:cNvSpPr>
                <a:spLocks noGrp="1"/>
              </p:cNvSpPr>
              <p:nvPr>
                <p:ph idx="1"/>
              </p:nvPr>
            </p:nvSpPr>
            <p:spPr>
              <a:xfrm>
                <a:off x="838200" y="1348105"/>
                <a:ext cx="10515600" cy="5144770"/>
              </a:xfrm>
            </p:spPr>
            <p:txBody>
              <a:bodyPr>
                <a:normAutofit/>
              </a:bodyPr>
              <a:lstStyle/>
              <a:p>
                <a:pPr lvl="0"/>
                <a:r>
                  <a:rPr lang="en-US" u="sng" dirty="0"/>
                  <a:t>Intuition behind the Shrink Step #1</a:t>
                </a:r>
                <a:r>
                  <a:rPr lang="en-US" dirty="0"/>
                  <a:t>: Finally, the </a:t>
                </a:r>
                <a:r>
                  <a:rPr lang="en-US" i="1" dirty="0"/>
                  <a:t>shrink</a:t>
                </a:r>
                <a:r>
                  <a:rPr lang="en-US" dirty="0"/>
                  <a:t> handles the rare case that contracting away from the largest point increases </a:t>
                </a:r>
                <a14:m>
                  <m:oMath xmlns:m="http://schemas.openxmlformats.org/officeDocument/2006/math">
                    <m:r>
                      <a:rPr lang="en-US" i="1">
                        <a:latin typeface="Cambria Math" panose="02040503050406030204" pitchFamily="18" charset="0"/>
                      </a:rPr>
                      <m:t>𝑓</m:t>
                    </m:r>
                  </m:oMath>
                </a14:m>
                <a:r>
                  <a:rPr lang="en-US" dirty="0"/>
                  <a:t>, something that cannot happen sufficiently close to a non-singular minimum. In that case, one contracts towards the lowest point in the expectation of finding a simpler technique.</a:t>
                </a:r>
              </a:p>
              <a:p>
                <a:pPr lvl="0"/>
                <a:r>
                  <a:rPr lang="en-US" u="sng" dirty="0"/>
                  <a:t>Intuition behind the Shrink Step #2</a:t>
                </a:r>
                <a:r>
                  <a:rPr lang="en-US" dirty="0"/>
                  <a:t>: However, Noah (1979) note that finite-precision arithmetic can sometimes fail to shrink the simplex, and implemented a check that the size is actually reduced.</a:t>
                </a:r>
              </a:p>
            </p:txBody>
          </p:sp>
        </mc:Choice>
        <mc:Fallback xmlns="">
          <p:sp>
            <p:nvSpPr>
              <p:cNvPr id="3" name="Content Placeholder 2">
                <a:extLst>
                  <a:ext uri="{FF2B5EF4-FFF2-40B4-BE49-F238E27FC236}">
                    <a16:creationId xmlns:a16="http://schemas.microsoft.com/office/drawing/2014/main" id="{CB020B18-EF69-3CCF-42A9-F6256FF3F70B}"/>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522"/>
                </a:stretch>
              </a:blipFill>
            </p:spPr>
            <p:txBody>
              <a:bodyPr/>
              <a:lstStyle/>
              <a:p>
                <a:r>
                  <a:rPr lang="en-US">
                    <a:noFill/>
                  </a:rPr>
                  <a:t> </a:t>
                </a:r>
              </a:p>
            </p:txBody>
          </p:sp>
        </mc:Fallback>
      </mc:AlternateContent>
    </p:spTree>
    <p:extLst>
      <p:ext uri="{BB962C8B-B14F-4D97-AF65-F5344CB8AC3E}">
        <p14:creationId xmlns:p14="http://schemas.microsoft.com/office/powerpoint/2010/main" val="30499858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8D1AB-4ECF-E906-D308-C6D4E52E1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60CF5-8850-7078-17C1-63784EDF5CF3}"/>
              </a:ext>
            </a:extLst>
          </p:cNvPr>
          <p:cNvSpPr>
            <a:spLocks noGrp="1"/>
          </p:cNvSpPr>
          <p:nvPr>
            <p:ph type="title"/>
          </p:nvPr>
        </p:nvSpPr>
        <p:spPr>
          <a:xfrm>
            <a:off x="838200" y="365125"/>
            <a:ext cx="10515600" cy="823595"/>
          </a:xfrm>
        </p:spPr>
        <p:txBody>
          <a:bodyPr>
            <a:normAutofit/>
          </a:bodyPr>
          <a:lstStyle/>
          <a:p>
            <a:pPr algn="ctr"/>
            <a:r>
              <a:rPr lang="en-US" b="1" dirty="0"/>
              <a:t>Initial Simplex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11B8ED-E1F5-0B7E-9752-109DD0DACCBD}"/>
                  </a:ext>
                </a:extLst>
              </p:cNvPr>
              <p:cNvSpPr>
                <a:spLocks noGrp="1"/>
              </p:cNvSpPr>
              <p:nvPr>
                <p:ph idx="1"/>
              </p:nvPr>
            </p:nvSpPr>
            <p:spPr>
              <a:xfrm>
                <a:off x="838200" y="1348105"/>
                <a:ext cx="10515600" cy="5144770"/>
              </a:xfrm>
            </p:spPr>
            <p:txBody>
              <a:bodyPr>
                <a:normAutofit/>
              </a:bodyPr>
              <a:lstStyle/>
              <a:p>
                <a:pPr lvl="0"/>
                <a:r>
                  <a:rPr lang="en-US" u="sng" dirty="0"/>
                  <a:t>Importance of the Initial Simplex</a:t>
                </a:r>
                <a:r>
                  <a:rPr lang="en-US" dirty="0"/>
                  <a:t>: Indeed, a too small initial simplex can lead to a local search, consequently the Nelder-Mead can get more easily stuck. Therefore, the simplex should depend on the nature of the problem.</a:t>
                </a:r>
              </a:p>
              <a:p>
                <a:pPr lvl="0"/>
                <a:r>
                  <a:rPr lang="en-US" u="sng" dirty="0"/>
                  <a:t>Nelder-Mead’s Initial Simplex</a:t>
                </a:r>
                <a:r>
                  <a:rPr lang="en-US" dirty="0"/>
                  <a:t>: However, Nelder-Mead suggest a simplex where an initial point is given as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oMath>
                </a14:m>
                <a:r>
                  <a:rPr lang="en-US" dirty="0"/>
                  <a:t> with the others generated with a fixed step along each dimension in turn. Thus, the method is sensitive to scaling of the variables that make up </a:t>
                </a:r>
                <a14:m>
                  <m:oMath xmlns:m="http://schemas.openxmlformats.org/officeDocument/2006/math">
                    <m:r>
                      <a:rPr lang="en-US" b="1" i="1">
                        <a:latin typeface="Cambria Math" panose="02040503050406030204" pitchFamily="18" charset="0"/>
                      </a:rPr>
                      <m:t>𝒙</m:t>
                    </m:r>
                  </m:oMath>
                </a14:m>
                <a:r>
                  <a:rPr lang="en-US" dirty="0"/>
                  <a:t>.</a:t>
                </a:r>
              </a:p>
            </p:txBody>
          </p:sp>
        </mc:Choice>
        <mc:Fallback xmlns="">
          <p:sp>
            <p:nvSpPr>
              <p:cNvPr id="3" name="Content Placeholder 2">
                <a:extLst>
                  <a:ext uri="{FF2B5EF4-FFF2-40B4-BE49-F238E27FC236}">
                    <a16:creationId xmlns:a16="http://schemas.microsoft.com/office/drawing/2014/main" id="{2611B8ED-E1F5-0B7E-9752-109DD0DACCBD}"/>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1739"/>
                </a:stretch>
              </a:blipFill>
            </p:spPr>
            <p:txBody>
              <a:bodyPr/>
              <a:lstStyle/>
              <a:p>
                <a:r>
                  <a:rPr lang="en-US">
                    <a:noFill/>
                  </a:rPr>
                  <a:t> </a:t>
                </a:r>
              </a:p>
            </p:txBody>
          </p:sp>
        </mc:Fallback>
      </mc:AlternateContent>
    </p:spTree>
    <p:extLst>
      <p:ext uri="{BB962C8B-B14F-4D97-AF65-F5344CB8AC3E}">
        <p14:creationId xmlns:p14="http://schemas.microsoft.com/office/powerpoint/2010/main" val="37812938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A06B-D754-6F73-EB9E-8F8A404D4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00687-B680-D588-6928-3F0AF8745A77}"/>
              </a:ext>
            </a:extLst>
          </p:cNvPr>
          <p:cNvSpPr>
            <a:spLocks noGrp="1"/>
          </p:cNvSpPr>
          <p:nvPr>
            <p:ph type="title"/>
          </p:nvPr>
        </p:nvSpPr>
        <p:spPr>
          <a:xfrm>
            <a:off x="838200" y="365125"/>
            <a:ext cx="10515600" cy="823595"/>
          </a:xfrm>
        </p:spPr>
        <p:txBody>
          <a:bodyPr>
            <a:normAutofit/>
          </a:bodyPr>
          <a:lstStyle/>
          <a:p>
            <a:pPr algn="ctr"/>
            <a:r>
              <a:rPr lang="en-US" b="1" dirty="0"/>
              <a:t>Termination</a:t>
            </a:r>
          </a:p>
        </p:txBody>
      </p:sp>
      <p:sp>
        <p:nvSpPr>
          <p:cNvPr id="3" name="Content Placeholder 2">
            <a:extLst>
              <a:ext uri="{FF2B5EF4-FFF2-40B4-BE49-F238E27FC236}">
                <a16:creationId xmlns:a16="http://schemas.microsoft.com/office/drawing/2014/main" id="{405C4005-19DB-6D9C-72C3-EC550DE576F2}"/>
              </a:ext>
            </a:extLst>
          </p:cNvPr>
          <p:cNvSpPr>
            <a:spLocks noGrp="1"/>
          </p:cNvSpPr>
          <p:nvPr>
            <p:ph idx="1"/>
          </p:nvPr>
        </p:nvSpPr>
        <p:spPr>
          <a:xfrm>
            <a:off x="838200" y="1348105"/>
            <a:ext cx="10515600" cy="5144770"/>
          </a:xfrm>
        </p:spPr>
        <p:txBody>
          <a:bodyPr>
            <a:normAutofit/>
          </a:bodyPr>
          <a:lstStyle/>
          <a:p>
            <a:pPr lvl="0"/>
            <a:r>
              <a:rPr lang="en-US" u="sng" dirty="0"/>
              <a:t>Nelder-Mead Termination Criterion #1</a:t>
            </a:r>
            <a:r>
              <a:rPr lang="en-US" dirty="0"/>
              <a:t>: Criteria are needed to break the iterative cycle, Nelder and Mead used the sample standard deviation of the function values of the current simplex.</a:t>
            </a:r>
          </a:p>
          <a:p>
            <a:pPr lvl="0"/>
            <a:r>
              <a:rPr lang="en-US" u="sng" dirty="0"/>
              <a:t>Nelder-Mead Termination Criterion #2</a:t>
            </a:r>
            <a:r>
              <a:rPr lang="en-US" dirty="0"/>
              <a:t>: If it falls below some tolerance, the cycle is stopped and the lowest point in the simplex is returned as a proposed optimum.</a:t>
            </a:r>
          </a:p>
          <a:p>
            <a:pPr lvl="0"/>
            <a:r>
              <a:rPr lang="en-US" u="sng" dirty="0"/>
              <a:t>Inadequacies of Nelder-Mead Criterion</a:t>
            </a:r>
            <a:r>
              <a:rPr lang="en-US" dirty="0"/>
              <a:t>: Note that a very </a:t>
            </a:r>
            <a:r>
              <a:rPr lang="en-US" i="1" dirty="0"/>
              <a:t>flat</a:t>
            </a:r>
            <a:r>
              <a:rPr lang="en-US" dirty="0"/>
              <a:t> function may have almost equal function values over a large domain, so the solution will be sensitive to the tolerance.</a:t>
            </a:r>
          </a:p>
          <a:p>
            <a:r>
              <a:rPr lang="en-US" u="sng" dirty="0"/>
              <a:t>Nash’s Augmented Termination Criterion</a:t>
            </a:r>
            <a:r>
              <a:rPr lang="en-US" dirty="0"/>
              <a:t>: Nash (1979) adds the test for shrinkage as another termination criterion.</a:t>
            </a:r>
          </a:p>
        </p:txBody>
      </p:sp>
    </p:spTree>
    <p:extLst>
      <p:ext uri="{BB962C8B-B14F-4D97-AF65-F5344CB8AC3E}">
        <p14:creationId xmlns:p14="http://schemas.microsoft.com/office/powerpoint/2010/main" val="37772109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8902D-E35D-DFC3-2816-D68BAD807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43FAF-F0CF-1B6C-D68F-FC788BA0DC94}"/>
              </a:ext>
            </a:extLst>
          </p:cNvPr>
          <p:cNvSpPr>
            <a:spLocks noGrp="1"/>
          </p:cNvSpPr>
          <p:nvPr>
            <p:ph type="ctrTitle"/>
          </p:nvPr>
        </p:nvSpPr>
        <p:spPr/>
        <p:txBody>
          <a:bodyPr/>
          <a:lstStyle/>
          <a:p>
            <a:r>
              <a:rPr lang="en-US" b="1" dirty="0"/>
              <a:t>Section 6 – Himmelblau Function</a:t>
            </a:r>
          </a:p>
        </p:txBody>
      </p:sp>
    </p:spTree>
    <p:extLst>
      <p:ext uri="{BB962C8B-B14F-4D97-AF65-F5344CB8AC3E}">
        <p14:creationId xmlns:p14="http://schemas.microsoft.com/office/powerpoint/2010/main" val="342359323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3538F-B774-785C-A6DA-956EE2497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A6B29-0BA0-9030-16F7-B62CA48CD687}"/>
              </a:ext>
            </a:extLst>
          </p:cNvPr>
          <p:cNvSpPr>
            <a:spLocks noGrp="1"/>
          </p:cNvSpPr>
          <p:nvPr>
            <p:ph type="title"/>
          </p:nvPr>
        </p:nvSpPr>
        <p:spPr>
          <a:xfrm>
            <a:off x="838200" y="365125"/>
            <a:ext cx="10515600" cy="823595"/>
          </a:xfrm>
        </p:spPr>
        <p:txBody>
          <a:bodyPr>
            <a:normAutofit/>
          </a:bodyPr>
          <a:lstStyle/>
          <a:p>
            <a:pPr algn="ctr"/>
            <a:r>
              <a:rPr lang="en-US" b="1" dirty="0"/>
              <a:t>Specification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36EA99-BB12-346F-1535-9001D42B657E}"/>
                  </a:ext>
                </a:extLst>
              </p:cNvPr>
              <p:cNvSpPr>
                <a:spLocks noGrp="1"/>
              </p:cNvSpPr>
              <p:nvPr>
                <p:ph idx="1"/>
              </p:nvPr>
            </p:nvSpPr>
            <p:spPr>
              <a:xfrm>
                <a:off x="838200" y="1348105"/>
                <a:ext cx="10515600" cy="5144770"/>
              </a:xfrm>
            </p:spPr>
            <p:txBody>
              <a:bodyPr>
                <a:normAutofit/>
              </a:bodyPr>
              <a:lstStyle/>
              <a:p>
                <a:pPr lvl="0"/>
                <a:r>
                  <a:rPr lang="en-US" u="sng" dirty="0"/>
                  <a:t>Test Function for Optimization Algorithms</a:t>
                </a:r>
                <a:r>
                  <a:rPr lang="en-US" dirty="0"/>
                  <a:t>:</a:t>
                </a:r>
              </a:p>
              <a:p>
                <a:pPr marL="0" lv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𝑦</m:t>
                          </m:r>
                        </m:e>
                      </m:d>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−11</m:t>
                              </m:r>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2</m:t>
                                  </m:r>
                                </m:sup>
                              </m:sSup>
                              <m:r>
                                <a:rPr lang="en-US" i="1">
                                  <a:latin typeface="Cambria Math" panose="02040503050406030204" pitchFamily="18" charset="0"/>
                                </a:rPr>
                                <m:t>−7</m:t>
                              </m:r>
                            </m:e>
                          </m:d>
                        </m:e>
                        <m:sup>
                          <m:r>
                            <a:rPr lang="en-US" i="1">
                              <a:latin typeface="Cambria Math" panose="02040503050406030204" pitchFamily="18" charset="0"/>
                            </a:rPr>
                            <m:t>2</m:t>
                          </m:r>
                        </m:sup>
                      </m:sSup>
                    </m:oMath>
                  </m:oMathPara>
                </a14:m>
                <a:endParaRPr lang="en-US" dirty="0"/>
              </a:p>
              <a:p>
                <a:pPr marL="0" indent="0">
                  <a:buNone/>
                </a:pPr>
                <a:r>
                  <a:rPr lang="en-US" dirty="0"/>
                  <a:t> </a:t>
                </a:r>
              </a:p>
            </p:txBody>
          </p:sp>
        </mc:Choice>
        <mc:Fallback xmlns="">
          <p:sp>
            <p:nvSpPr>
              <p:cNvPr id="3" name="Content Placeholder 2">
                <a:extLst>
                  <a:ext uri="{FF2B5EF4-FFF2-40B4-BE49-F238E27FC236}">
                    <a16:creationId xmlns:a16="http://schemas.microsoft.com/office/drawing/2014/main" id="{D136EA99-BB12-346F-1535-9001D42B657E}"/>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a:stretch>
              </a:blipFill>
            </p:spPr>
            <p:txBody>
              <a:bodyPr/>
              <a:lstStyle/>
              <a:p>
                <a:r>
                  <a:rPr lang="en-US">
                    <a:noFill/>
                  </a:rPr>
                  <a:t> </a:t>
                </a:r>
              </a:p>
            </p:txBody>
          </p:sp>
        </mc:Fallback>
      </mc:AlternateContent>
    </p:spTree>
    <p:extLst>
      <p:ext uri="{BB962C8B-B14F-4D97-AF65-F5344CB8AC3E}">
        <p14:creationId xmlns:p14="http://schemas.microsoft.com/office/powerpoint/2010/main" val="22667111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F9BE4-2C4B-964B-9244-A280B770B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51D0C-C6D5-C257-19DA-7CF82E9B5AD6}"/>
              </a:ext>
            </a:extLst>
          </p:cNvPr>
          <p:cNvSpPr>
            <a:spLocks noGrp="1"/>
          </p:cNvSpPr>
          <p:nvPr>
            <p:ph type="title"/>
          </p:nvPr>
        </p:nvSpPr>
        <p:spPr>
          <a:xfrm>
            <a:off x="838200" y="365125"/>
            <a:ext cx="10515600" cy="823595"/>
          </a:xfrm>
        </p:spPr>
        <p:txBody>
          <a:bodyPr>
            <a:normAutofit/>
          </a:bodyPr>
          <a:lstStyle/>
          <a:p>
            <a:pPr algn="ctr"/>
            <a:r>
              <a:rPr lang="en-US" b="1" dirty="0"/>
              <a:t>Specification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116263-E5A8-68CD-5A8C-89D6AAD225F7}"/>
                  </a:ext>
                </a:extLst>
              </p:cNvPr>
              <p:cNvSpPr>
                <a:spLocks noGrp="1"/>
              </p:cNvSpPr>
              <p:nvPr>
                <p:ph idx="1"/>
              </p:nvPr>
            </p:nvSpPr>
            <p:spPr>
              <a:xfrm>
                <a:off x="838200" y="1348105"/>
                <a:ext cx="10515600" cy="5144770"/>
              </a:xfrm>
            </p:spPr>
            <p:txBody>
              <a:bodyPr>
                <a:normAutofit fontScale="47500" lnSpcReduction="20000"/>
              </a:bodyPr>
              <a:lstStyle/>
              <a:p>
                <a:pPr lvl="0"/>
                <a:r>
                  <a:rPr lang="en-US" u="sng" dirty="0"/>
                  <a:t>Local Extrema</a:t>
                </a:r>
                <a:r>
                  <a:rPr lang="en-US" dirty="0"/>
                  <a:t>: It has local maximum at</a:t>
                </a:r>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=−0.270845</m:t>
                      </m:r>
                    </m:oMath>
                  </m:oMathPara>
                </a14:m>
                <a:endParaRPr lang="en-US" dirty="0"/>
              </a:p>
              <a:p>
                <a:pPr marL="0" indent="0">
                  <a:buNone/>
                </a:pPr>
                <a:r>
                  <a:rPr lang="en-US" dirty="0"/>
                  <a:t> </a:t>
                </a:r>
              </a:p>
              <a:p>
                <a:pPr marL="457200" lvl="1" indent="0">
                  <a:buNone/>
                </a:pPr>
                <a:r>
                  <a:rPr lang="en-US" dirty="0"/>
                  <a:t>and</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=−0.923039</m:t>
                      </m:r>
                    </m:oMath>
                  </m:oMathPara>
                </a14:m>
                <a:endParaRPr lang="en-US" dirty="0"/>
              </a:p>
              <a:p>
                <a:pPr marL="0" indent="0">
                  <a:buNone/>
                </a:pPr>
                <a:endParaRPr lang="en-US" dirty="0"/>
              </a:p>
              <a:p>
                <a:pPr marL="457200" lvl="1" indent="0">
                  <a:buNone/>
                </a:pPr>
                <a:r>
                  <a:rPr lang="en-US" dirty="0"/>
                  <a:t>where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𝑦</m:t>
                          </m:r>
                        </m:e>
                      </m:d>
                      <m:r>
                        <a:rPr lang="en-US" i="1">
                          <a:latin typeface="Cambria Math" panose="02040503050406030204" pitchFamily="18" charset="0"/>
                        </a:rPr>
                        <m:t>=181.617</m:t>
                      </m:r>
                    </m:oMath>
                  </m:oMathPara>
                </a14:m>
                <a:endParaRPr lang="en-US" dirty="0"/>
              </a:p>
              <a:p>
                <a:pPr marL="0" indent="0">
                  <a:buNone/>
                </a:pPr>
                <a:endParaRPr lang="en-US" dirty="0"/>
              </a:p>
              <a:p>
                <a:pPr marL="457200" lvl="1" indent="0">
                  <a:buNone/>
                </a:pPr>
                <a:r>
                  <a:rPr lang="en-US" dirty="0"/>
                  <a:t>and four identical local minima (Wikipedia (2026)):</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3.0, 2.0</m:t>
                          </m:r>
                        </m:e>
                      </m:d>
                      <m:r>
                        <a:rPr lang="en-US" i="1">
                          <a:latin typeface="Cambria Math" panose="02040503050406030204" pitchFamily="18" charset="0"/>
                        </a:rPr>
                        <m:t>=0.0</m:t>
                      </m:r>
                    </m:oMath>
                  </m:oMathPara>
                </a14:m>
                <a:endParaRPr lang="en-US" dirty="0"/>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−2.805118, 3.131312</m:t>
                          </m:r>
                        </m:e>
                      </m:d>
                      <m:r>
                        <a:rPr lang="en-US" i="1">
                          <a:latin typeface="Cambria Math" panose="02040503050406030204" pitchFamily="18" charset="0"/>
                        </a:rPr>
                        <m:t>=0.0</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−3.779310, −3.283186</m:t>
                          </m:r>
                        </m:e>
                      </m:d>
                      <m:r>
                        <a:rPr lang="en-US" i="1">
                          <a:latin typeface="Cambria Math" panose="02040503050406030204" pitchFamily="18" charset="0"/>
                        </a:rPr>
                        <m:t>=0.0</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3.584428, −1.848126</m:t>
                          </m:r>
                        </m:e>
                      </m:d>
                      <m:r>
                        <a:rPr lang="en-US" i="1">
                          <a:latin typeface="Cambria Math" panose="02040503050406030204" pitchFamily="18" charset="0"/>
                        </a:rPr>
                        <m:t>=0.0</m:t>
                      </m:r>
                    </m:oMath>
                  </m:oMathPara>
                </a14:m>
                <a:endParaRPr lang="en-US" dirty="0"/>
              </a:p>
            </p:txBody>
          </p:sp>
        </mc:Choice>
        <mc:Fallback xmlns="">
          <p:sp>
            <p:nvSpPr>
              <p:cNvPr id="3" name="Content Placeholder 2">
                <a:extLst>
                  <a:ext uri="{FF2B5EF4-FFF2-40B4-BE49-F238E27FC236}">
                    <a16:creationId xmlns:a16="http://schemas.microsoft.com/office/drawing/2014/main" id="{11116263-E5A8-68CD-5A8C-89D6AAD225F7}"/>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58" t="-1066"/>
                </a:stretch>
              </a:blipFill>
            </p:spPr>
            <p:txBody>
              <a:bodyPr/>
              <a:lstStyle/>
              <a:p>
                <a:r>
                  <a:rPr lang="en-US">
                    <a:noFill/>
                  </a:rPr>
                  <a:t> </a:t>
                </a:r>
              </a:p>
            </p:txBody>
          </p:sp>
        </mc:Fallback>
      </mc:AlternateContent>
    </p:spTree>
    <p:extLst>
      <p:ext uri="{BB962C8B-B14F-4D97-AF65-F5344CB8AC3E}">
        <p14:creationId xmlns:p14="http://schemas.microsoft.com/office/powerpoint/2010/main" val="34882801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6924B-0004-D0B4-DFE0-D84AC2F6F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3567F-87A3-271B-841B-0B0F84438269}"/>
              </a:ext>
            </a:extLst>
          </p:cNvPr>
          <p:cNvSpPr>
            <a:spLocks noGrp="1"/>
          </p:cNvSpPr>
          <p:nvPr>
            <p:ph type="ctrTitle"/>
          </p:nvPr>
        </p:nvSpPr>
        <p:spPr/>
        <p:txBody>
          <a:bodyPr/>
          <a:lstStyle/>
          <a:p>
            <a:r>
              <a:rPr lang="en-US" b="1" dirty="0"/>
              <a:t>Section 7 – Rosenbrock Function</a:t>
            </a:r>
          </a:p>
        </p:txBody>
      </p:sp>
    </p:spTree>
    <p:extLst>
      <p:ext uri="{BB962C8B-B14F-4D97-AF65-F5344CB8AC3E}">
        <p14:creationId xmlns:p14="http://schemas.microsoft.com/office/powerpoint/2010/main" val="207888783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32BED-EEAB-92AA-E7AF-B53C1AC30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682EA-2267-9AF7-0C8D-46530791A993}"/>
              </a:ext>
            </a:extLst>
          </p:cNvPr>
          <p:cNvSpPr>
            <a:spLocks noGrp="1"/>
          </p:cNvSpPr>
          <p:nvPr>
            <p:ph type="title"/>
          </p:nvPr>
        </p:nvSpPr>
        <p:spPr>
          <a:xfrm>
            <a:off x="838200" y="365125"/>
            <a:ext cx="10515600" cy="823595"/>
          </a:xfrm>
        </p:spPr>
        <p:txBody>
          <a:bodyPr>
            <a:normAutofit/>
          </a:bodyPr>
          <a:lstStyle/>
          <a:p>
            <a:pPr algn="ctr"/>
            <a:r>
              <a:rPr lang="en-US" b="1" dirty="0"/>
              <a:t>Overview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8DD347-E493-3BD5-2D6D-2610575BF346}"/>
                  </a:ext>
                </a:extLst>
              </p:cNvPr>
              <p:cNvSpPr>
                <a:spLocks noGrp="1"/>
              </p:cNvSpPr>
              <p:nvPr>
                <p:ph idx="1"/>
              </p:nvPr>
            </p:nvSpPr>
            <p:spPr>
              <a:xfrm>
                <a:off x="838200" y="1348105"/>
                <a:ext cx="10515600" cy="5144770"/>
              </a:xfrm>
            </p:spPr>
            <p:txBody>
              <a:bodyPr>
                <a:normAutofit/>
              </a:bodyPr>
              <a:lstStyle/>
              <a:p>
                <a:pPr lvl="0"/>
                <a:r>
                  <a:rPr lang="en-US" u="sng" dirty="0"/>
                  <a:t>Rosenbrock’s Valley or Banana Function</a:t>
                </a:r>
                <a:r>
                  <a:rPr lang="en-US" dirty="0"/>
                  <a:t>: The Rosenbrock function is a non-convex function used as a performance test problem for optimization algorithms (Rosenbrock (1960)). It is also known as </a:t>
                </a:r>
                <a:r>
                  <a:rPr lang="en-US" i="1" dirty="0"/>
                  <a:t>Rosenbrock’s valley</a:t>
                </a:r>
                <a:r>
                  <a:rPr lang="en-US" dirty="0"/>
                  <a:t> or </a:t>
                </a:r>
                <a:r>
                  <a:rPr lang="en-US" i="1" dirty="0"/>
                  <a:t>Rosenbrock’s banana function</a:t>
                </a:r>
                <a:r>
                  <a:rPr lang="en-US" dirty="0"/>
                  <a:t> (Wikipedia (2026)).</a:t>
                </a:r>
              </a:p>
              <a:p>
                <a:pPr lvl="0"/>
                <a:r>
                  <a:rPr lang="en-US" u="sng" dirty="0"/>
                  <a:t>Location of the Global Minimum</a:t>
                </a:r>
                <a:r>
                  <a:rPr lang="en-US" dirty="0"/>
                  <a:t>: The global minimum is inside a long, narrow, parabolic-shaped flat valley. To find the valley is trivial. To converge to the global minimum, however, is difficult.</a:t>
                </a:r>
              </a:p>
              <a:p>
                <a:pPr lvl="0"/>
                <a:r>
                  <a:rPr lang="en-US" u="sng" dirty="0"/>
                  <a:t>Expression for the Rosenbrock Function</a:t>
                </a:r>
                <a:r>
                  <a:rPr lang="en-US" dirty="0"/>
                  <a:t>: The function is defined by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𝑦</m:t>
                          </m:r>
                        </m:e>
                      </m:d>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𝑥</m:t>
                              </m:r>
                            </m:e>
                          </m:d>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𝑏</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e>
                          </m:d>
                        </m:e>
                        <m:sup>
                          <m:r>
                            <a:rPr lang="en-US" i="1">
                              <a:latin typeface="Cambria Math" panose="02040503050406030204" pitchFamily="18" charset="0"/>
                            </a:rPr>
                            <m:t>2</m:t>
                          </m:r>
                        </m:sup>
                      </m:sSup>
                    </m:oMath>
                  </m:oMathPara>
                </a14:m>
                <a:endParaRPr lang="en-US" dirty="0"/>
              </a:p>
            </p:txBody>
          </p:sp>
        </mc:Choice>
        <mc:Fallback xmlns="">
          <p:sp>
            <p:nvSpPr>
              <p:cNvPr id="3" name="Content Placeholder 2">
                <a:extLst>
                  <a:ext uri="{FF2B5EF4-FFF2-40B4-BE49-F238E27FC236}">
                    <a16:creationId xmlns:a16="http://schemas.microsoft.com/office/drawing/2014/main" id="{9B8DD347-E493-3BD5-2D6D-2610575BF346}"/>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r="-1797"/>
                </a:stretch>
              </a:blipFill>
            </p:spPr>
            <p:txBody>
              <a:bodyPr/>
              <a:lstStyle/>
              <a:p>
                <a:r>
                  <a:rPr lang="en-US">
                    <a:noFill/>
                  </a:rPr>
                  <a:t> </a:t>
                </a:r>
              </a:p>
            </p:txBody>
          </p:sp>
        </mc:Fallback>
      </mc:AlternateContent>
    </p:spTree>
    <p:extLst>
      <p:ext uri="{BB962C8B-B14F-4D97-AF65-F5344CB8AC3E}">
        <p14:creationId xmlns:p14="http://schemas.microsoft.com/office/powerpoint/2010/main" val="20667989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1F122-8D94-AFD5-C86F-833B2EE11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488A6-2B55-88C5-7AEE-633D52556D54}"/>
              </a:ext>
            </a:extLst>
          </p:cNvPr>
          <p:cNvSpPr>
            <a:spLocks noGrp="1"/>
          </p:cNvSpPr>
          <p:nvPr>
            <p:ph type="title"/>
          </p:nvPr>
        </p:nvSpPr>
        <p:spPr>
          <a:xfrm>
            <a:off x="838200" y="365125"/>
            <a:ext cx="10515600" cy="823595"/>
          </a:xfrm>
        </p:spPr>
        <p:txBody>
          <a:bodyPr>
            <a:normAutofit/>
          </a:bodyPr>
          <a:lstStyle/>
          <a:p>
            <a:pPr algn="ctr"/>
            <a:r>
              <a:rPr lang="en-US" b="1" dirty="0"/>
              <a:t>Overview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25801-5DB8-390A-5131-2499F11EF5F0}"/>
                  </a:ext>
                </a:extLst>
              </p:cNvPr>
              <p:cNvSpPr>
                <a:spLocks noGrp="1"/>
              </p:cNvSpPr>
              <p:nvPr>
                <p:ph idx="1"/>
              </p:nvPr>
            </p:nvSpPr>
            <p:spPr>
              <a:xfrm>
                <a:off x="838200" y="1348105"/>
                <a:ext cx="10515600" cy="5144770"/>
              </a:xfrm>
            </p:spPr>
            <p:txBody>
              <a:bodyPr>
                <a:normAutofit fontScale="47500" lnSpcReduction="20000"/>
              </a:bodyPr>
              <a:lstStyle/>
              <a:p>
                <a:pPr lvl="0"/>
                <a:r>
                  <a:rPr lang="en-US" u="sng" dirty="0"/>
                  <a:t>Characteristics of the Function</a:t>
                </a:r>
                <a:r>
                  <a:rPr lang="en-US" dirty="0"/>
                  <a:t>: It has a global minimum</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𝑦</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2</m:t>
                              </m:r>
                            </m:sup>
                          </m:sSup>
                        </m:e>
                      </m:d>
                    </m:oMath>
                  </m:oMathPara>
                </a14:m>
                <a:endParaRPr lang="en-US" dirty="0"/>
              </a:p>
              <a:p>
                <a:pPr marL="0" indent="0">
                  <a:buNone/>
                </a:pPr>
                <a:r>
                  <a:rPr lang="en-US" dirty="0"/>
                  <a:t> </a:t>
                </a:r>
              </a:p>
              <a:p>
                <a:pPr marL="457200" lvl="1" indent="0">
                  <a:buNone/>
                </a:pPr>
                <a:r>
                  <a:rPr lang="en-US" dirty="0"/>
                  <a:t>where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𝑦</m:t>
                          </m:r>
                        </m:e>
                      </m:d>
                      <m:r>
                        <a:rPr lang="en-US" i="1">
                          <a:latin typeface="Cambria Math" panose="02040503050406030204" pitchFamily="18" charset="0"/>
                        </a:rPr>
                        <m:t>=0</m:t>
                      </m:r>
                    </m:oMath>
                  </m:oMathPara>
                </a14:m>
                <a:endParaRPr lang="en-US" dirty="0"/>
              </a:p>
              <a:p>
                <a:pPr marL="0" indent="0">
                  <a:buNone/>
                </a:pPr>
                <a:endParaRPr lang="en-US" dirty="0"/>
              </a:p>
              <a:p>
                <a:pPr marL="457200" lvl="1" indent="0">
                  <a:buNone/>
                </a:pPr>
                <a:r>
                  <a:rPr lang="en-US" dirty="0"/>
                  <a:t>Usually, these parameters are set such that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=1</m:t>
                      </m:r>
                    </m:oMath>
                  </m:oMathPara>
                </a14:m>
                <a:endParaRPr lang="en-US" dirty="0"/>
              </a:p>
              <a:p>
                <a:pPr marL="0" indent="0">
                  <a:buNone/>
                </a:pPr>
                <a:r>
                  <a:rPr lang="en-US" dirty="0"/>
                  <a:t> </a:t>
                </a:r>
              </a:p>
              <a:p>
                <a:pPr marL="457200" lvl="1" indent="0">
                  <a:buNone/>
                </a:pPr>
                <a:r>
                  <a:rPr lang="en-US" dirty="0"/>
                  <a:t>and</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=100</m:t>
                      </m:r>
                    </m:oMath>
                  </m:oMathPara>
                </a14:m>
                <a:endParaRPr lang="en-US" dirty="0"/>
              </a:p>
              <a:p>
                <a:pPr marL="0" indent="0">
                  <a:buNone/>
                </a:pPr>
                <a:r>
                  <a:rPr lang="en-US" dirty="0"/>
                  <a:t> </a:t>
                </a:r>
              </a:p>
              <a:p>
                <a:pPr marL="457200" lvl="1" indent="0">
                  <a:buNone/>
                </a:pPr>
                <a:r>
                  <a:rPr lang="en-US" dirty="0"/>
                  <a:t>Only in the trivial case where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=0</m:t>
                      </m:r>
                    </m:oMath>
                  </m:oMathPara>
                </a14:m>
                <a:endParaRPr lang="en-US" dirty="0"/>
              </a:p>
              <a:p>
                <a:pPr marL="0" indent="0">
                  <a:buNone/>
                </a:pPr>
                <a:r>
                  <a:rPr lang="en-US" dirty="0"/>
                  <a:t> </a:t>
                </a:r>
              </a:p>
              <a:p>
                <a:pPr marL="457200" lvl="1" indent="0">
                  <a:buNone/>
                </a:pPr>
                <a:r>
                  <a:rPr lang="en-US" dirty="0"/>
                  <a:t>the function is symmetric and the minimum is at the origin.</a:t>
                </a:r>
              </a:p>
            </p:txBody>
          </p:sp>
        </mc:Choice>
        <mc:Fallback xmlns="">
          <p:sp>
            <p:nvSpPr>
              <p:cNvPr id="3" name="Content Placeholder 2">
                <a:extLst>
                  <a:ext uri="{FF2B5EF4-FFF2-40B4-BE49-F238E27FC236}">
                    <a16:creationId xmlns:a16="http://schemas.microsoft.com/office/drawing/2014/main" id="{15C25801-5DB8-390A-5131-2499F11EF5F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58" t="-1066"/>
                </a:stretch>
              </a:blipFill>
            </p:spPr>
            <p:txBody>
              <a:bodyPr/>
              <a:lstStyle/>
              <a:p>
                <a:r>
                  <a:rPr lang="en-US">
                    <a:noFill/>
                  </a:rPr>
                  <a:t> </a:t>
                </a:r>
              </a:p>
            </p:txBody>
          </p:sp>
        </mc:Fallback>
      </mc:AlternateContent>
    </p:spTree>
    <p:extLst>
      <p:ext uri="{BB962C8B-B14F-4D97-AF65-F5344CB8AC3E}">
        <p14:creationId xmlns:p14="http://schemas.microsoft.com/office/powerpoint/2010/main" val="35643062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42984-3A12-8728-9C75-E566A81B0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52130-F8A3-090A-73D0-93DBCD508623}"/>
              </a:ext>
            </a:extLst>
          </p:cNvPr>
          <p:cNvSpPr>
            <a:spLocks noGrp="1"/>
          </p:cNvSpPr>
          <p:nvPr>
            <p:ph type="title"/>
          </p:nvPr>
        </p:nvSpPr>
        <p:spPr>
          <a:xfrm>
            <a:off x="838200" y="365125"/>
            <a:ext cx="10515600" cy="823595"/>
          </a:xfrm>
        </p:spPr>
        <p:txBody>
          <a:bodyPr>
            <a:normAutofit/>
          </a:bodyPr>
          <a:lstStyle/>
          <a:p>
            <a:pPr algn="ctr"/>
            <a:r>
              <a:rPr lang="en-US" b="1" dirty="0"/>
              <a:t>Overview (continued)</a:t>
            </a:r>
          </a:p>
        </p:txBody>
      </p:sp>
      <p:sp>
        <p:nvSpPr>
          <p:cNvPr id="3" name="Content Placeholder 2">
            <a:extLst>
              <a:ext uri="{FF2B5EF4-FFF2-40B4-BE49-F238E27FC236}">
                <a16:creationId xmlns:a16="http://schemas.microsoft.com/office/drawing/2014/main" id="{268038CB-E1EA-E529-F1B8-9A7943F2326E}"/>
              </a:ext>
            </a:extLst>
          </p:cNvPr>
          <p:cNvSpPr>
            <a:spLocks noGrp="1"/>
          </p:cNvSpPr>
          <p:nvPr>
            <p:ph idx="1"/>
          </p:nvPr>
        </p:nvSpPr>
        <p:spPr>
          <a:xfrm>
            <a:off x="838200" y="1348105"/>
            <a:ext cx="10515600" cy="5144770"/>
          </a:xfrm>
        </p:spPr>
        <p:txBody>
          <a:bodyPr>
            <a:normAutofit/>
          </a:bodyPr>
          <a:lstStyle/>
          <a:p>
            <a:r>
              <a:rPr lang="en-US" u="sng" dirty="0"/>
              <a:t>2D Rosenbrock Plot</a:t>
            </a:r>
            <a:r>
              <a:rPr lang="en-US" dirty="0"/>
              <a:t>:</a:t>
            </a:r>
          </a:p>
          <a:p>
            <a:pPr marL="0" lvl="0" indent="0">
              <a:buNone/>
            </a:pPr>
            <a:endParaRPr lang="en-US" dirty="0"/>
          </a:p>
        </p:txBody>
      </p:sp>
      <p:pic>
        <p:nvPicPr>
          <p:cNvPr id="5" name="Picture 4">
            <a:extLst>
              <a:ext uri="{FF2B5EF4-FFF2-40B4-BE49-F238E27FC236}">
                <a16:creationId xmlns:a16="http://schemas.microsoft.com/office/drawing/2014/main" id="{7397FE3D-2905-4CFD-D520-DF31D1CAFEF2}"/>
              </a:ext>
            </a:extLst>
          </p:cNvPr>
          <p:cNvPicPr>
            <a:picLocks noChangeAspect="1"/>
          </p:cNvPicPr>
          <p:nvPr/>
        </p:nvPicPr>
        <p:blipFill>
          <a:blip r:embed="rId2"/>
          <a:stretch>
            <a:fillRect/>
          </a:stretch>
        </p:blipFill>
        <p:spPr>
          <a:xfrm>
            <a:off x="3738880" y="1943100"/>
            <a:ext cx="4572000" cy="4800600"/>
          </a:xfrm>
          <a:prstGeom prst="rect">
            <a:avLst/>
          </a:prstGeom>
        </p:spPr>
      </p:pic>
    </p:spTree>
    <p:extLst>
      <p:ext uri="{BB962C8B-B14F-4D97-AF65-F5344CB8AC3E}">
        <p14:creationId xmlns:p14="http://schemas.microsoft.com/office/powerpoint/2010/main" val="141847589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A38E1-B95C-2F80-564D-79FBA74C4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CE8F8-6B5C-0FD4-D540-801D3D75C027}"/>
              </a:ext>
            </a:extLst>
          </p:cNvPr>
          <p:cNvSpPr>
            <a:spLocks noGrp="1"/>
          </p:cNvSpPr>
          <p:nvPr>
            <p:ph type="title"/>
          </p:nvPr>
        </p:nvSpPr>
        <p:spPr>
          <a:xfrm>
            <a:off x="838200" y="365125"/>
            <a:ext cx="10515600" cy="823595"/>
          </a:xfrm>
        </p:spPr>
        <p:txBody>
          <a:bodyPr>
            <a:normAutofit/>
          </a:bodyPr>
          <a:lstStyle/>
          <a:p>
            <a:pPr algn="ctr"/>
            <a:r>
              <a:rPr lang="en-US" b="1" dirty="0"/>
              <a:t>Multidimensional Generalizations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A685B-C51A-9E8A-99FE-1F4E683FA4D0}"/>
                  </a:ext>
                </a:extLst>
              </p:cNvPr>
              <p:cNvSpPr>
                <a:spLocks noGrp="1"/>
              </p:cNvSpPr>
              <p:nvPr>
                <p:ph idx="1"/>
              </p:nvPr>
            </p:nvSpPr>
            <p:spPr>
              <a:xfrm>
                <a:off x="838200" y="1348105"/>
                <a:ext cx="10515600" cy="5144770"/>
              </a:xfrm>
            </p:spPr>
            <p:txBody>
              <a:bodyPr>
                <a:normAutofit/>
              </a:bodyPr>
              <a:lstStyle/>
              <a:p>
                <a:pPr lvl="0"/>
                <a:r>
                  <a:rPr lang="en-US" u="sng" dirty="0"/>
                  <a:t>First </a:t>
                </a:r>
                <a14:m>
                  <m:oMath xmlns:m="http://schemas.openxmlformats.org/officeDocument/2006/math">
                    <m:sSup>
                      <m:sSupPr>
                        <m:ctrlPr>
                          <a:rPr lang="en-US" i="1" u="sng">
                            <a:latin typeface="Cambria Math" panose="02040503050406030204" pitchFamily="18" charset="0"/>
                          </a:rPr>
                        </m:ctrlPr>
                      </m:sSupPr>
                      <m:e>
                        <m:r>
                          <a:rPr lang="en-US" i="1" u="sng">
                            <a:latin typeface="Cambria Math" panose="02040503050406030204" pitchFamily="18" charset="0"/>
                          </a:rPr>
                          <m:t>ℝ</m:t>
                        </m:r>
                      </m:e>
                      <m:sup>
                        <m:r>
                          <a:rPr lang="en-US" i="1" u="sng">
                            <a:latin typeface="Cambria Math" panose="02040503050406030204" pitchFamily="18" charset="0"/>
                          </a:rPr>
                          <m:t>𝑁</m:t>
                        </m:r>
                      </m:sup>
                    </m:sSup>
                  </m:oMath>
                </a14:m>
                <a:r>
                  <a:rPr lang="en-US" u="sng" dirty="0"/>
                  <a:t> Variant</a:t>
                </a:r>
                <a:r>
                  <a:rPr lang="en-US" dirty="0"/>
                  <a:t>: One variant is the sum of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oMath>
                </a14:m>
                <a:r>
                  <a:rPr lang="en-US" dirty="0"/>
                  <a:t> uncoupled in 2D Rosenbrock problems, and is defined only for even </a:t>
                </a:r>
                <a14:m>
                  <m:oMath xmlns:m="http://schemas.openxmlformats.org/officeDocument/2006/math">
                    <m:r>
                      <a:rPr lang="en-US" i="1">
                        <a:latin typeface="Cambria Math" panose="02040503050406030204" pitchFamily="18" charset="0"/>
                      </a:rPr>
                      <m:t>𝑁</m:t>
                    </m:r>
                  </m:oMath>
                </a14:m>
                <a:r>
                  <a:rPr lang="en-US" dirty="0"/>
                  <a:t>‘s: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𝑁</m:t>
                              </m:r>
                            </m:sub>
                          </m:sSub>
                        </m:e>
                      </m:d>
                      <m:r>
                        <a:rPr lang="en-US" i="1">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p>
                        <m:e>
                          <m:d>
                            <m:dPr>
                              <m:begChr m:val="["/>
                              <m:endChr m:val="]"/>
                              <m:ctrlPr>
                                <a:rPr lang="en-US" i="1">
                                  <a:latin typeface="Cambria Math" panose="02040503050406030204" pitchFamily="18" charset="0"/>
                                </a:rPr>
                              </m:ctrlPr>
                            </m:dPr>
                            <m:e>
                              <m:r>
                                <a:rPr lang="en-US" i="1">
                                  <a:latin typeface="Cambria Math" panose="02040503050406030204" pitchFamily="18" charset="0"/>
                                </a:rPr>
                                <m:t>100</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r>
                                                <a:rPr lang="en-US" i="1">
                                                  <a:latin typeface="Cambria Math" panose="02040503050406030204" pitchFamily="18" charset="0"/>
                                                </a:rPr>
                                                <m:t>𝑖</m:t>
                                              </m:r>
                                              <m:r>
                                                <a:rPr lang="en-US" i="1">
                                                  <a:latin typeface="Cambria Math" panose="02040503050406030204" pitchFamily="18" charset="0"/>
                                                </a:rPr>
                                                <m:t>−1</m:t>
                                              </m:r>
                                            </m:sub>
                                          </m:sSub>
                                        </m:e>
                                        <m:sup>
                                          <m:r>
                                            <a:rPr lang="en-US" i="1">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r>
                                            <a:rPr lang="en-US" i="1">
                                              <a:latin typeface="Cambria Math" panose="02040503050406030204" pitchFamily="18" charset="0"/>
                                            </a:rPr>
                                            <m:t>𝑖</m:t>
                                          </m:r>
                                        </m:sub>
                                      </m:sSub>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−1</m:t>
                                      </m:r>
                                    </m:e>
                                  </m:d>
                                </m:e>
                                <m:sup>
                                  <m:r>
                                    <a:rPr lang="en-US" i="1">
                                      <a:latin typeface="Cambria Math" panose="02040503050406030204" pitchFamily="18" charset="0"/>
                                    </a:rPr>
                                    <m:t>2</m:t>
                                  </m:r>
                                </m:sup>
                              </m:sSup>
                            </m:e>
                          </m:d>
                        </m:e>
                      </m:nary>
                    </m:oMath>
                  </m:oMathPara>
                </a14:m>
                <a:endParaRPr lang="en-US" dirty="0"/>
              </a:p>
              <a:p>
                <a:pPr marL="0" indent="0">
                  <a:buNone/>
                </a:pPr>
                <a:endParaRPr lang="en-US" dirty="0"/>
              </a:p>
              <a:p>
                <a:pPr marL="457200" lvl="1" indent="0">
                  <a:buNone/>
                </a:pPr>
                <a:r>
                  <a:rPr lang="en-US" dirty="0"/>
                  <a:t>This variant has predictably simple solutions.</a:t>
                </a:r>
              </a:p>
              <a:p>
                <a:pPr marL="0" lvl="0" indent="0">
                  <a:buNone/>
                </a:pPr>
                <a:endParaRPr lang="en-US" dirty="0"/>
              </a:p>
            </p:txBody>
          </p:sp>
        </mc:Choice>
        <mc:Fallback xmlns="">
          <p:sp>
            <p:nvSpPr>
              <p:cNvPr id="3" name="Content Placeholder 2">
                <a:extLst>
                  <a:ext uri="{FF2B5EF4-FFF2-40B4-BE49-F238E27FC236}">
                    <a16:creationId xmlns:a16="http://schemas.microsoft.com/office/drawing/2014/main" id="{C18A685B-C51A-9E8A-99FE-1F4E683FA4D0}"/>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33621723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C3CCB-E9A2-DD21-7817-BB52F965B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511A3-18E5-C9DF-EE28-1AEA0C0EF072}"/>
              </a:ext>
            </a:extLst>
          </p:cNvPr>
          <p:cNvSpPr>
            <a:spLocks noGrp="1"/>
          </p:cNvSpPr>
          <p:nvPr>
            <p:ph type="title"/>
          </p:nvPr>
        </p:nvSpPr>
        <p:spPr>
          <a:xfrm>
            <a:off x="838200" y="365125"/>
            <a:ext cx="10515600" cy="823595"/>
          </a:xfrm>
        </p:spPr>
        <p:txBody>
          <a:bodyPr>
            <a:normAutofit/>
          </a:bodyPr>
          <a:lstStyle/>
          <a:p>
            <a:pPr algn="ctr"/>
            <a:r>
              <a:rPr lang="en-US" b="1" dirty="0"/>
              <a:t>Multidimensional Generalizations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3B5F72-9FD4-11D3-7A56-E524CA7A067B}"/>
                  </a:ext>
                </a:extLst>
              </p:cNvPr>
              <p:cNvSpPr>
                <a:spLocks noGrp="1"/>
              </p:cNvSpPr>
              <p:nvPr>
                <p:ph idx="1"/>
              </p:nvPr>
            </p:nvSpPr>
            <p:spPr>
              <a:xfrm>
                <a:off x="838200" y="1348105"/>
                <a:ext cx="10515600" cy="5144770"/>
              </a:xfrm>
            </p:spPr>
            <p:txBody>
              <a:bodyPr>
                <a:normAutofit fontScale="55000" lnSpcReduction="20000"/>
              </a:bodyPr>
              <a:lstStyle/>
              <a:p>
                <a:pPr lvl="0"/>
                <a:r>
                  <a:rPr lang="en-US" u="sng" dirty="0"/>
                  <a:t>Second </a:t>
                </a:r>
                <a14:m>
                  <m:oMath xmlns:m="http://schemas.openxmlformats.org/officeDocument/2006/math">
                    <m:sSup>
                      <m:sSupPr>
                        <m:ctrlPr>
                          <a:rPr lang="en-US" i="1" u="sng">
                            <a:latin typeface="Cambria Math" panose="02040503050406030204" pitchFamily="18" charset="0"/>
                          </a:rPr>
                        </m:ctrlPr>
                      </m:sSupPr>
                      <m:e>
                        <m:r>
                          <a:rPr lang="en-US" i="1" u="sng">
                            <a:latin typeface="Cambria Math" panose="02040503050406030204" pitchFamily="18" charset="0"/>
                          </a:rPr>
                          <m:t>ℝ</m:t>
                        </m:r>
                      </m:e>
                      <m:sup>
                        <m:r>
                          <a:rPr lang="en-US" i="1" u="sng">
                            <a:latin typeface="Cambria Math" panose="02040503050406030204" pitchFamily="18" charset="0"/>
                          </a:rPr>
                          <m:t>𝑁</m:t>
                        </m:r>
                      </m:sup>
                    </m:sSup>
                  </m:oMath>
                </a14:m>
                <a:r>
                  <a:rPr lang="en-US" u="sng" dirty="0"/>
                  <a:t> Variant</a:t>
                </a:r>
                <a:r>
                  <a:rPr lang="en-US" dirty="0"/>
                  <a:t>: A second, more involved variant is: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b="1" i="1">
                              <a:latin typeface="Cambria Math" panose="02040503050406030204" pitchFamily="18" charset="0"/>
                            </a:rPr>
                            <m:t>𝒙</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𝑁</m:t>
                              </m:r>
                            </m:sub>
                          </m:sSub>
                        </m:e>
                      </m:d>
                      <m:r>
                        <a:rPr lang="en-US" i="1">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r>
                            <a:rPr lang="en-US" i="1">
                              <a:latin typeface="Cambria Math" panose="02040503050406030204" pitchFamily="18" charset="0"/>
                            </a:rPr>
                            <m:t>−1</m:t>
                          </m:r>
                        </m:sup>
                        <m:e>
                          <m:d>
                            <m:dPr>
                              <m:begChr m:val="["/>
                              <m:endChr m:val="]"/>
                              <m:ctrlPr>
                                <a:rPr lang="en-US" i="1">
                                  <a:latin typeface="Cambria Math" panose="02040503050406030204" pitchFamily="18" charset="0"/>
                                </a:rPr>
                              </m:ctrlPr>
                            </m:dPr>
                            <m:e>
                              <m:r>
                                <a:rPr lang="en-US" i="1">
                                  <a:latin typeface="Cambria Math" panose="02040503050406030204" pitchFamily="18" charset="0"/>
                                </a:rPr>
                                <m:t>100</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2</m:t>
                                          </m:r>
                                        </m:sup>
                                      </m:sSubSup>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d>
                        </m:e>
                      </m:nary>
                    </m:oMath>
                  </m:oMathPara>
                </a14:m>
                <a:endParaRPr lang="en-US" dirty="0"/>
              </a:p>
              <a:p>
                <a:pPr marL="0" indent="0">
                  <a:buNone/>
                </a:pPr>
                <a:endParaRPr lang="en-US" dirty="0"/>
              </a:p>
              <a:p>
                <a:pPr marL="457200" lvl="1" indent="0">
                  <a:buNone/>
                </a:pPr>
                <a:r>
                  <a:rPr lang="en-US" dirty="0"/>
                  <a:t>where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𝒙</m:t>
                      </m:r>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𝑁</m:t>
                              </m:r>
                            </m:sub>
                          </m:sSub>
                        </m:e>
                      </m:d>
                      <m:r>
                        <a:rPr lang="en-US" i="1">
                          <a:latin typeface="Cambria Math" panose="02040503050406030204" pitchFamily="18" charset="0"/>
                        </a:rPr>
                        <m:t>∈</m:t>
                      </m:r>
                      <m:sSup>
                        <m:sSupPr>
                          <m:ctrlPr>
                            <a:rPr lang="en-US" i="1" u="sng">
                              <a:latin typeface="Cambria Math" panose="02040503050406030204" pitchFamily="18" charset="0"/>
                            </a:rPr>
                          </m:ctrlPr>
                        </m:sSupPr>
                        <m:e>
                          <m:r>
                            <a:rPr lang="en-US" i="1" u="sng">
                              <a:latin typeface="Cambria Math" panose="02040503050406030204" pitchFamily="18" charset="0"/>
                            </a:rPr>
                            <m:t>ℝ</m:t>
                          </m:r>
                        </m:e>
                        <m:sup>
                          <m:r>
                            <a:rPr lang="en-US" i="1" u="sng">
                              <a:latin typeface="Cambria Math" panose="02040503050406030204" pitchFamily="18" charset="0"/>
                            </a:rPr>
                            <m:t>𝑁</m:t>
                          </m:r>
                        </m:sup>
                      </m:sSup>
                    </m:oMath>
                  </m:oMathPara>
                </a14:m>
                <a:endParaRPr lang="en-US" dirty="0"/>
              </a:p>
              <a:p>
                <a:pPr marL="0" indent="0">
                  <a:buNone/>
                </a:pPr>
                <a:r>
                  <a:rPr lang="en-US" dirty="0"/>
                  <a:t> </a:t>
                </a:r>
              </a:p>
              <a:p>
                <a:pPr marL="457200" lvl="1" indent="0">
                  <a:buNone/>
                </a:pPr>
                <a:r>
                  <a:rPr lang="en-US" dirty="0"/>
                  <a:t>has exactly one minimum for</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=3</m:t>
                      </m:r>
                    </m:oMath>
                  </m:oMathPara>
                </a14:m>
                <a:endParaRPr lang="en-US" dirty="0"/>
              </a:p>
              <a:p>
                <a:pPr marL="0" indent="0">
                  <a:buNone/>
                </a:pPr>
                <a:r>
                  <a:rPr lang="en-US" dirty="0"/>
                  <a:t> </a:t>
                </a:r>
              </a:p>
              <a:p>
                <a:pPr marL="457200" lvl="1" indent="0">
                  <a:buNone/>
                </a:pPr>
                <a:r>
                  <a:rPr lang="en-US" dirty="0"/>
                  <a:t>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1, 1, ⋯, 1</m:t>
                        </m:r>
                      </m:e>
                    </m:d>
                  </m:oMath>
                </a14:m>
                <a:r>
                  <a:rPr lang="en-US" dirty="0"/>
                  <a:t> and exactly two minima for</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4≤</m:t>
                      </m:r>
                      <m:r>
                        <a:rPr lang="en-US" i="1">
                          <a:latin typeface="Cambria Math" panose="02040503050406030204" pitchFamily="18" charset="0"/>
                        </a:rPr>
                        <m:t>𝑁</m:t>
                      </m:r>
                      <m:r>
                        <a:rPr lang="en-US" i="1">
                          <a:latin typeface="Cambria Math" panose="02040503050406030204" pitchFamily="18" charset="0"/>
                        </a:rPr>
                        <m:t>&lt;7</m:t>
                      </m:r>
                    </m:oMath>
                  </m:oMathPara>
                </a14:m>
                <a:endParaRPr lang="en-US" dirty="0"/>
              </a:p>
              <a:p>
                <a:pPr marL="0" indent="0">
                  <a:buNone/>
                </a:pPr>
                <a:r>
                  <a:rPr lang="en-US" dirty="0"/>
                  <a:t> </a:t>
                </a:r>
              </a:p>
              <a:p>
                <a:pPr marL="457200" lvl="1" indent="0">
                  <a:buNone/>
                </a:pPr>
                <a:r>
                  <a:rPr lang="en-US" dirty="0"/>
                  <a:t>the global minimum 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1, 1, ⋯, 1</m:t>
                        </m:r>
                      </m:e>
                    </m:d>
                  </m:oMath>
                </a14:m>
                <a:r>
                  <a:rPr lang="en-US" dirty="0"/>
                  <a:t> a local minimum near</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𝒙</m:t>
                          </m:r>
                        </m:e>
                      </m:acc>
                      <m:r>
                        <a:rPr lang="en-US" b="1"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 1, ⋯, 1</m:t>
                          </m:r>
                        </m:e>
                      </m:d>
                    </m:oMath>
                  </m:oMathPara>
                </a14:m>
                <a:endParaRPr lang="en-US" dirty="0"/>
              </a:p>
            </p:txBody>
          </p:sp>
        </mc:Choice>
        <mc:Fallback xmlns="">
          <p:sp>
            <p:nvSpPr>
              <p:cNvPr id="3" name="Content Placeholder 2">
                <a:extLst>
                  <a:ext uri="{FF2B5EF4-FFF2-40B4-BE49-F238E27FC236}">
                    <a16:creationId xmlns:a16="http://schemas.microsoft.com/office/drawing/2014/main" id="{543B5F72-9FD4-11D3-7A56-E524CA7A067B}"/>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74" t="-1303"/>
                </a:stretch>
              </a:blipFill>
            </p:spPr>
            <p:txBody>
              <a:bodyPr/>
              <a:lstStyle/>
              <a:p>
                <a:r>
                  <a:rPr lang="en-US">
                    <a:noFill/>
                  </a:rPr>
                  <a:t> </a:t>
                </a:r>
              </a:p>
            </p:txBody>
          </p:sp>
        </mc:Fallback>
      </mc:AlternateContent>
    </p:spTree>
    <p:extLst>
      <p:ext uri="{BB962C8B-B14F-4D97-AF65-F5344CB8AC3E}">
        <p14:creationId xmlns:p14="http://schemas.microsoft.com/office/powerpoint/2010/main" val="262006379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1668B-4D51-C6FC-BFBE-64FCE76A9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D7B2C-E51D-6D77-9CE1-8B10764C1F38}"/>
              </a:ext>
            </a:extLst>
          </p:cNvPr>
          <p:cNvSpPr>
            <a:spLocks noGrp="1"/>
          </p:cNvSpPr>
          <p:nvPr>
            <p:ph type="title"/>
          </p:nvPr>
        </p:nvSpPr>
        <p:spPr>
          <a:xfrm>
            <a:off x="838200" y="365125"/>
            <a:ext cx="10515600" cy="823595"/>
          </a:xfrm>
        </p:spPr>
        <p:txBody>
          <a:bodyPr>
            <a:normAutofit/>
          </a:bodyPr>
          <a:lstStyle/>
          <a:p>
            <a:pPr algn="ctr"/>
            <a:r>
              <a:rPr lang="en-US" b="1" dirty="0"/>
              <a:t>Multidimensional Generalizations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6545DA-E6F3-3B59-A56B-FEDE7FED53D1}"/>
                  </a:ext>
                </a:extLst>
              </p:cNvPr>
              <p:cNvSpPr>
                <a:spLocks noGrp="1"/>
              </p:cNvSpPr>
              <p:nvPr>
                <p:ph idx="1"/>
              </p:nvPr>
            </p:nvSpPr>
            <p:spPr>
              <a:xfrm>
                <a:off x="838200" y="1348105"/>
                <a:ext cx="10515600" cy="5144770"/>
              </a:xfrm>
            </p:spPr>
            <p:txBody>
              <a:bodyPr>
                <a:normAutofit/>
              </a:bodyPr>
              <a:lstStyle/>
              <a:p>
                <a:pPr lvl="0"/>
                <a:r>
                  <a:rPr lang="en-US" u="sng" dirty="0"/>
                  <a:t>Extrema for the Second Variant</a:t>
                </a:r>
                <a:r>
                  <a:rPr lang="en-US" dirty="0"/>
                  <a:t>: This result is obtained by setting the gradient of the function equal to zero, noticing that the resulting equation is a rational function of </a:t>
                </a:r>
                <a14:m>
                  <m:oMath xmlns:m="http://schemas.openxmlformats.org/officeDocument/2006/math">
                    <m:r>
                      <a:rPr lang="en-US" b="1" i="1">
                        <a:latin typeface="Cambria Math" panose="02040503050406030204" pitchFamily="18" charset="0"/>
                      </a:rPr>
                      <m:t>𝒙</m:t>
                    </m:r>
                  </m:oMath>
                </a14:m>
                <a:r>
                  <a:rPr lang="en-US" dirty="0"/>
                  <a:t>.</a:t>
                </a:r>
              </a:p>
              <a:p>
                <a:pPr lvl="0"/>
                <a:r>
                  <a:rPr lang="en-US" u="sng" dirty="0"/>
                  <a:t>Solution to the Polynomial</a:t>
                </a:r>
                <a:r>
                  <a:rPr lang="en-US" dirty="0"/>
                  <a:t>: For small </a:t>
                </a:r>
                <a14:m>
                  <m:oMath xmlns:m="http://schemas.openxmlformats.org/officeDocument/2006/math">
                    <m:r>
                      <a:rPr lang="en-US" i="1">
                        <a:latin typeface="Cambria Math" panose="02040503050406030204" pitchFamily="18" charset="0"/>
                      </a:rPr>
                      <m:t>𝑁</m:t>
                    </m:r>
                  </m:oMath>
                </a14:m>
                <a:r>
                  <a:rPr lang="en-US" dirty="0"/>
                  <a:t>, the polynomials can be determined exactly and Sturm’s theorem can be used to determine the number of real roots, while the roots can be bounded in the region of</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r>
                        <a:rPr lang="en-US" i="1">
                          <a:latin typeface="Cambria Math" panose="02040503050406030204" pitchFamily="18" charset="0"/>
                        </a:rPr>
                        <m:t>&lt;2.4</m:t>
                      </m:r>
                    </m:oMath>
                  </m:oMathPara>
                </a14:m>
                <a:endParaRPr lang="en-US" dirty="0"/>
              </a:p>
              <a:p>
                <a:pPr marL="0" indent="0">
                  <a:buNone/>
                </a:pPr>
                <a:endParaRPr lang="en-US" dirty="0"/>
              </a:p>
              <a:p>
                <a:pPr marL="457200" lvl="1" indent="0">
                  <a:buNone/>
                </a:pPr>
                <a:r>
                  <a:rPr lang="en-US" dirty="0"/>
                  <a:t>For larger </a:t>
                </a:r>
                <a14:m>
                  <m:oMath xmlns:m="http://schemas.openxmlformats.org/officeDocument/2006/math">
                    <m:r>
                      <a:rPr lang="en-US" i="1">
                        <a:latin typeface="Cambria Math" panose="02040503050406030204" pitchFamily="18" charset="0"/>
                      </a:rPr>
                      <m:t>𝑁</m:t>
                    </m:r>
                  </m:oMath>
                </a14:m>
                <a:r>
                  <a:rPr lang="en-US" dirty="0"/>
                  <a:t> this method breaks down due to the size of the coefficients involved.  </a:t>
                </a:r>
              </a:p>
            </p:txBody>
          </p:sp>
        </mc:Choice>
        <mc:Fallback xmlns="">
          <p:sp>
            <p:nvSpPr>
              <p:cNvPr id="3" name="Content Placeholder 2">
                <a:extLst>
                  <a:ext uri="{FF2B5EF4-FFF2-40B4-BE49-F238E27FC236}">
                    <a16:creationId xmlns:a16="http://schemas.microsoft.com/office/drawing/2014/main" id="{A56545DA-E6F3-3B59-A56B-FEDE7FED53D1}"/>
                  </a:ext>
                </a:extLst>
              </p:cNvPr>
              <p:cNvSpPr>
                <a:spLocks noGrp="1" noRot="1" noChangeAspect="1" noMove="1" noResize="1" noEditPoints="1" noAdjustHandles="1" noChangeArrowheads="1" noChangeShapeType="1" noTextEdit="1"/>
              </p:cNvSpPr>
              <p:nvPr>
                <p:ph idx="1"/>
              </p:nvPr>
            </p:nvSpPr>
            <p:spPr>
              <a:xfrm>
                <a:off x="838200" y="1348105"/>
                <a:ext cx="10515600" cy="5144770"/>
              </a:xfrm>
              <a:blipFill>
                <a:blip r:embed="rId2"/>
                <a:stretch>
                  <a:fillRect l="-1043" t="-1896" b="-592"/>
                </a:stretch>
              </a:blipFill>
            </p:spPr>
            <p:txBody>
              <a:bodyPr/>
              <a:lstStyle/>
              <a:p>
                <a:r>
                  <a:rPr lang="en-US">
                    <a:noFill/>
                  </a:rPr>
                  <a:t> </a:t>
                </a:r>
              </a:p>
            </p:txBody>
          </p:sp>
        </mc:Fallback>
      </mc:AlternateContent>
    </p:spTree>
    <p:extLst>
      <p:ext uri="{BB962C8B-B14F-4D97-AF65-F5344CB8AC3E}">
        <p14:creationId xmlns:p14="http://schemas.microsoft.com/office/powerpoint/2010/main" val="214030768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60AD8-D6FF-4DB7-2AE2-9A057D49B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9CE2C-C563-2748-1277-076F4499C18E}"/>
              </a:ext>
            </a:extLst>
          </p:cNvPr>
          <p:cNvSpPr>
            <a:spLocks noGrp="1"/>
          </p:cNvSpPr>
          <p:nvPr>
            <p:ph type="title"/>
          </p:nvPr>
        </p:nvSpPr>
        <p:spPr>
          <a:xfrm>
            <a:off x="838200" y="365125"/>
            <a:ext cx="10515600" cy="823595"/>
          </a:xfrm>
        </p:spPr>
        <p:txBody>
          <a:bodyPr>
            <a:normAutofit/>
          </a:bodyPr>
          <a:lstStyle/>
          <a:p>
            <a:pPr algn="ctr"/>
            <a:r>
              <a:rPr lang="en-US" b="1" dirty="0"/>
              <a:t>Stationary Points</a:t>
            </a:r>
          </a:p>
        </p:txBody>
      </p:sp>
      <p:sp>
        <p:nvSpPr>
          <p:cNvPr id="3" name="Content Placeholder 2">
            <a:extLst>
              <a:ext uri="{FF2B5EF4-FFF2-40B4-BE49-F238E27FC236}">
                <a16:creationId xmlns:a16="http://schemas.microsoft.com/office/drawing/2014/main" id="{6937C3E4-1EA4-0EA6-565C-284225D9693D}"/>
              </a:ext>
            </a:extLst>
          </p:cNvPr>
          <p:cNvSpPr>
            <a:spLocks noGrp="1"/>
          </p:cNvSpPr>
          <p:nvPr>
            <p:ph idx="1"/>
          </p:nvPr>
        </p:nvSpPr>
        <p:spPr>
          <a:xfrm>
            <a:off x="838200" y="1348105"/>
            <a:ext cx="10515600" cy="5144770"/>
          </a:xfrm>
        </p:spPr>
        <p:txBody>
          <a:bodyPr>
            <a:normAutofit/>
          </a:bodyPr>
          <a:lstStyle/>
          <a:p>
            <a:pPr lvl="0"/>
            <a:r>
              <a:rPr lang="en-US" u="sng" dirty="0"/>
              <a:t>Rosenbrock Hump Structure</a:t>
            </a:r>
            <a:r>
              <a:rPr lang="en-US" dirty="0"/>
              <a:t>:</a:t>
            </a:r>
          </a:p>
          <a:p>
            <a:pPr marL="0" lvl="0" indent="0">
              <a:buNone/>
            </a:pPr>
            <a:endParaRPr lang="en-US" dirty="0"/>
          </a:p>
        </p:txBody>
      </p:sp>
      <p:pic>
        <p:nvPicPr>
          <p:cNvPr id="4" name="Picture 3">
            <a:extLst>
              <a:ext uri="{FF2B5EF4-FFF2-40B4-BE49-F238E27FC236}">
                <a16:creationId xmlns:a16="http://schemas.microsoft.com/office/drawing/2014/main" id="{F73AE470-902F-6F03-CAD8-0F9DBAE60EA8}"/>
              </a:ext>
            </a:extLst>
          </p:cNvPr>
          <p:cNvPicPr>
            <a:picLocks noChangeAspect="1"/>
          </p:cNvPicPr>
          <p:nvPr/>
        </p:nvPicPr>
        <p:blipFill>
          <a:blip r:embed="rId2"/>
          <a:stretch>
            <a:fillRect/>
          </a:stretch>
        </p:blipFill>
        <p:spPr>
          <a:xfrm>
            <a:off x="3660140" y="1948815"/>
            <a:ext cx="4648200" cy="4544060"/>
          </a:xfrm>
          <a:prstGeom prst="rect">
            <a:avLst/>
          </a:prstGeom>
        </p:spPr>
      </p:pic>
    </p:spTree>
    <p:extLst>
      <p:ext uri="{BB962C8B-B14F-4D97-AF65-F5344CB8AC3E}">
        <p14:creationId xmlns:p14="http://schemas.microsoft.com/office/powerpoint/2010/main" val="335796574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1487-D8C7-93AB-9494-D8CD04C16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82E76-64B1-94FA-E410-0B1D6310DA1E}"/>
              </a:ext>
            </a:extLst>
          </p:cNvPr>
          <p:cNvSpPr>
            <a:spLocks noGrp="1"/>
          </p:cNvSpPr>
          <p:nvPr>
            <p:ph type="title"/>
          </p:nvPr>
        </p:nvSpPr>
        <p:spPr>
          <a:xfrm>
            <a:off x="838200" y="365125"/>
            <a:ext cx="10515600" cy="823595"/>
          </a:xfrm>
        </p:spPr>
        <p:txBody>
          <a:bodyPr>
            <a:normAutofit/>
          </a:bodyPr>
          <a:lstStyle/>
          <a:p>
            <a:pPr algn="ctr"/>
            <a:r>
              <a:rPr lang="en-US" b="1" dirty="0"/>
              <a:t>Stationary Points (continued)</a:t>
            </a:r>
          </a:p>
        </p:txBody>
      </p:sp>
      <p:sp>
        <p:nvSpPr>
          <p:cNvPr id="3" name="Content Placeholder 2">
            <a:extLst>
              <a:ext uri="{FF2B5EF4-FFF2-40B4-BE49-F238E27FC236}">
                <a16:creationId xmlns:a16="http://schemas.microsoft.com/office/drawing/2014/main" id="{115F8D82-5BAD-ACBC-67EE-2C2FB630C899}"/>
              </a:ext>
            </a:extLst>
          </p:cNvPr>
          <p:cNvSpPr>
            <a:spLocks noGrp="1"/>
          </p:cNvSpPr>
          <p:nvPr>
            <p:ph idx="1"/>
          </p:nvPr>
        </p:nvSpPr>
        <p:spPr>
          <a:xfrm>
            <a:off x="838200" y="1348105"/>
            <a:ext cx="10515600" cy="5144770"/>
          </a:xfrm>
        </p:spPr>
        <p:txBody>
          <a:bodyPr>
            <a:normAutofit/>
          </a:bodyPr>
          <a:lstStyle/>
          <a:p>
            <a:r>
              <a:rPr lang="en-US" u="sng" dirty="0"/>
              <a:t>Patterns Inherent in the Function</a:t>
            </a:r>
            <a:r>
              <a:rPr lang="en-US" dirty="0"/>
              <a:t>: Many of the stationary points of the function exhibit a regular pattern when plotted. This structure can be exploited to locate </a:t>
            </a:r>
            <a:r>
              <a:rPr lang="en-US"/>
              <a:t>them.</a:t>
            </a:r>
            <a:endParaRPr lang="en-US" dirty="0"/>
          </a:p>
        </p:txBody>
      </p:sp>
    </p:spTree>
    <p:extLst>
      <p:ext uri="{BB962C8B-B14F-4D97-AF65-F5344CB8AC3E}">
        <p14:creationId xmlns:p14="http://schemas.microsoft.com/office/powerpoint/2010/main" val="4135433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9307</Words>
  <Application>Microsoft Office PowerPoint</Application>
  <PresentationFormat>Widescreen</PresentationFormat>
  <Paragraphs>657</Paragraphs>
  <Slides>109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109</vt:i4>
      </vt:variant>
    </vt:vector>
  </HeadingPairs>
  <TitlesOfParts>
    <vt:vector size="117" baseType="lpstr">
      <vt:lpstr>Aptos</vt:lpstr>
      <vt:lpstr>Arial</vt:lpstr>
      <vt:lpstr>Calibri</vt:lpstr>
      <vt:lpstr>Calibri Light</vt:lpstr>
      <vt:lpstr>Cambria Math</vt:lpstr>
      <vt:lpstr>Times New Roman</vt:lpstr>
      <vt:lpstr>Wingdings</vt:lpstr>
      <vt:lpstr>Office Theme</vt:lpstr>
      <vt:lpstr>Municipal Curve Construction and Callable Bond Pricer</vt:lpstr>
      <vt:lpstr>Contents</vt:lpstr>
      <vt:lpstr>Section 1 - Kalotay, Williams, and Fabozzi (1993) Model</vt:lpstr>
      <vt:lpstr>Background</vt:lpstr>
      <vt:lpstr>Interest Rate Volatility</vt:lpstr>
      <vt:lpstr>Binomial Interest Rate Tree</vt:lpstr>
      <vt:lpstr>Binomial Interest Rate Tree (continued)</vt:lpstr>
      <vt:lpstr>Binomial Interest Rate Tree (continued)</vt:lpstr>
      <vt:lpstr>Binomial Interest Rate Tree (continued)</vt:lpstr>
      <vt:lpstr>Determining the Value at a Node</vt:lpstr>
      <vt:lpstr>Determining the Value at a Node (continued)</vt:lpstr>
      <vt:lpstr>Determining the Value at a Node (continued)</vt:lpstr>
      <vt:lpstr>Determining the Value at a Node (continued)</vt:lpstr>
      <vt:lpstr>Constructing a Binomial Interest Rate Tree</vt:lpstr>
      <vt:lpstr>Constructing a Binomial Interest Rate Tree (continued)</vt:lpstr>
      <vt:lpstr>Using the Binomial Tree</vt:lpstr>
      <vt:lpstr>Valuing a Callable Bond</vt:lpstr>
      <vt:lpstr>Transaction Costs</vt:lpstr>
      <vt:lpstr>Transaction Costs (continued)</vt:lpstr>
      <vt:lpstr>Other Embedded Options</vt:lpstr>
      <vt:lpstr>Other Embedded Options (continued)</vt:lpstr>
      <vt:lpstr>After-tax Valuation</vt:lpstr>
      <vt:lpstr>After-tax Valuation (continued)</vt:lpstr>
      <vt:lpstr>After-tax Valuation (continued)</vt:lpstr>
      <vt:lpstr>The Challenge of Implementation</vt:lpstr>
      <vt:lpstr>Section 2 - Interest Rate Lattice – Implementation Overview</vt:lpstr>
      <vt:lpstr>Purpose and High-level Concept</vt:lpstr>
      <vt:lpstr>Lattice Structure - Geometry</vt:lpstr>
      <vt:lpstr>Lattice Structure - Node Values (Short Rates)</vt:lpstr>
      <vt:lpstr>Lattice Structure – Rate Bounds</vt:lpstr>
      <vt:lpstr>Lattice Structure – Storage Layout</vt:lpstr>
      <vt:lpstr>Lattice Structure – Data Members</vt:lpstr>
      <vt:lpstr>Calibration – Two Stage Process</vt:lpstr>
      <vt:lpstr>Calibration – Two Stage Process (continued)</vt:lpstr>
      <vt:lpstr>Calibration – Volatility</vt:lpstr>
      <vt:lpstr>Instrument Representation – Aligned Instrument Properties</vt:lpstr>
      <vt:lpstr>Instrument Representation – Approximation Schemes</vt:lpstr>
      <vt:lpstr>Instrument Representation – Interpolation Coefficients</vt:lpstr>
      <vt:lpstr>Instrument Representation – Call Schedule Alignment</vt:lpstr>
      <vt:lpstr>Instrument Representation – Initialization Methods</vt:lpstr>
      <vt:lpstr>Pricing Algorithm – Backward Induction (Core Engine)</vt:lpstr>
      <vt:lpstr>Pricing Algorithm – Interpolated Pricing</vt:lpstr>
      <vt:lpstr>Analytics – Option-Adjusted Spread (OAS)</vt:lpstr>
      <vt:lpstr>Analytics – Effective Duration</vt:lpstr>
      <vt:lpstr>Analytics – Effective Convexity</vt:lpstr>
      <vt:lpstr>Lattice Mutation</vt:lpstr>
      <vt:lpstr>Implementation Notes – Numerical Methods Required</vt:lpstr>
      <vt:lpstr>Implementation Notes – Performance Considerations</vt:lpstr>
      <vt:lpstr>Implementation Notes – Assumptions and Limitations</vt:lpstr>
      <vt:lpstr>Section 3 - AAA Municipal Curve</vt:lpstr>
      <vt:lpstr>Overview</vt:lpstr>
      <vt:lpstr>Constituent Selection</vt:lpstr>
      <vt:lpstr>Section 4 – Evaluating Callable Municipal Bonds</vt:lpstr>
      <vt:lpstr>Overview</vt:lpstr>
      <vt:lpstr>Introduction</vt:lpstr>
      <vt:lpstr>Introduction (continued)</vt:lpstr>
      <vt:lpstr>Introduction (continued)</vt:lpstr>
      <vt:lpstr>Types of Term-structure Models and their Roles - Deterministic</vt:lpstr>
      <vt:lpstr>Pricing Models – Problems Specific to the Municipal Market</vt:lpstr>
      <vt:lpstr>Pricing Models – Problems Specific to the Municipal Market (continued)</vt:lpstr>
      <vt:lpstr>Quantitative Municipal Hedge Strategy Formulation</vt:lpstr>
      <vt:lpstr>Quantitative Municipal Hedge Strategy Formulation (continued)</vt:lpstr>
      <vt:lpstr>Quantitative Municipal Hedge Strategy Formulation (continued)</vt:lpstr>
      <vt:lpstr>Characteristics of a Good Model for Analyzing Municipal Bond Call Features</vt:lpstr>
      <vt:lpstr>Expected Present Value – EPV – Savings</vt:lpstr>
      <vt:lpstr>Expected Present Value – EPV – Savings (continued)</vt:lpstr>
      <vt:lpstr>Expected Present Value – EPV – Savings (continued)</vt:lpstr>
      <vt:lpstr>Expected Present Value – EPV – Savings (continued)</vt:lpstr>
      <vt:lpstr>Expected Present Value – EPV – Savings (continued)</vt:lpstr>
      <vt:lpstr>Expected Present Value – EPV – Savings (continued)</vt:lpstr>
      <vt:lpstr>Expected Present Value – EPV – Savings (continued)</vt:lpstr>
      <vt:lpstr>Expected Present Value – EPV – Savings (continued)</vt:lpstr>
      <vt:lpstr>Expected Present Value – EPV – Savings (continued)</vt:lpstr>
      <vt:lpstr>Expected Present Value – EPV – Savings (continued)</vt:lpstr>
      <vt:lpstr>Expected Present Value – EPV – Savings (continued)</vt:lpstr>
      <vt:lpstr>Expected Present Value – EPV – Savings (continued)</vt:lpstr>
      <vt:lpstr>Expected Present Value – EPV – Savings (continued)</vt:lpstr>
      <vt:lpstr>Section 5 – Nelder-Mead Method</vt:lpstr>
      <vt:lpstr>Introduction</vt:lpstr>
      <vt:lpstr>Overview</vt:lpstr>
      <vt:lpstr>Overview (continued)</vt:lpstr>
      <vt:lpstr>Overview (continued)</vt:lpstr>
      <vt:lpstr>Overview (continued)</vt:lpstr>
      <vt:lpstr>Overview (continued)</vt:lpstr>
      <vt:lpstr>One Variation of the Nelder-Mead Algorithm</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One Variation of the Nelder-Mead Algorithm (continued)</vt:lpstr>
      <vt:lpstr>Initial Simplex</vt:lpstr>
      <vt:lpstr>Termination</vt:lpstr>
      <vt:lpstr>Section 6 – Himmelblau Function</vt:lpstr>
      <vt:lpstr>Specification</vt:lpstr>
      <vt:lpstr>Specification (continued)</vt:lpstr>
      <vt:lpstr>Section 7 – Rosenbrock Function</vt:lpstr>
      <vt:lpstr>Overview</vt:lpstr>
      <vt:lpstr>Overview (continued)</vt:lpstr>
      <vt:lpstr>Overview (continued)</vt:lpstr>
      <vt:lpstr>Multidimensional Generalizations</vt:lpstr>
      <vt:lpstr>Multidimensional Generalizations (continued)</vt:lpstr>
      <vt:lpstr>Multidimensional Generalizations (continued)</vt:lpstr>
      <vt:lpstr>Stationary Points</vt:lpstr>
      <vt:lpstr>Stationary Points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Lakshmi Krishnamurthy</dc:creator>
  <cp:keywords>Callable Muni Bonds</cp:keywords>
  <cp:lastModifiedBy>Lakshmi Krishnamurthy</cp:lastModifiedBy>
  <cp:revision>49</cp:revision>
  <dcterms:created xsi:type="dcterms:W3CDTF">2026-09-01T16:05:32Z</dcterms:created>
  <dcterms:modified xsi:type="dcterms:W3CDTF">2026-09-09T16:10:00Z</dcterms:modified>
</cp:coreProperties>
</file>